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26"/>
  </p:handoutMasterIdLst>
  <p:sldIdLst>
    <p:sldId id="318" r:id="rId3"/>
    <p:sldId id="259" r:id="rId4"/>
    <p:sldId id="260" r:id="rId5"/>
    <p:sldId id="261" r:id="rId7"/>
    <p:sldId id="291" r:id="rId8"/>
    <p:sldId id="263" r:id="rId9"/>
    <p:sldId id="265" r:id="rId10"/>
    <p:sldId id="264" r:id="rId11"/>
    <p:sldId id="267" r:id="rId12"/>
    <p:sldId id="274" r:id="rId13"/>
    <p:sldId id="268" r:id="rId14"/>
    <p:sldId id="316" r:id="rId15"/>
    <p:sldId id="317" r:id="rId16"/>
    <p:sldId id="275" r:id="rId17"/>
    <p:sldId id="276" r:id="rId18"/>
    <p:sldId id="278" r:id="rId19"/>
    <p:sldId id="279" r:id="rId20"/>
    <p:sldId id="280" r:id="rId21"/>
    <p:sldId id="281" r:id="rId22"/>
    <p:sldId id="282" r:id="rId23"/>
    <p:sldId id="284" r:id="rId24"/>
    <p:sldId id="273"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3322"/>
    <a:srgbClr val="9F5035"/>
    <a:srgbClr val="DEA992"/>
    <a:srgbClr val="0000FF"/>
    <a:srgbClr val="F9CEC6"/>
    <a:srgbClr val="F6C3C0"/>
    <a:srgbClr val="FBBDBD"/>
    <a:srgbClr val="FBE9D3"/>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94660"/>
  </p:normalViewPr>
  <p:slideViewPr>
    <p:cSldViewPr showGuides="1">
      <p:cViewPr varScale="1">
        <p:scale>
          <a:sx n="70" d="100"/>
          <a:sy n="70" d="100"/>
        </p:scale>
        <p:origin x="844" y="52"/>
      </p:cViewPr>
      <p:guideLst>
        <p:guide orient="horz" pos="2160"/>
        <p:guide pos="29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AC9B40-E7AF-4AD9-8D7B-07CC4B3C4E7F}" type="datetimeFigureOut">
              <a:rPr lang="en-IN" smtClean="0"/>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CF23ECE-9A83-438D-A913-24597DB4F60C}" type="slidenum">
              <a:rPr lang="en-IN" smtClean="0"/>
            </a:fld>
            <a:endParaRPr lang="en-IN"/>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F19965-C432-4A89-9E9C-22DA53B93BE6}" type="datetimeFigureOut">
              <a:rPr lang="en-IN" smtClean="0"/>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539872-C862-4EB8-B0B7-F2EBCC8C965A}" type="slidenum">
              <a:rPr lang="en-IN" smtClean="0"/>
            </a:fld>
            <a:endParaRPr lang="en-IN"/>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539872-C862-4EB8-B0B7-F2EBCC8C965A}"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539872-C862-4EB8-B0B7-F2EBCC8C965A}"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E539872-C862-4EB8-B0B7-F2EBCC8C965A}"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pic>
        <p:nvPicPr>
          <p:cNvPr id="8" name="Picture 2" descr="C:\Users\CPRI-3\Desktop\pxfuel.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6113" b="27698"/>
          <a:stretch>
            <a:fillRect/>
          </a:stretch>
        </p:blipFill>
        <p:spPr bwMode="auto">
          <a:xfrm>
            <a:off x="18308" y="15027"/>
            <a:ext cx="911491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txBox="1"/>
          <p:nvPr userDrawn="1"/>
        </p:nvSpPr>
        <p:spPr>
          <a:xfrm>
            <a:off x="0" y="6552439"/>
            <a:ext cx="9156795" cy="21602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b="1" kern="1200" baseline="0">
                <a:solidFill>
                  <a:schemeClr val="tx2">
                    <a:lumMod val="50000"/>
                  </a:schemeClr>
                </a:solidFill>
                <a:latin typeface="+mj-lt"/>
                <a:ea typeface="+mj-ea"/>
                <a:cs typeface="+mj-cs"/>
              </a:defRPr>
            </a:lvl1pPr>
          </a:lstStyle>
          <a:p>
            <a:r>
              <a:rPr lang="en-US" sz="1200" dirty="0">
                <a:solidFill>
                  <a:schemeClr val="accent5">
                    <a:lumMod val="75000"/>
                  </a:schemeClr>
                </a:solidFill>
                <a:latin typeface="Rockwell" panose="02060603020205020403" pitchFamily="18" charset="0"/>
              </a:rPr>
              <a:t>14-15</a:t>
            </a:r>
            <a:r>
              <a:rPr lang="en-US" sz="1200" baseline="0" dirty="0">
                <a:solidFill>
                  <a:schemeClr val="accent5">
                    <a:lumMod val="75000"/>
                  </a:schemeClr>
                </a:solidFill>
                <a:latin typeface="Rockwell" panose="02060603020205020403" pitchFamily="18" charset="0"/>
              </a:rPr>
              <a:t> February, 2024</a:t>
            </a:r>
            <a:endParaRPr lang="en-IN" sz="1200" dirty="0">
              <a:solidFill>
                <a:schemeClr val="accent5">
                  <a:lumMod val="75000"/>
                </a:schemeClr>
              </a:solidFill>
              <a:latin typeface="Rockwell" panose="02060603020205020403" pitchFamily="18" charset="0"/>
            </a:endParaRPr>
          </a:p>
        </p:txBody>
      </p:sp>
      <p:sp>
        <p:nvSpPr>
          <p:cNvPr id="15" name="Title 1"/>
          <p:cNvSpPr txBox="1"/>
          <p:nvPr userDrawn="1"/>
        </p:nvSpPr>
        <p:spPr>
          <a:xfrm>
            <a:off x="47293" y="4797152"/>
            <a:ext cx="9133219" cy="208823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b="1" kern="1200" baseline="0">
                <a:solidFill>
                  <a:schemeClr val="tx2">
                    <a:lumMod val="50000"/>
                  </a:schemeClr>
                </a:solidFill>
                <a:latin typeface="+mj-lt"/>
                <a:ea typeface="+mj-ea"/>
                <a:cs typeface="+mj-cs"/>
              </a:defRPr>
            </a:lvl1pPr>
          </a:lstStyle>
          <a:p>
            <a:endParaRPr lang="en-US" sz="1800" b="0" dirty="0">
              <a:solidFill>
                <a:schemeClr val="accent2">
                  <a:lumMod val="75000"/>
                </a:schemeClr>
              </a:solidFill>
              <a:latin typeface="Rockwell" panose="02060603020205020403" pitchFamily="18" charset="0"/>
            </a:endParaRPr>
          </a:p>
          <a:p>
            <a:endParaRPr lang="en-US" sz="1800" b="0" dirty="0">
              <a:solidFill>
                <a:schemeClr val="accent2">
                  <a:lumMod val="75000"/>
                </a:schemeClr>
              </a:solidFill>
              <a:latin typeface="Rockwell" panose="02060603020205020403" pitchFamily="18" charset="0"/>
            </a:endParaRPr>
          </a:p>
          <a:p>
            <a:r>
              <a:rPr lang="en-US" sz="1800" b="0" dirty="0">
                <a:solidFill>
                  <a:schemeClr val="accent2">
                    <a:lumMod val="75000"/>
                  </a:schemeClr>
                </a:solidFill>
                <a:latin typeface="Rockwell" panose="02060603020205020403" pitchFamily="18" charset="0"/>
              </a:rPr>
              <a:t>Organised by</a:t>
            </a:r>
            <a:endParaRPr lang="en-US" sz="1800" b="0" dirty="0">
              <a:solidFill>
                <a:schemeClr val="accent2">
                  <a:lumMod val="75000"/>
                </a:schemeClr>
              </a:solidFill>
              <a:latin typeface="Rockwell" panose="02060603020205020403" pitchFamily="18" charset="0"/>
            </a:endParaRPr>
          </a:p>
          <a:p>
            <a:r>
              <a:rPr lang="en-US" sz="1800" dirty="0">
                <a:solidFill>
                  <a:schemeClr val="accent2">
                    <a:lumMod val="75000"/>
                  </a:schemeClr>
                </a:solidFill>
                <a:latin typeface="Rockwell" panose="02060603020205020403" pitchFamily="18" charset="0"/>
              </a:rPr>
              <a:t>CENTRAL POWER RESEARCH INSTITUTE </a:t>
            </a:r>
            <a:endParaRPr lang="en-US" sz="1800" dirty="0">
              <a:solidFill>
                <a:schemeClr val="accent2">
                  <a:lumMod val="75000"/>
                </a:schemeClr>
              </a:solidFill>
              <a:latin typeface="Rockwell" panose="02060603020205020403" pitchFamily="18" charset="0"/>
            </a:endParaRPr>
          </a:p>
          <a:p>
            <a:r>
              <a:rPr lang="en-US" sz="1800" b="0" dirty="0">
                <a:solidFill>
                  <a:schemeClr val="accent2">
                    <a:lumMod val="75000"/>
                  </a:schemeClr>
                </a:solidFill>
                <a:latin typeface="Rockwell" panose="02060603020205020403" pitchFamily="18" charset="0"/>
              </a:rPr>
              <a:t>Bengaluru</a:t>
            </a:r>
            <a:endParaRPr lang="en-IN" sz="2000" b="0" dirty="0">
              <a:solidFill>
                <a:schemeClr val="accent2">
                  <a:lumMod val="75000"/>
                </a:schemeClr>
              </a:solidFill>
              <a:latin typeface="Rockwell" panose="02060603020205020403" pitchFamily="18" charset="0"/>
            </a:endParaRPr>
          </a:p>
        </p:txBody>
      </p:sp>
      <p:sp>
        <p:nvSpPr>
          <p:cNvPr id="20" name="Title 1"/>
          <p:cNvSpPr txBox="1"/>
          <p:nvPr userDrawn="1"/>
        </p:nvSpPr>
        <p:spPr>
          <a:xfrm>
            <a:off x="69435" y="2501280"/>
            <a:ext cx="9133219" cy="208823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600" b="1" kern="1200" baseline="0">
                <a:solidFill>
                  <a:schemeClr val="tx2">
                    <a:lumMod val="50000"/>
                  </a:schemeClr>
                </a:solidFill>
                <a:latin typeface="+mj-lt"/>
                <a:ea typeface="+mj-ea"/>
                <a:cs typeface="+mj-cs"/>
              </a:defRPr>
            </a:lvl1pPr>
          </a:lstStyle>
          <a:p>
            <a:endParaRPr lang="en-IN" sz="2000" dirty="0">
              <a:solidFill>
                <a:schemeClr val="accent2">
                  <a:lumMod val="75000"/>
                </a:schemeClr>
              </a:solidFill>
              <a:latin typeface="Rockwell" panose="02060603020205020403" pitchFamily="18" charset="0"/>
            </a:endParaRPr>
          </a:p>
        </p:txBody>
      </p:sp>
      <p:sp>
        <p:nvSpPr>
          <p:cNvPr id="22" name="Title 1"/>
          <p:cNvSpPr txBox="1"/>
          <p:nvPr userDrawn="1"/>
        </p:nvSpPr>
        <p:spPr>
          <a:xfrm>
            <a:off x="9153" y="188640"/>
            <a:ext cx="9133219" cy="1296144"/>
          </a:xfrm>
          <a:prstGeom prst="rect">
            <a:avLst/>
          </a:prstGeom>
          <a:solidFill>
            <a:schemeClr val="accent5">
              <a:lumMod val="60000"/>
              <a:lumOff val="40000"/>
              <a:alpha val="14000"/>
            </a:schemeClr>
          </a:solidFill>
          <a:ln>
            <a:noFill/>
          </a:ln>
        </p:spPr>
        <p:txBody>
          <a:bodyPr vert="horz" lIns="91440" tIns="45720" rIns="91440" bIns="45720" rtlCol="0" anchor="ctr">
            <a:noAutofit/>
          </a:bodyPr>
          <a:lstStyle>
            <a:lvl1pPr algn="ctr" defTabSz="914400" rtl="0" eaLnBrk="1" latinLnBrk="0" hangingPunct="1">
              <a:spcBef>
                <a:spcPct val="0"/>
              </a:spcBef>
              <a:buNone/>
              <a:defRPr sz="3600" b="1" kern="1200" baseline="0">
                <a:solidFill>
                  <a:schemeClr val="tx2">
                    <a:lumMod val="50000"/>
                  </a:schemeClr>
                </a:solidFill>
                <a:latin typeface="+mj-lt"/>
                <a:ea typeface="+mj-ea"/>
                <a:cs typeface="+mj-cs"/>
              </a:defRPr>
            </a:lvl1pPr>
          </a:lstStyle>
          <a:p>
            <a:r>
              <a:rPr lang="en-US" sz="2400" dirty="0">
                <a:solidFill>
                  <a:schemeClr val="accent5">
                    <a:lumMod val="75000"/>
                  </a:schemeClr>
                </a:solidFill>
                <a:latin typeface="Rockwell" panose="02060603020205020403" pitchFamily="18" charset="0"/>
              </a:rPr>
              <a:t>National Conference on </a:t>
            </a:r>
            <a:br>
              <a:rPr lang="en-US" sz="2400" dirty="0">
                <a:solidFill>
                  <a:schemeClr val="accent5">
                    <a:lumMod val="75000"/>
                  </a:schemeClr>
                </a:solidFill>
                <a:latin typeface="Rockwell" panose="02060603020205020403" pitchFamily="18" charset="0"/>
              </a:rPr>
            </a:br>
            <a:r>
              <a:rPr lang="en-US" sz="2400" dirty="0">
                <a:solidFill>
                  <a:schemeClr val="accent5">
                    <a:lumMod val="75000"/>
                  </a:schemeClr>
                </a:solidFill>
                <a:latin typeface="Rockwell" panose="02060603020205020403" pitchFamily="18" charset="0"/>
              </a:rPr>
              <a:t>SMART GRID, SMART METER, COMMUNICATION TECHNOLOGIES AND CYBER SECURITY</a:t>
            </a:r>
            <a:endParaRPr lang="en-IN" sz="2800" dirty="0">
              <a:solidFill>
                <a:schemeClr val="accent5">
                  <a:lumMod val="75000"/>
                </a:schemeClr>
              </a:solidFill>
              <a:latin typeface="Rockwell" panose="02060603020205020403"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2" descr="C:\Users\CPRI-3\Desktop\pxfuel.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68556" b="27698"/>
          <a:stretch>
            <a:fillRect/>
          </a:stretch>
        </p:blipFill>
        <p:spPr bwMode="auto">
          <a:xfrm>
            <a:off x="-36512" y="6528014"/>
            <a:ext cx="9251960" cy="3326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CPRI-3\Desktop\pxfuel.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6113" b="78420"/>
          <a:stretch>
            <a:fillRect/>
          </a:stretch>
        </p:blipFill>
        <p:spPr bwMode="auto">
          <a:xfrm>
            <a:off x="-20339" y="1"/>
            <a:ext cx="9235787" cy="54868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userDrawn="1"/>
        </p:nvSpPr>
        <p:spPr>
          <a:xfrm>
            <a:off x="10782" y="144351"/>
            <a:ext cx="9114910" cy="284693"/>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250" dirty="0">
                <a:solidFill>
                  <a:schemeClr val="accent5">
                    <a:lumMod val="50000"/>
                  </a:schemeClr>
                </a:solidFill>
                <a:latin typeface="Rockwell" panose="02060603020205020403" pitchFamily="18" charset="0"/>
              </a:rPr>
              <a:t>NATIONAL CONFERENCE ON SMART GRID, SMART METER, COMMUNICATION TECHNOLOGIES AND CYBER SECURITY</a:t>
            </a:r>
            <a:endParaRPr lang="en-IN" sz="1250" dirty="0">
              <a:solidFill>
                <a:schemeClr val="accent5">
                  <a:lumMod val="50000"/>
                </a:schemeClr>
              </a:solidFill>
              <a:latin typeface="Rockwell" panose="02060603020205020403" pitchFamily="18" charset="0"/>
            </a:endParaRPr>
          </a:p>
        </p:txBody>
      </p:sp>
      <p:sp>
        <p:nvSpPr>
          <p:cNvPr id="12" name="TextBox 11"/>
          <p:cNvSpPr txBox="1"/>
          <p:nvPr userDrawn="1"/>
        </p:nvSpPr>
        <p:spPr>
          <a:xfrm>
            <a:off x="38119" y="6549325"/>
            <a:ext cx="2195736" cy="284693"/>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50" dirty="0">
                <a:solidFill>
                  <a:schemeClr val="accent6">
                    <a:lumMod val="50000"/>
                  </a:schemeClr>
                </a:solidFill>
                <a:latin typeface="Rockwell" panose="02060603020205020403" pitchFamily="18" charset="0"/>
              </a:rPr>
              <a:t>14-15 </a:t>
            </a:r>
            <a:r>
              <a:rPr lang="en-US" sz="1250" baseline="0" dirty="0">
                <a:solidFill>
                  <a:schemeClr val="accent6">
                    <a:lumMod val="50000"/>
                  </a:schemeClr>
                </a:solidFill>
                <a:latin typeface="Rockwell" panose="02060603020205020403" pitchFamily="18" charset="0"/>
              </a:rPr>
              <a:t> February,  2024</a:t>
            </a:r>
            <a:endParaRPr lang="en-IN" sz="1250" dirty="0">
              <a:solidFill>
                <a:schemeClr val="accent6">
                  <a:lumMod val="50000"/>
                </a:schemeClr>
              </a:solidFill>
              <a:latin typeface="Rockwell" panose="02060603020205020403" pitchFamily="18" charset="0"/>
            </a:endParaRPr>
          </a:p>
        </p:txBody>
      </p:sp>
      <p:sp>
        <p:nvSpPr>
          <p:cNvPr id="28" name="Slide Number Placeholder 4"/>
          <p:cNvSpPr txBox="1"/>
          <p:nvPr userDrawn="1"/>
        </p:nvSpPr>
        <p:spPr>
          <a:xfrm>
            <a:off x="6896851" y="6525344"/>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rgbClr val="0070C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CF937F6-568E-4BF8-979D-78557BDBE68B}" type="slidenum">
              <a:rPr lang="en-IN" smtClean="0"/>
            </a:fld>
            <a:endParaRPr lang="en-IN" dirty="0"/>
          </a:p>
        </p:txBody>
      </p:sp>
      <p:sp>
        <p:nvSpPr>
          <p:cNvPr id="29" name="TextBox 28"/>
          <p:cNvSpPr txBox="1"/>
          <p:nvPr userDrawn="1"/>
        </p:nvSpPr>
        <p:spPr>
          <a:xfrm>
            <a:off x="4788024" y="2348880"/>
            <a:ext cx="184731" cy="369332"/>
          </a:xfrm>
          <a:prstGeom prst="rect">
            <a:avLst/>
          </a:prstGeom>
          <a:noFill/>
        </p:spPr>
        <p:txBody>
          <a:bodyPr wrap="none" rtlCol="0">
            <a:spAutoFit/>
          </a:bodyPr>
          <a:lstStyle/>
          <a:p>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IN"/>
          </a:p>
        </p:txBody>
      </p:sp>
      <p:sp>
        <p:nvSpPr>
          <p:cNvPr id="4" name="Date Placeholder 3"/>
          <p:cNvSpPr>
            <a:spLocks noGrp="1"/>
          </p:cNvSpPr>
          <p:nvPr>
            <p:ph type="dt" sz="half" idx="10"/>
          </p:nvPr>
        </p:nvSpPr>
        <p:spPr/>
        <p:txBody>
          <a:bodyPr/>
          <a:lstStyle/>
          <a:p>
            <a:fld id="{215AB123-623B-42B3-93EF-51870B7A0BC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1EB5B2-F94E-4AA5-8555-44DB31358783}"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C06BA1-BF64-43C0-842A-D468D781D5FD}" type="datetime1">
              <a:rPr lang="en-IN" smtClean="0"/>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87F919-514C-4478-85FF-12704D3AF1F9}"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tags" Target="../tags/tag3.xml"/><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672891" y="1151412"/>
            <a:ext cx="7886700" cy="591550"/>
          </a:xfrm>
          <a:prstGeom prst="rect">
            <a:avLst/>
          </a:prstGeom>
        </p:spPr>
        <p:txBody>
          <a:bodyPr vert="horz" lIns="68580" tIns="34290" rIns="68580" bIns="34290" rtlCol="0" anchor="ctr">
            <a:normAutofit fontScale="4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ADAPTIVE ENSEMBLE MACHINE LEARNING FRAMEWORK FOR TIME-SERIES SPECTRUM OCCUPANCY PREDICTION IN COGNITIVE RADIO NETWORKS.</a:t>
            </a:r>
            <a:endParaRPr lang="en-IN" dirty="0"/>
          </a:p>
          <a:p>
            <a:pPr algn="ctr"/>
            <a:endParaRPr lang="en-US" altLang="en-US" sz="2250" b="1" dirty="0">
              <a:latin typeface="Times New Roman" panose="02020603050405020304" pitchFamily="18" charset="0"/>
              <a:ea typeface="+mj-lt"/>
              <a:cs typeface="Times New Roman" panose="02020603050405020304" pitchFamily="18" charset="0"/>
            </a:endParaRPr>
          </a:p>
        </p:txBody>
      </p:sp>
      <p:sp>
        <p:nvSpPr>
          <p:cNvPr id="14" name="TextBox 13"/>
          <p:cNvSpPr txBox="1"/>
          <p:nvPr/>
        </p:nvSpPr>
        <p:spPr>
          <a:xfrm>
            <a:off x="3631786" y="1720533"/>
            <a:ext cx="1968911" cy="300082"/>
          </a:xfrm>
          <a:prstGeom prst="rect">
            <a:avLst/>
          </a:prstGeom>
          <a:noFill/>
        </p:spPr>
        <p:txBody>
          <a:bodyPr wrap="square" rtlCol="0">
            <a:spAutoFit/>
          </a:bodyPr>
          <a:lstStyle/>
          <a:p>
            <a:pPr algn="ctr"/>
            <a:r>
              <a:rPr lang="en-GB" sz="1350" b="1" dirty="0">
                <a:latin typeface="Times New Roman" panose="02020603050405020304" pitchFamily="18" charset="0"/>
                <a:cs typeface="Times New Roman" panose="02020603050405020304" pitchFamily="18" charset="0"/>
              </a:rPr>
              <a:t>PROJECT MEMBERS</a:t>
            </a:r>
            <a:endParaRPr lang="en-IN" sz="1350" b="1" dirty="0">
              <a:latin typeface="Times New Roman" panose="02020603050405020304" pitchFamily="18" charset="0"/>
              <a:cs typeface="Times New Roman" panose="02020603050405020304" pitchFamily="18" charset="0"/>
            </a:endParaRPr>
          </a:p>
        </p:txBody>
      </p:sp>
      <p:pic>
        <p:nvPicPr>
          <p:cNvPr id="15" name="Picture 14" descr="Image result for amrita university emblem"/>
          <p:cNvPicPr>
            <a:picLocks noChangeAspect="1" noChangeArrowheads="1"/>
          </p:cNvPicPr>
          <p:nvPr/>
        </p:nvPicPr>
        <p:blipFill rotWithShape="1">
          <a:blip r:embed="rId1" cstate="print"/>
          <a:srcRect t="14384" r="457" b="17389"/>
          <a:stretch>
            <a:fillRect/>
          </a:stretch>
        </p:blipFill>
        <p:spPr bwMode="auto">
          <a:xfrm>
            <a:off x="3314429" y="4845800"/>
            <a:ext cx="2195102" cy="677977"/>
          </a:xfrm>
          <a:prstGeom prst="rect">
            <a:avLst/>
          </a:prstGeom>
          <a:noFill/>
        </p:spPr>
      </p:pic>
      <p:sp>
        <p:nvSpPr>
          <p:cNvPr id="17" name="Rectangle: Rounded Corners 16"/>
          <p:cNvSpPr/>
          <p:nvPr/>
        </p:nvSpPr>
        <p:spPr>
          <a:xfrm>
            <a:off x="324465" y="1139985"/>
            <a:ext cx="8583562" cy="4578030"/>
          </a:xfrm>
          <a:prstGeom prst="roundRect">
            <a:avLst/>
          </a:prstGeom>
          <a:noFill/>
          <a:ln>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 name="TextBox 1"/>
          <p:cNvSpPr txBox="1"/>
          <p:nvPr/>
        </p:nvSpPr>
        <p:spPr>
          <a:xfrm>
            <a:off x="3450779" y="3706378"/>
            <a:ext cx="1755044" cy="507831"/>
          </a:xfrm>
          <a:prstGeom prst="rect">
            <a:avLst/>
          </a:prstGeom>
          <a:noFill/>
        </p:spPr>
        <p:txBody>
          <a:bodyPr wrap="square" rtlCol="0">
            <a:spAutoFit/>
          </a:bodyPr>
          <a:lstStyle/>
          <a:p>
            <a:pPr algn="ctr"/>
            <a:r>
              <a:rPr lang="en-IN" sz="1350" dirty="0">
                <a:latin typeface="Times New Roman" panose="02020603050405020304" pitchFamily="18" charset="0"/>
                <a:cs typeface="Times New Roman" panose="02020603050405020304" pitchFamily="18" charset="0"/>
              </a:rPr>
              <a:t>Batch: 2025- 2026 (Even Sem)</a:t>
            </a:r>
            <a:endParaRPr lang="en-IN" sz="135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922584" y="5357604"/>
            <a:ext cx="5387315" cy="415498"/>
          </a:xfrm>
          <a:prstGeom prst="rect">
            <a:avLst/>
          </a:prstGeom>
          <a:noFill/>
        </p:spPr>
        <p:txBody>
          <a:bodyPr wrap="square">
            <a:spAutoFit/>
          </a:bodyPr>
          <a:lstStyle/>
          <a:p>
            <a:r>
              <a:rPr lang="en-GB" sz="1050" dirty="0">
                <a:latin typeface="Times New Roman" panose="02020603050405020304" pitchFamily="18" charset="0"/>
                <a:cs typeface="Times New Roman" panose="02020603050405020304" pitchFamily="18" charset="0"/>
              </a:rPr>
              <a:t>Department of Electrical and Electronics Engineering, Amrita School of Engineering, Coimbatore</a:t>
            </a:r>
            <a:endParaRPr lang="en-IN" sz="1050"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1631147" y="2140358"/>
          <a:ext cx="6096000" cy="1211724"/>
        </p:xfrm>
        <a:graphic>
          <a:graphicData uri="http://schemas.openxmlformats.org/drawingml/2006/table">
            <a:tbl>
              <a:tblPr firstRow="1" bandRow="1">
                <a:tableStyleId>{2D5ABB26-0587-4C30-8999-92F81FD0307C}</a:tableStyleId>
              </a:tblPr>
              <a:tblGrid>
                <a:gridCol w="3048000"/>
                <a:gridCol w="3048000"/>
              </a:tblGrid>
              <a:tr h="302931">
                <a:tc>
                  <a:txBody>
                    <a:bodyPr/>
                    <a:lstStyle/>
                    <a:p>
                      <a:pPr algn="ctr"/>
                      <a:r>
                        <a:rPr lang="en-GB" sz="1200" dirty="0">
                          <a:latin typeface="Times New Roman" panose="02020603050405020304" pitchFamily="18" charset="0"/>
                          <a:cs typeface="Times New Roman" panose="02020603050405020304" pitchFamily="18" charset="0"/>
                        </a:rPr>
                        <a:t>CB.EN.U4ELC24006</a:t>
                      </a:r>
                      <a:endParaRPr lang="en-IN" sz="12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200" dirty="0">
                          <a:latin typeface="Times New Roman" panose="02020603050405020304" pitchFamily="18" charset="0"/>
                          <a:cs typeface="Times New Roman" panose="02020603050405020304" pitchFamily="18" charset="0"/>
                        </a:rPr>
                        <a:t>AKSHITA MURALI</a:t>
                      </a:r>
                      <a:endParaRPr lang="en-IN" sz="1200" dirty="0">
                        <a:latin typeface="Times New Roman" panose="02020603050405020304" pitchFamily="18" charset="0"/>
                        <a:cs typeface="Times New Roman" panose="02020603050405020304" pitchFamily="18" charset="0"/>
                      </a:endParaRPr>
                    </a:p>
                  </a:txBody>
                  <a:tcPr marL="68580" marR="68580" marT="34290" marB="34290"/>
                </a:tc>
              </a:tr>
              <a:tr h="302931">
                <a:tc>
                  <a:txBody>
                    <a:bodyPr/>
                    <a:lstStyle/>
                    <a:p>
                      <a:pPr algn="ctr"/>
                      <a:r>
                        <a:rPr lang="en-GB" sz="1200" dirty="0">
                          <a:latin typeface="Times New Roman" panose="02020603050405020304" pitchFamily="18" charset="0"/>
                          <a:cs typeface="Times New Roman" panose="02020603050405020304" pitchFamily="18" charset="0"/>
                        </a:rPr>
                        <a:t>CB.EN.U4ELC24014</a:t>
                      </a:r>
                      <a:endParaRPr lang="en-IN" sz="12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200" dirty="0">
                          <a:latin typeface="Times New Roman" panose="02020603050405020304" pitchFamily="18" charset="0"/>
                          <a:cs typeface="Times New Roman" panose="02020603050405020304" pitchFamily="18" charset="0"/>
                        </a:rPr>
                        <a:t>DHARSHAVARDHAN UM</a:t>
                      </a:r>
                      <a:endParaRPr lang="en-IN" sz="1200" dirty="0">
                        <a:latin typeface="Times New Roman" panose="02020603050405020304" pitchFamily="18" charset="0"/>
                        <a:cs typeface="Times New Roman" panose="02020603050405020304" pitchFamily="18" charset="0"/>
                      </a:endParaRPr>
                    </a:p>
                  </a:txBody>
                  <a:tcPr marL="68580" marR="68580" marT="34290" marB="34290"/>
                </a:tc>
              </a:tr>
              <a:tr h="302931">
                <a:tc>
                  <a:txBody>
                    <a:bodyPr/>
                    <a:lstStyle/>
                    <a:p>
                      <a:pPr algn="ctr"/>
                      <a:r>
                        <a:rPr lang="en-GB" sz="1200" dirty="0">
                          <a:latin typeface="Times New Roman" panose="02020603050405020304" pitchFamily="18" charset="0"/>
                          <a:cs typeface="Times New Roman" panose="02020603050405020304" pitchFamily="18" charset="0"/>
                        </a:rPr>
                        <a:t>CB.EN.U4ELC</a:t>
                      </a:r>
                      <a:r>
                        <a:rPr lang="en-GB" sz="1200" baseline="0" dirty="0">
                          <a:latin typeface="Times New Roman" panose="02020603050405020304" pitchFamily="18" charset="0"/>
                          <a:cs typeface="Times New Roman" panose="02020603050405020304" pitchFamily="18" charset="0"/>
                        </a:rPr>
                        <a:t>24031</a:t>
                      </a:r>
                      <a:endParaRPr lang="en-IN" sz="12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GB" sz="1200" dirty="0">
                          <a:latin typeface="Times New Roman" panose="02020603050405020304" pitchFamily="18" charset="0"/>
                          <a:cs typeface="Times New Roman" panose="02020603050405020304" pitchFamily="18" charset="0"/>
                        </a:rPr>
                        <a:t>S DHEVAN</a:t>
                      </a:r>
                      <a:endParaRPr lang="en-IN" sz="1200" dirty="0">
                        <a:latin typeface="Times New Roman" panose="02020603050405020304" pitchFamily="18" charset="0"/>
                        <a:cs typeface="Times New Roman" panose="02020603050405020304" pitchFamily="18" charset="0"/>
                      </a:endParaRPr>
                    </a:p>
                  </a:txBody>
                  <a:tcPr marL="68580" marR="68580" marT="34290" marB="34290"/>
                </a:tc>
              </a:tr>
              <a:tr h="302931">
                <a:tc>
                  <a:txBody>
                    <a:bodyPr/>
                    <a:lstStyle/>
                    <a:p>
                      <a:pPr algn="ctr"/>
                      <a:r>
                        <a:rPr lang="en-GB" sz="1200" dirty="0">
                          <a:latin typeface="Times New Roman" panose="02020603050405020304" pitchFamily="18" charset="0"/>
                          <a:cs typeface="Times New Roman" panose="02020603050405020304" pitchFamily="18" charset="0"/>
                        </a:rPr>
                        <a:t>CB.EN.U4ELC24058</a:t>
                      </a:r>
                      <a:endParaRPr lang="en-IN" altLang="en-GB" sz="1200" dirty="0">
                        <a:latin typeface="Times New Roman" panose="02020603050405020304" pitchFamily="18" charset="0"/>
                        <a:cs typeface="Times New Roman" panose="02020603050405020304" pitchFamily="18" charset="0"/>
                      </a:endParaRPr>
                    </a:p>
                  </a:txBody>
                  <a:tcPr marL="68580" marR="68580" marT="34290" marB="34290"/>
                </a:tc>
                <a:tc>
                  <a:txBody>
                    <a:bodyPr/>
                    <a:lstStyle/>
                    <a:p>
                      <a:pPr algn="ctr"/>
                      <a:r>
                        <a:rPr lang="en-US" sz="1200" dirty="0">
                          <a:latin typeface="Times New Roman" panose="02020603050405020304" pitchFamily="18" charset="0"/>
                          <a:cs typeface="Times New Roman" panose="02020603050405020304" pitchFamily="18" charset="0"/>
                        </a:rPr>
                        <a:t> SUBASHREE A</a:t>
                      </a:r>
                      <a:endParaRPr lang="en-US" altLang="en-US" sz="1200" dirty="0">
                        <a:latin typeface="Times New Roman" panose="02020603050405020304" pitchFamily="18" charset="0"/>
                        <a:cs typeface="Times New Roman" panose="02020603050405020304" pitchFamily="18" charset="0"/>
                      </a:endParaRPr>
                    </a:p>
                  </a:txBody>
                  <a:tcPr marL="68580" marR="68580" marT="34290" marB="34290"/>
                </a:tc>
              </a:tr>
            </a:tbl>
          </a:graphicData>
        </a:graphic>
      </p:graphicFrame>
      <p:sp>
        <p:nvSpPr>
          <p:cNvPr id="5" name="Slide Number Placeholder 4"/>
          <p:cNvSpPr>
            <a:spLocks noGrp="1"/>
          </p:cNvSpPr>
          <p:nvPr>
            <p:ph type="sldNum" sz="quarter" idx="12"/>
          </p:nvPr>
        </p:nvSpPr>
        <p:spPr>
          <a:xfrm>
            <a:off x="8908018" y="5700599"/>
            <a:ext cx="214313" cy="273844"/>
          </a:xfrm>
        </p:spPr>
        <p:txBody>
          <a:bodyPr/>
          <a:lstStyle/>
          <a:p>
            <a:fld id="{2CD5F0D1-546A-48F2-829D-71E5BA9AAFAC}" type="slidenum">
              <a:rPr lang="en-IN" b="1"/>
            </a:fld>
            <a:endParaRPr lang="en-IN" b="1"/>
          </a:p>
        </p:txBody>
      </p:sp>
      <p:sp>
        <p:nvSpPr>
          <p:cNvPr id="10" name="TextBox 9"/>
          <p:cNvSpPr txBox="1"/>
          <p:nvPr/>
        </p:nvSpPr>
        <p:spPr>
          <a:xfrm>
            <a:off x="3236091" y="3408043"/>
            <a:ext cx="5040088" cy="300082"/>
          </a:xfrm>
          <a:prstGeom prst="rect">
            <a:avLst/>
          </a:prstGeom>
          <a:noFill/>
        </p:spPr>
        <p:txBody>
          <a:bodyPr wrap="square">
            <a:spAutoFit/>
          </a:bodyPr>
          <a:lstStyle/>
          <a:p>
            <a:r>
              <a:rPr lang="en-IN" sz="1350" b="1" dirty="0">
                <a:solidFill>
                  <a:srgbClr val="000000"/>
                </a:solidFill>
                <a:latin typeface="Times New Roman" panose="02020603050405020304" pitchFamily="18" charset="0"/>
              </a:rPr>
              <a:t>23ELC212- MACHINE LEARNING</a:t>
            </a:r>
            <a:endParaRPr lang="en-IN" sz="1350" b="1" dirty="0">
              <a:solidFill>
                <a:srgbClr val="000000"/>
              </a:solidFill>
              <a:latin typeface="Times New Roman" panose="02020603050405020304" pitchFamily="18" charset="0"/>
            </a:endParaRPr>
          </a:p>
        </p:txBody>
      </p:sp>
      <p:sp>
        <p:nvSpPr>
          <p:cNvPr id="9" name="TextBox 8"/>
          <p:cNvSpPr txBox="1"/>
          <p:nvPr/>
        </p:nvSpPr>
        <p:spPr>
          <a:xfrm>
            <a:off x="2369961" y="4233798"/>
            <a:ext cx="3916680" cy="623248"/>
          </a:xfrm>
          <a:prstGeom prst="rect">
            <a:avLst/>
          </a:prstGeom>
          <a:noFill/>
        </p:spPr>
        <p:txBody>
          <a:bodyPr wrap="square" lIns="68580" tIns="34290" rIns="68580" bIns="34290" rtlCol="0" anchor="t">
            <a:spAutoFit/>
          </a:bodyPr>
          <a:lstStyle/>
          <a:p>
            <a:pPr algn="ctr"/>
            <a:r>
              <a:rPr lang="en-GB" sz="1200" b="1" i="1" dirty="0">
                <a:latin typeface="Times New Roman" panose="02020603050405020304"/>
                <a:cs typeface="Times New Roman" panose="02020603050405020304"/>
              </a:rPr>
              <a:t>Supervised by</a:t>
            </a:r>
            <a:endParaRPr lang="en-GB" sz="1200" b="1" i="1" dirty="0">
              <a:latin typeface="Times New Roman" panose="02020603050405020304"/>
              <a:cs typeface="Times New Roman" panose="02020603050405020304"/>
            </a:endParaRPr>
          </a:p>
          <a:p>
            <a:pPr algn="ctr"/>
            <a:r>
              <a:rPr lang="en-GB" sz="1200" dirty="0">
                <a:latin typeface="Times New Roman" panose="02020603050405020304"/>
                <a:cs typeface="Times New Roman" panose="02020603050405020304"/>
              </a:rPr>
              <a:t>Mr. Nakkeeran M</a:t>
            </a:r>
            <a:endParaRPr lang="en-GB" sz="1200" dirty="0">
              <a:latin typeface="Times New Roman" panose="02020603050405020304"/>
              <a:cs typeface="Times New Roman" panose="02020603050405020304"/>
            </a:endParaRPr>
          </a:p>
          <a:p>
            <a:pPr algn="ctr"/>
            <a:r>
              <a:rPr lang="en-IN" sz="1200" dirty="0">
                <a:latin typeface="Times New Roman" panose="02020603050405020304"/>
                <a:ea typeface="+mn-lt"/>
                <a:cs typeface="+mn-lt"/>
              </a:rPr>
              <a:t>Assistant</a:t>
            </a:r>
            <a:r>
              <a:rPr lang="en-IN" sz="1200" dirty="0">
                <a:latin typeface="Times New Roman" panose="02020603050405020304"/>
                <a:cs typeface="Times New Roman" panose="02020603050405020304"/>
              </a:rPr>
              <a:t> Professor - EEE</a:t>
            </a:r>
            <a:endParaRPr lang="en-IN"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620713"/>
            <a:ext cx="8661400" cy="509587"/>
          </a:xfrm>
        </p:spPr>
        <p:txBody>
          <a:bodyPr>
            <a:noAutofit/>
          </a:bodyPr>
          <a:lstStyle>
            <a:lvl1pPr algn="r">
              <a:defRPr>
                <a:solidFill>
                  <a:schemeClr val="accent2">
                    <a:lumMod val="50000"/>
                  </a:schemeClr>
                </a:solidFill>
              </a:defRPr>
            </a:lvl1pPr>
          </a:lstStyle>
          <a:p>
            <a:pPr algn="l"/>
            <a:r>
              <a:rPr lang="en-US" sz="3800" b="1" dirty="0"/>
              <a:t>Acknowledgement </a:t>
            </a:r>
            <a:endParaRPr lang="en-IN" sz="3800" b="1" dirty="0"/>
          </a:p>
        </p:txBody>
      </p:sp>
      <p:sp>
        <p:nvSpPr>
          <p:cNvPr id="6" name="Text Placeholder 5"/>
          <p:cNvSpPr>
            <a:spLocks noGrp="1"/>
          </p:cNvSpPr>
          <p:nvPr>
            <p:ph type="body" sz="quarter" idx="4294967295"/>
          </p:nvPr>
        </p:nvSpPr>
        <p:spPr>
          <a:xfrm>
            <a:off x="0" y="1341755"/>
            <a:ext cx="8947785" cy="4966970"/>
          </a:xfrm>
          <a:ln>
            <a:solidFill>
              <a:schemeClr val="tx1"/>
            </a:solidFill>
          </a:ln>
        </p:spPr>
        <p:txBody>
          <a:bodyPr>
            <a:normAutofit fontScale="45000" lnSpcReduction="20000"/>
          </a:bodyPr>
          <a:lstStyle/>
          <a:p>
            <a:pPr marL="457200" lvl="1" indent="-457200">
              <a:lnSpc>
                <a:spcPct val="170000"/>
              </a:lnSpc>
              <a:spcAft>
                <a:spcPts val="600"/>
              </a:spcAft>
              <a:buFont typeface="Wingdings" panose="05000000000000000000" pitchFamily="2" charset="2"/>
              <a:buChar char="v"/>
            </a:pPr>
            <a:r>
              <a:rPr lang="en-US" altLang="en-US" sz="5000" dirty="0">
                <a:solidFill>
                  <a:schemeClr val="tx2">
                    <a:lumMod val="75000"/>
                  </a:schemeClr>
                </a:solidFill>
              </a:rPr>
              <a:t>This work was carried out at Amrita Vishwa Vidyapeetham, Amrita School of Engineering, Coimbatore,for providing us the opportunity and facilities to successfully complete this project.</a:t>
            </a:r>
            <a:endParaRPr lang="en-US" altLang="en-US" sz="5000" dirty="0">
              <a:solidFill>
                <a:schemeClr val="tx2">
                  <a:lumMod val="75000"/>
                </a:schemeClr>
              </a:solidFill>
            </a:endParaRPr>
          </a:p>
          <a:p>
            <a:pPr marL="457200" lvl="1" indent="-457200">
              <a:lnSpc>
                <a:spcPct val="170000"/>
              </a:lnSpc>
              <a:spcAft>
                <a:spcPts val="600"/>
              </a:spcAft>
              <a:buFont typeface="Wingdings" panose="05000000000000000000" pitchFamily="2" charset="2"/>
              <a:buChar char="v"/>
            </a:pPr>
            <a:r>
              <a:rPr lang="en-US" altLang="en-US" sz="5000" dirty="0">
                <a:solidFill>
                  <a:schemeClr val="tx2">
                    <a:lumMod val="75000"/>
                  </a:schemeClr>
                </a:solidFill>
              </a:rPr>
              <a:t>We express our sincere gratitude to</a:t>
            </a:r>
            <a:r>
              <a:rPr lang="en-US" altLang="en-US" sz="5000" dirty="0">
                <a:solidFill>
                  <a:schemeClr val="tx2">
                    <a:lumMod val="75000"/>
                  </a:schemeClr>
                </a:solidFill>
                <a:highlight>
                  <a:srgbClr val="FFFF00"/>
                </a:highlight>
              </a:rPr>
              <a:t> </a:t>
            </a:r>
            <a:r>
              <a:rPr lang="en-US" altLang="en-US" sz="5000" dirty="0">
                <a:solidFill>
                  <a:srgbClr val="FF0000"/>
                </a:solidFill>
                <a:highlight>
                  <a:srgbClr val="FFFF00"/>
                </a:highlight>
              </a:rPr>
              <a:t>Mr. Nakkeeran M</a:t>
            </a:r>
            <a:r>
              <a:rPr lang="en-US" altLang="en-US" sz="5000" dirty="0">
                <a:solidFill>
                  <a:schemeClr val="tx2">
                    <a:lumMod val="75000"/>
                  </a:schemeClr>
                </a:solidFill>
              </a:rPr>
              <a:t>, Assistant Professor, Department of Electrical and Electronics Engineering</a:t>
            </a:r>
            <a:r>
              <a:rPr lang="en-IN" altLang="en-US" sz="5000" dirty="0">
                <a:solidFill>
                  <a:schemeClr val="tx2">
                    <a:lumMod val="75000"/>
                  </a:schemeClr>
                </a:solidFill>
              </a:rPr>
              <a:t>(EEE)</a:t>
            </a:r>
            <a:r>
              <a:rPr lang="en-US" altLang="en-US" sz="5000" dirty="0">
                <a:solidFill>
                  <a:schemeClr val="tx2">
                    <a:lumMod val="75000"/>
                  </a:schemeClr>
                </a:solidFill>
              </a:rPr>
              <a:t>, for his valuable guidance, continuous support, and encouragement throughout the course of this project.</a:t>
            </a:r>
            <a:endParaRPr lang="en-US" altLang="en-US" sz="5000" dirty="0">
              <a:solidFill>
                <a:schemeClr val="tx2">
                  <a:lumMod val="75000"/>
                </a:schemeClr>
              </a:solidFill>
            </a:endParaRPr>
          </a:p>
          <a:p>
            <a:pPr lvl="1" algn="ctr">
              <a:spcAft>
                <a:spcPts val="600"/>
              </a:spcAft>
            </a:pPr>
            <a:endParaRPr lang="en-US" sz="2000" dirty="0">
              <a:latin typeface="+mj-lt"/>
              <a:ea typeface="Calibri" panose="020F0502020204030204" pitchFamily="34" charset="0"/>
              <a:cs typeface="Calibri" panose="020F0502020204030204" pitchFamily="34" charset="0"/>
            </a:endParaRPr>
          </a:p>
          <a:p>
            <a:endParaRPr lang="en-US" sz="2800" dirty="0">
              <a:solidFill>
                <a:schemeClr val="tx2">
                  <a:lumMod val="75000"/>
                </a:schemeClr>
              </a:solidFill>
            </a:endParaRPr>
          </a:p>
          <a:p>
            <a:pPr marL="0" indent="0">
              <a:buNone/>
            </a:pPr>
            <a:endParaRPr lang="en-IN" sz="2800" dirty="0"/>
          </a:p>
        </p:txBody>
      </p:sp>
      <p:pic>
        <p:nvPicPr>
          <p:cNvPr id="2" name="Picture 1"/>
          <p:cNvPicPr>
            <a:picLocks noChangeAspect="1"/>
          </p:cNvPicPr>
          <p:nvPr/>
        </p:nvPicPr>
        <p:blipFill>
          <a:blip r:embed="rId1"/>
          <a:stretch>
            <a:fillRect/>
          </a:stretch>
        </p:blipFill>
        <p:spPr>
          <a:xfrm>
            <a:off x="-141351" y="6453336"/>
            <a:ext cx="9321863" cy="404665"/>
          </a:xfrm>
          <a:prstGeom prst="rect">
            <a:avLst/>
          </a:prstGeom>
        </p:spPr>
      </p:pic>
      <p:pic>
        <p:nvPicPr>
          <p:cNvPr id="5" name="Picture 4"/>
          <p:cNvPicPr>
            <a:picLocks noChangeAspect="1"/>
          </p:cNvPicPr>
          <p:nvPr/>
        </p:nvPicPr>
        <p:blipFill>
          <a:blip r:embed="rId1"/>
          <a:stretch>
            <a:fillRect/>
          </a:stretch>
        </p:blipFill>
        <p:spPr>
          <a:xfrm>
            <a:off x="0" y="59457"/>
            <a:ext cx="9144000" cy="4046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549275"/>
            <a:ext cx="8985250" cy="508000"/>
          </a:xfrm>
          <a:ln>
            <a:solidFill>
              <a:schemeClr val="bg1"/>
            </a:solidFill>
          </a:ln>
        </p:spPr>
        <p:txBody>
          <a:bodyPr>
            <a:normAutofit fontScale="90000"/>
          </a:bodyPr>
          <a:lstStyle>
            <a:lvl1pPr algn="r">
              <a:defRPr>
                <a:solidFill>
                  <a:schemeClr val="accent2">
                    <a:lumMod val="50000"/>
                  </a:schemeClr>
                </a:solidFill>
              </a:defRPr>
            </a:lvl1pPr>
          </a:lstStyle>
          <a:p>
            <a:pPr algn="l"/>
            <a:r>
              <a:rPr lang="en-US" dirty="0"/>
              <a:t>   </a:t>
            </a:r>
            <a:r>
              <a:rPr lang="en-US" b="1" dirty="0"/>
              <a:t>Outline</a:t>
            </a:r>
            <a:endParaRPr lang="en-IN" b="1" dirty="0"/>
          </a:p>
        </p:txBody>
      </p:sp>
      <p:sp>
        <p:nvSpPr>
          <p:cNvPr id="6" name="Text Placeholder 5"/>
          <p:cNvSpPr>
            <a:spLocks noGrp="1"/>
          </p:cNvSpPr>
          <p:nvPr>
            <p:ph type="body" sz="quarter" idx="4294967295"/>
          </p:nvPr>
        </p:nvSpPr>
        <p:spPr>
          <a:xfrm>
            <a:off x="0" y="1268413"/>
            <a:ext cx="8512175" cy="5113337"/>
          </a:xfrm>
          <a:ln>
            <a:solidFill>
              <a:schemeClr val="tx1"/>
            </a:solidFill>
          </a:ln>
        </p:spPr>
        <p:txBody>
          <a:bodyPr>
            <a:normAutofit fontScale="25000" lnSpcReduction="20000"/>
          </a:bodyPr>
          <a:lstStyle/>
          <a:p>
            <a:pPr>
              <a:buFont typeface="Wingdings" panose="05000000000000000000" pitchFamily="2" charset="2"/>
              <a:buChar char="v"/>
            </a:pPr>
            <a:r>
              <a:rPr lang="en-US" sz="5600" b="1" dirty="0">
                <a:solidFill>
                  <a:schemeClr val="tx1"/>
                </a:solidFill>
                <a:latin typeface="+mj-lt"/>
                <a:ea typeface="Calibri" panose="020F0502020204030204" pitchFamily="34" charset="0"/>
                <a:cs typeface="Calibri" panose="020F0502020204030204" pitchFamily="34" charset="0"/>
              </a:rPr>
              <a:t>Abstract</a:t>
            </a:r>
            <a:endParaRPr lang="en-US" sz="5600" b="1" dirty="0">
              <a:solidFill>
                <a:schemeClr val="tx1"/>
              </a:solidFill>
              <a:latin typeface="+mj-lt"/>
              <a:ea typeface="Calibri" panose="020F0502020204030204" pitchFamily="34" charset="0"/>
              <a:cs typeface="Calibri" panose="020F0502020204030204" pitchFamily="34" charset="0"/>
            </a:endParaRPr>
          </a:p>
          <a:p>
            <a:pPr marL="400050" indent="-400050">
              <a:spcAft>
                <a:spcPts val="600"/>
              </a:spcAft>
              <a:buFont typeface="+mj-lt"/>
              <a:buAutoNum type="romanUcPeriod"/>
            </a:pPr>
            <a:r>
              <a:rPr lang="en-US" sz="5600" b="1" dirty="0">
                <a:solidFill>
                  <a:schemeClr val="tx1"/>
                </a:solidFill>
                <a:latin typeface="+mj-lt"/>
                <a:ea typeface="Calibri" panose="020F0502020204030204" pitchFamily="34" charset="0"/>
                <a:cs typeface="Calibri" panose="020F0502020204030204" pitchFamily="34" charset="0"/>
              </a:rPr>
              <a:t>Introduction</a:t>
            </a:r>
            <a:endParaRPr lang="en-US" sz="5600" b="1" dirty="0">
              <a:solidFill>
                <a:schemeClr val="tx1"/>
              </a:solidFill>
              <a:latin typeface="+mj-lt"/>
              <a:ea typeface="Calibri" panose="020F0502020204030204" pitchFamily="34" charset="0"/>
              <a:cs typeface="Calibri" panose="020F0502020204030204" pitchFamily="34" charset="0"/>
            </a:endParaRPr>
          </a:p>
          <a:p>
            <a:pPr marL="720725" lvl="2" indent="-365125">
              <a:spcAft>
                <a:spcPts val="600"/>
              </a:spcAft>
              <a:buFont typeface="Wingdings" panose="05000000000000000000" pitchFamily="2" charset="2"/>
              <a:buChar char="ü"/>
            </a:pPr>
            <a:r>
              <a:rPr lang="en-US" altLang="en-US" sz="5600" b="1" i="1" dirty="0">
                <a:solidFill>
                  <a:srgbClr val="0000FF"/>
                </a:solidFill>
                <a:latin typeface="+mj-lt"/>
                <a:ea typeface="Calibri" panose="020F0502020204030204" pitchFamily="34" charset="0"/>
                <a:cs typeface="Calibri" panose="020F0502020204030204" pitchFamily="34" charset="0"/>
              </a:rPr>
              <a:t>Background</a:t>
            </a:r>
            <a:endParaRPr lang="en-US" altLang="en-US" sz="5600" b="1" i="1" dirty="0">
              <a:solidFill>
                <a:srgbClr val="0000FF"/>
              </a:solidFill>
              <a:latin typeface="+mj-lt"/>
              <a:ea typeface="Calibri" panose="020F0502020204030204" pitchFamily="34" charset="0"/>
              <a:cs typeface="Calibri" panose="020F0502020204030204" pitchFamily="34" charset="0"/>
            </a:endParaRPr>
          </a:p>
          <a:p>
            <a:pPr marL="720725" lvl="2" indent="-365125">
              <a:spcAft>
                <a:spcPts val="600"/>
              </a:spcAft>
              <a:buFont typeface="Wingdings" panose="05000000000000000000" pitchFamily="2" charset="2"/>
              <a:buChar char="ü"/>
            </a:pPr>
            <a:r>
              <a:rPr lang="en-US" altLang="en-US" sz="5600" b="1" i="1" dirty="0">
                <a:solidFill>
                  <a:srgbClr val="0000FF"/>
                </a:solidFill>
                <a:latin typeface="+mj-lt"/>
                <a:ea typeface="Calibri" panose="020F0502020204030204" pitchFamily="34" charset="0"/>
                <a:cs typeface="Calibri" panose="020F0502020204030204" pitchFamily="34" charset="0"/>
              </a:rPr>
              <a:t> Problem Statement</a:t>
            </a:r>
            <a:endParaRPr lang="en-US" altLang="en-US" sz="5600" b="1" i="1" dirty="0">
              <a:solidFill>
                <a:srgbClr val="0000FF"/>
              </a:solidFill>
              <a:latin typeface="+mj-lt"/>
              <a:ea typeface="Calibri" panose="020F0502020204030204" pitchFamily="34" charset="0"/>
              <a:cs typeface="Calibri" panose="020F0502020204030204" pitchFamily="34" charset="0"/>
            </a:endParaRPr>
          </a:p>
          <a:p>
            <a:pPr marL="720725" lvl="2" indent="-365125">
              <a:spcAft>
                <a:spcPts val="600"/>
              </a:spcAft>
              <a:buFont typeface="Wingdings" panose="05000000000000000000" pitchFamily="2" charset="2"/>
              <a:buChar char="ü"/>
            </a:pPr>
            <a:r>
              <a:rPr lang="en-US" sz="5600" b="1" i="1" dirty="0">
                <a:solidFill>
                  <a:srgbClr val="0000FF"/>
                </a:solidFill>
                <a:latin typeface="+mj-lt"/>
                <a:ea typeface="Calibri" panose="020F0502020204030204" pitchFamily="34" charset="0"/>
                <a:cs typeface="Calibri" panose="020F0502020204030204" pitchFamily="34" charset="0"/>
              </a:rPr>
              <a:t>Key </a:t>
            </a:r>
            <a:r>
              <a:rPr lang="en-US" altLang="en-US" sz="5600" b="1" i="1" dirty="0">
                <a:solidFill>
                  <a:srgbClr val="0000FF"/>
                </a:solidFill>
                <a:latin typeface="+mj-lt"/>
                <a:ea typeface="Calibri" panose="020F0502020204030204" pitchFamily="34" charset="0"/>
                <a:cs typeface="Calibri" panose="020F0502020204030204" pitchFamily="34" charset="0"/>
              </a:rPr>
              <a:t>Contributions of the Project</a:t>
            </a:r>
            <a:endParaRPr lang="en-US" sz="5600" b="1" i="1" dirty="0">
              <a:solidFill>
                <a:srgbClr val="0000FF"/>
              </a:solidFill>
              <a:latin typeface="+mj-lt"/>
              <a:ea typeface="Calibri" panose="020F0502020204030204" pitchFamily="34" charset="0"/>
              <a:cs typeface="Calibri" panose="020F0502020204030204" pitchFamily="34" charset="0"/>
            </a:endParaRPr>
          </a:p>
          <a:p>
            <a:pPr marL="400050" indent="-400050">
              <a:spcAft>
                <a:spcPts val="600"/>
              </a:spcAft>
              <a:buFont typeface="+mj-lt"/>
              <a:buAutoNum type="romanUcPeriod"/>
            </a:pPr>
            <a:r>
              <a:rPr lang="en-US" sz="5600" b="1" dirty="0">
                <a:solidFill>
                  <a:schemeClr val="tx1"/>
                </a:solidFill>
                <a:latin typeface="+mj-lt"/>
                <a:ea typeface="Calibri" panose="020F0502020204030204" pitchFamily="34" charset="0"/>
                <a:cs typeface="Calibri" panose="020F0502020204030204" pitchFamily="34" charset="0"/>
              </a:rPr>
              <a:t>System Architecture</a:t>
            </a:r>
            <a:endParaRPr lang="en-US" sz="5600" b="1" dirty="0">
              <a:solidFill>
                <a:schemeClr val="tx1"/>
              </a:solidFill>
              <a:latin typeface="+mj-lt"/>
              <a:ea typeface="Calibri" panose="020F0502020204030204" pitchFamily="34" charset="0"/>
              <a:cs typeface="Calibri" panose="020F0502020204030204" pitchFamily="34" charset="0"/>
            </a:endParaRPr>
          </a:p>
          <a:p>
            <a:pPr marL="720725" lvl="6" indent="-365125">
              <a:spcAft>
                <a:spcPts val="600"/>
              </a:spcAft>
              <a:buFont typeface="+mj-lt"/>
              <a:buAutoNum type="alphaUcPeriod"/>
            </a:pPr>
            <a:r>
              <a:rPr lang="en-US" altLang="en-US" sz="5600" b="1" i="1" dirty="0">
                <a:solidFill>
                  <a:srgbClr val="0000FF"/>
                </a:solidFill>
                <a:latin typeface="+mj-lt"/>
                <a:ea typeface="Calibri" panose="020F0502020204030204" pitchFamily="34" charset="0"/>
                <a:cs typeface="Calibri" panose="020F0502020204030204" pitchFamily="34" charset="0"/>
              </a:rPr>
              <a:t>Proposed Framework</a:t>
            </a:r>
            <a:endParaRPr lang="en-US" altLang="en-US" sz="5600" b="1" i="1" dirty="0">
              <a:solidFill>
                <a:srgbClr val="0000FF"/>
              </a:solidFill>
              <a:latin typeface="+mj-lt"/>
              <a:ea typeface="Calibri" panose="020F0502020204030204" pitchFamily="34" charset="0"/>
              <a:cs typeface="Calibri" panose="020F0502020204030204" pitchFamily="34" charset="0"/>
            </a:endParaRPr>
          </a:p>
          <a:p>
            <a:pPr marL="720725" lvl="6" indent="-365125">
              <a:spcAft>
                <a:spcPts val="600"/>
              </a:spcAft>
              <a:buFont typeface="+mj-lt"/>
              <a:buAutoNum type="alphaUcPeriod"/>
            </a:pPr>
            <a:r>
              <a:rPr lang="en-US" altLang="en-US" sz="5600" b="1" i="1" dirty="0">
                <a:solidFill>
                  <a:srgbClr val="0000FF"/>
                </a:solidFill>
                <a:latin typeface="+mj-lt"/>
                <a:ea typeface="Calibri" panose="020F0502020204030204" pitchFamily="34" charset="0"/>
                <a:cs typeface="Calibri" panose="020F0502020204030204" pitchFamily="34" charset="0"/>
              </a:rPr>
              <a:t> Dataset Details</a:t>
            </a:r>
            <a:r>
              <a:rPr lang="en-IN" altLang="en-US" sz="5600" b="1" i="1" dirty="0">
                <a:solidFill>
                  <a:srgbClr val="0000FF"/>
                </a:solidFill>
                <a:latin typeface="+mj-lt"/>
                <a:ea typeface="Calibri" panose="020F0502020204030204" pitchFamily="34" charset="0"/>
                <a:cs typeface="Calibri" panose="020F0502020204030204" pitchFamily="34" charset="0"/>
              </a:rPr>
              <a:t> and Related work</a:t>
            </a:r>
            <a:endParaRPr lang="en-US" altLang="en-US" sz="5600" b="1" i="1" dirty="0">
              <a:solidFill>
                <a:srgbClr val="0000FF"/>
              </a:solidFill>
              <a:latin typeface="+mj-lt"/>
              <a:ea typeface="Calibri" panose="020F0502020204030204" pitchFamily="34" charset="0"/>
              <a:cs typeface="Calibri" panose="020F0502020204030204" pitchFamily="34" charset="0"/>
            </a:endParaRPr>
          </a:p>
          <a:p>
            <a:pPr marL="720725" lvl="6" indent="-365125">
              <a:spcAft>
                <a:spcPts val="600"/>
              </a:spcAft>
              <a:buFont typeface="+mj-lt"/>
              <a:buAutoNum type="alphaUcPeriod"/>
            </a:pPr>
            <a:r>
              <a:rPr lang="en-US" altLang="en-US" sz="5600" b="1" i="1" dirty="0">
                <a:solidFill>
                  <a:srgbClr val="0000FF"/>
                </a:solidFill>
                <a:latin typeface="+mj-lt"/>
                <a:ea typeface="Calibri" panose="020F0502020204030204" pitchFamily="34" charset="0"/>
                <a:cs typeface="Calibri" panose="020F0502020204030204" pitchFamily="34" charset="0"/>
              </a:rPr>
              <a:t>Research Approach </a:t>
            </a:r>
            <a:r>
              <a:rPr lang="en-US" sz="5600" b="1" i="1" dirty="0">
                <a:solidFill>
                  <a:srgbClr val="0000FF"/>
                </a:solidFill>
                <a:latin typeface="+mj-lt"/>
                <a:ea typeface="Calibri" panose="020F0502020204030204" pitchFamily="34" charset="0"/>
                <a:cs typeface="Calibri" panose="020F0502020204030204" pitchFamily="34" charset="0"/>
              </a:rPr>
              <a:t> </a:t>
            </a:r>
            <a:endParaRPr lang="en-US" sz="5600" b="1" i="1" dirty="0">
              <a:solidFill>
                <a:srgbClr val="0000FF"/>
              </a:solidFill>
              <a:latin typeface="+mj-lt"/>
              <a:ea typeface="Calibri" panose="020F0502020204030204" pitchFamily="34" charset="0"/>
              <a:cs typeface="Calibri" panose="020F0502020204030204" pitchFamily="34" charset="0"/>
            </a:endParaRPr>
          </a:p>
          <a:p>
            <a:pPr marL="400050" indent="-400050">
              <a:spcAft>
                <a:spcPts val="600"/>
              </a:spcAft>
              <a:buFont typeface="+mj-lt"/>
              <a:buAutoNum type="romanUcPeriod"/>
            </a:pPr>
            <a:r>
              <a:rPr lang="en-US" sz="5600" b="1" dirty="0">
                <a:solidFill>
                  <a:schemeClr val="tx1"/>
                </a:solidFill>
                <a:latin typeface="+mj-lt"/>
                <a:ea typeface="Calibri" panose="020F0502020204030204" pitchFamily="34" charset="0"/>
                <a:cs typeface="Calibri" panose="020F0502020204030204" pitchFamily="34" charset="0"/>
              </a:rPr>
              <a:t>Methodology</a:t>
            </a:r>
            <a:endParaRPr lang="en-US" sz="5600" b="1" dirty="0">
              <a:solidFill>
                <a:schemeClr val="tx1"/>
              </a:solidFill>
              <a:latin typeface="+mj-lt"/>
              <a:ea typeface="Calibri" panose="020F0502020204030204" pitchFamily="34" charset="0"/>
              <a:cs typeface="Calibri" panose="020F0502020204030204" pitchFamily="34" charset="0"/>
            </a:endParaRPr>
          </a:p>
          <a:p>
            <a:pPr marL="720725" lvl="2" indent="-365125">
              <a:spcAft>
                <a:spcPts val="600"/>
              </a:spcAft>
              <a:buFont typeface="+mj-lt"/>
              <a:buAutoNum type="alphaUcPeriod"/>
            </a:pPr>
            <a:r>
              <a:rPr lang="en-US" altLang="en-US" sz="5600" b="1" i="1" dirty="0">
                <a:solidFill>
                  <a:srgbClr val="0000FF"/>
                </a:solidFill>
                <a:latin typeface="+mj-lt"/>
                <a:ea typeface="Calibri" panose="020F0502020204030204" pitchFamily="34" charset="0"/>
                <a:cs typeface="Calibri" panose="020F0502020204030204" pitchFamily="34" charset="0"/>
              </a:rPr>
              <a:t>Machine Learning Techniques</a:t>
            </a:r>
            <a:endParaRPr lang="en-US" altLang="en-US" sz="5600" b="1" i="1" dirty="0">
              <a:solidFill>
                <a:srgbClr val="0000FF"/>
              </a:solidFill>
              <a:latin typeface="+mj-lt"/>
              <a:ea typeface="Calibri" panose="020F0502020204030204" pitchFamily="34" charset="0"/>
              <a:cs typeface="Calibri" panose="020F0502020204030204" pitchFamily="34" charset="0"/>
            </a:endParaRPr>
          </a:p>
          <a:p>
            <a:pPr marL="720725" lvl="2" indent="-365125">
              <a:spcAft>
                <a:spcPts val="600"/>
              </a:spcAft>
              <a:buFont typeface="+mj-lt"/>
              <a:buAutoNum type="alphaUcPeriod"/>
            </a:pPr>
            <a:r>
              <a:rPr lang="en-US" altLang="en-US" sz="5600" b="1" i="1" dirty="0">
                <a:solidFill>
                  <a:srgbClr val="0000FF"/>
                </a:solidFill>
                <a:latin typeface="+mj-lt"/>
                <a:ea typeface="Calibri" panose="020F0502020204030204" pitchFamily="34" charset="0"/>
                <a:cs typeface="Calibri" panose="020F0502020204030204" pitchFamily="34" charset="0"/>
              </a:rPr>
              <a:t>Evaluation Metrics</a:t>
            </a:r>
            <a:r>
              <a:rPr lang="en-US" sz="5600" b="1" i="1" dirty="0">
                <a:solidFill>
                  <a:srgbClr val="0000FF"/>
                </a:solidFill>
                <a:latin typeface="+mj-lt"/>
                <a:ea typeface="Calibri" panose="020F0502020204030204" pitchFamily="34" charset="0"/>
                <a:cs typeface="Calibri" panose="020F0502020204030204" pitchFamily="34" charset="0"/>
              </a:rPr>
              <a:t> </a:t>
            </a:r>
            <a:endParaRPr lang="en-US" sz="5600" b="1" i="1" dirty="0">
              <a:solidFill>
                <a:srgbClr val="0000FF"/>
              </a:solidFill>
              <a:latin typeface="+mj-lt"/>
              <a:ea typeface="Calibri" panose="020F0502020204030204" pitchFamily="34" charset="0"/>
              <a:cs typeface="Calibri" panose="020F0502020204030204" pitchFamily="34" charset="0"/>
            </a:endParaRPr>
          </a:p>
          <a:p>
            <a:pPr marL="400050" indent="-400050">
              <a:spcAft>
                <a:spcPts val="600"/>
              </a:spcAft>
              <a:buFont typeface="+mj-lt"/>
              <a:buAutoNum type="romanUcPeriod"/>
            </a:pPr>
            <a:r>
              <a:rPr lang="en-US" sz="5600" b="1" dirty="0">
                <a:solidFill>
                  <a:schemeClr val="tx1"/>
                </a:solidFill>
                <a:latin typeface="+mj-lt"/>
                <a:ea typeface="Calibri" panose="020F0502020204030204" pitchFamily="34" charset="0"/>
                <a:cs typeface="Calibri" panose="020F0502020204030204" pitchFamily="34" charset="0"/>
              </a:rPr>
              <a:t>Implementation Detail</a:t>
            </a:r>
            <a:endParaRPr lang="en-US" sz="5600" b="1" dirty="0">
              <a:solidFill>
                <a:schemeClr val="tx1"/>
              </a:solidFill>
              <a:latin typeface="+mj-lt"/>
              <a:ea typeface="Calibri" panose="020F0502020204030204" pitchFamily="34" charset="0"/>
              <a:cs typeface="Calibri" panose="020F0502020204030204" pitchFamily="34" charset="0"/>
            </a:endParaRPr>
          </a:p>
          <a:p>
            <a:pPr marL="720725" lvl="6" indent="-365125">
              <a:spcAft>
                <a:spcPts val="600"/>
              </a:spcAft>
              <a:buFont typeface="+mj-lt"/>
              <a:buAutoNum type="alphaUcPeriod"/>
            </a:pPr>
            <a:r>
              <a:rPr lang="en-US" sz="5600" b="1" i="1" dirty="0">
                <a:solidFill>
                  <a:srgbClr val="0000FF"/>
                </a:solidFill>
                <a:latin typeface="+mj-lt"/>
                <a:ea typeface="Calibri" panose="020F0502020204030204" pitchFamily="34" charset="0"/>
                <a:cs typeface="Calibri" panose="020F0502020204030204" pitchFamily="34" charset="0"/>
              </a:rPr>
              <a:t>Implementation Tool and Evaluation Metrics</a:t>
            </a:r>
            <a:endParaRPr lang="en-US" sz="5600" b="1" i="1" dirty="0">
              <a:solidFill>
                <a:srgbClr val="0000FF"/>
              </a:solidFill>
              <a:latin typeface="+mj-lt"/>
              <a:ea typeface="Calibri" panose="020F0502020204030204" pitchFamily="34" charset="0"/>
              <a:cs typeface="Calibri" panose="020F0502020204030204" pitchFamily="34" charset="0"/>
            </a:endParaRPr>
          </a:p>
          <a:p>
            <a:pPr marL="400050" indent="-400050">
              <a:spcAft>
                <a:spcPts val="600"/>
              </a:spcAft>
              <a:buFont typeface="+mj-lt"/>
              <a:buAutoNum type="romanUcPeriod"/>
            </a:pPr>
            <a:r>
              <a:rPr lang="en-US" sz="5600" b="1" dirty="0">
                <a:solidFill>
                  <a:schemeClr val="tx1"/>
                </a:solidFill>
                <a:latin typeface="+mj-lt"/>
                <a:ea typeface="Calibri" panose="020F0502020204030204" pitchFamily="34" charset="0"/>
                <a:cs typeface="Calibri" panose="020F0502020204030204" pitchFamily="34" charset="0"/>
              </a:rPr>
              <a:t>Result Analysis and Discussion</a:t>
            </a:r>
            <a:endParaRPr lang="en-US" sz="5600" b="1" dirty="0">
              <a:solidFill>
                <a:schemeClr val="tx1"/>
              </a:solidFill>
              <a:latin typeface="+mj-lt"/>
              <a:ea typeface="Calibri" panose="020F0502020204030204" pitchFamily="34" charset="0"/>
              <a:cs typeface="Calibri" panose="020F0502020204030204" pitchFamily="34" charset="0"/>
            </a:endParaRPr>
          </a:p>
          <a:p>
            <a:pPr marL="400050" indent="-400050">
              <a:spcAft>
                <a:spcPts val="600"/>
              </a:spcAft>
              <a:buFont typeface="+mj-lt"/>
              <a:buAutoNum type="romanUcPeriod"/>
            </a:pPr>
            <a:r>
              <a:rPr lang="en-US" sz="5600" b="1" dirty="0">
                <a:solidFill>
                  <a:schemeClr val="tx1"/>
                </a:solidFill>
                <a:latin typeface="+mj-lt"/>
                <a:ea typeface="Calibri" panose="020F0502020204030204" pitchFamily="34" charset="0"/>
                <a:cs typeface="Calibri" panose="020F0502020204030204" pitchFamily="34" charset="0"/>
              </a:rPr>
              <a:t>Conclusion and Future Work</a:t>
            </a:r>
            <a:endParaRPr lang="en-US" sz="5600" b="1" dirty="0">
              <a:solidFill>
                <a:schemeClr val="tx1"/>
              </a:solidFill>
              <a:latin typeface="+mj-lt"/>
              <a:ea typeface="Calibri" panose="020F0502020204030204" pitchFamily="34" charset="0"/>
              <a:cs typeface="Calibri" panose="020F0502020204030204" pitchFamily="34" charset="0"/>
            </a:endParaRPr>
          </a:p>
          <a:p>
            <a:pPr marL="355600" lvl="1" indent="-355600">
              <a:spcAft>
                <a:spcPts val="600"/>
              </a:spcAft>
              <a:buFont typeface="Wingdings" panose="05000000000000000000" pitchFamily="2" charset="2"/>
              <a:buChar char="v"/>
            </a:pPr>
            <a:r>
              <a:rPr lang="en-US" sz="5600" b="1" dirty="0">
                <a:solidFill>
                  <a:schemeClr val="tx1"/>
                </a:solidFill>
                <a:latin typeface="+mj-lt"/>
                <a:ea typeface="Calibri" panose="020F0502020204030204" pitchFamily="34" charset="0"/>
                <a:cs typeface="Calibri" panose="020F0502020204030204" pitchFamily="34" charset="0"/>
              </a:rPr>
              <a:t>  References</a:t>
            </a:r>
            <a:endParaRPr lang="en-US" sz="5600" b="1" dirty="0">
              <a:solidFill>
                <a:schemeClr val="tx1"/>
              </a:solidFill>
              <a:latin typeface="+mj-lt"/>
              <a:ea typeface="Calibri" panose="020F0502020204030204" pitchFamily="34" charset="0"/>
              <a:cs typeface="Calibri" panose="020F0502020204030204" pitchFamily="34" charset="0"/>
            </a:endParaRPr>
          </a:p>
          <a:p>
            <a:endParaRPr lang="en-US" sz="2800" dirty="0">
              <a:solidFill>
                <a:schemeClr val="tx2">
                  <a:lumMod val="75000"/>
                </a:schemeClr>
              </a:solidFill>
            </a:endParaRPr>
          </a:p>
          <a:p>
            <a:endParaRPr lang="en-IN" sz="2800" dirty="0"/>
          </a:p>
        </p:txBody>
      </p:sp>
      <p:pic>
        <p:nvPicPr>
          <p:cNvPr id="2" name="Picture 1"/>
          <p:cNvPicPr>
            <a:picLocks noChangeAspect="1"/>
          </p:cNvPicPr>
          <p:nvPr/>
        </p:nvPicPr>
        <p:blipFill>
          <a:blip r:embed="rId1"/>
          <a:stretch>
            <a:fillRect/>
          </a:stretch>
        </p:blipFill>
        <p:spPr>
          <a:xfrm>
            <a:off x="35496" y="107866"/>
            <a:ext cx="9144000" cy="335840"/>
          </a:xfrm>
          <a:prstGeom prst="rect">
            <a:avLst/>
          </a:prstGeom>
        </p:spPr>
      </p:pic>
      <p:pic>
        <p:nvPicPr>
          <p:cNvPr id="3" name="Picture 2"/>
          <p:cNvPicPr>
            <a:picLocks noChangeAspect="1"/>
          </p:cNvPicPr>
          <p:nvPr/>
        </p:nvPicPr>
        <p:blipFill>
          <a:blip r:embed="rId1"/>
          <a:stretch>
            <a:fillRect/>
          </a:stretch>
        </p:blipFill>
        <p:spPr>
          <a:xfrm>
            <a:off x="0" y="6522160"/>
            <a:ext cx="9143984" cy="3358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165100" y="510158"/>
            <a:ext cx="8734425" cy="509588"/>
          </a:xfrm>
        </p:spPr>
        <p:txBody>
          <a:bodyPr>
            <a:noAutofit/>
          </a:bodyPr>
          <a:lstStyle>
            <a:lvl1pPr algn="r">
              <a:defRPr>
                <a:solidFill>
                  <a:schemeClr val="accent2">
                    <a:lumMod val="50000"/>
                  </a:schemeClr>
                </a:solidFill>
              </a:defRPr>
            </a:lvl1pPr>
          </a:lstStyle>
          <a:p>
            <a:pPr algn="l"/>
            <a:r>
              <a:rPr lang="en-US" sz="3200" b="1" dirty="0"/>
              <a:t>Abstract</a:t>
            </a:r>
            <a:endParaRPr lang="en-IN" sz="3200" b="1" dirty="0"/>
          </a:p>
        </p:txBody>
      </p:sp>
      <p:sp>
        <p:nvSpPr>
          <p:cNvPr id="6" name="Text Placeholder 5"/>
          <p:cNvSpPr>
            <a:spLocks noGrp="1"/>
          </p:cNvSpPr>
          <p:nvPr>
            <p:ph type="body" sz="quarter" idx="4294967295"/>
          </p:nvPr>
        </p:nvSpPr>
        <p:spPr>
          <a:xfrm>
            <a:off x="165100" y="1052736"/>
            <a:ext cx="8569325" cy="5295106"/>
          </a:xfrm>
          <a:ln>
            <a:solidFill>
              <a:schemeClr val="tx1"/>
            </a:solidFill>
          </a:ln>
        </p:spPr>
        <p:txBody>
          <a:bodyPr>
            <a:normAutofit fontScale="25000" lnSpcReduction="20000"/>
          </a:bodyPr>
          <a:lstStyle/>
          <a:p>
            <a:pPr algn="just">
              <a:lnSpc>
                <a:spcPct val="170000"/>
              </a:lnSpc>
              <a:spcBef>
                <a:spcPts val="0"/>
              </a:spcBef>
            </a:pPr>
            <a:r>
              <a:rPr lang="en-US" altLang="en-US" sz="6400" i="0" u="none" strike="noStrike" baseline="0" dirty="0">
                <a:latin typeface="+mj-lt"/>
                <a:ea typeface="Calibri" panose="020F0502020204030204" pitchFamily="34" charset="0"/>
                <a:cs typeface="Calibri" panose="020F0502020204030204" pitchFamily="34" charset="0"/>
              </a:rPr>
              <a:t>To develop </a:t>
            </a:r>
            <a:r>
              <a:rPr lang="en-US" altLang="en-US" sz="6400" b="1" i="0" u="none" strike="noStrike" baseline="0" dirty="0">
                <a:latin typeface="+mj-lt"/>
                <a:ea typeface="Calibri" panose="020F0502020204030204" pitchFamily="34" charset="0"/>
                <a:cs typeface="Calibri" panose="020F0502020204030204" pitchFamily="34" charset="0"/>
              </a:rPr>
              <a:t>an adaptive ensemble Machine Learning framework</a:t>
            </a:r>
            <a:r>
              <a:rPr lang="en-US" altLang="en-US" sz="6400" i="0" u="none" strike="noStrike" baseline="0" dirty="0">
                <a:latin typeface="+mj-lt"/>
                <a:ea typeface="Calibri" panose="020F0502020204030204" pitchFamily="34" charset="0"/>
                <a:cs typeface="Calibri" panose="020F0502020204030204" pitchFamily="34" charset="0"/>
              </a:rPr>
              <a:t> for </a:t>
            </a:r>
            <a:r>
              <a:rPr lang="en-US" altLang="en-US" sz="6400" b="1" i="0" u="none" strike="noStrike" baseline="0" dirty="0">
                <a:latin typeface="+mj-lt"/>
                <a:ea typeface="Calibri" panose="020F0502020204030204" pitchFamily="34" charset="0"/>
                <a:cs typeface="Calibri" panose="020F0502020204030204" pitchFamily="34" charset="0"/>
              </a:rPr>
              <a:t>time-series spectrum occupancy prediction</a:t>
            </a:r>
            <a:r>
              <a:rPr lang="en-US" altLang="en-US" sz="6400" i="0" u="none" strike="noStrike" baseline="0" dirty="0">
                <a:latin typeface="+mj-lt"/>
                <a:ea typeface="Calibri" panose="020F0502020204030204" pitchFamily="34" charset="0"/>
                <a:cs typeface="Calibri" panose="020F0502020204030204" pitchFamily="34" charset="0"/>
              </a:rPr>
              <a:t> in </a:t>
            </a:r>
            <a:r>
              <a:rPr lang="en-US" altLang="en-US" sz="6400" b="1" i="0" u="none" strike="noStrike" baseline="0" dirty="0">
                <a:solidFill>
                  <a:srgbClr val="FF0000"/>
                </a:solidFill>
                <a:latin typeface="+mj-lt"/>
                <a:ea typeface="Calibri" panose="020F0502020204030204" pitchFamily="34" charset="0"/>
                <a:cs typeface="Calibri" panose="020F0502020204030204" pitchFamily="34" charset="0"/>
              </a:rPr>
              <a:t>Cognitive Radio Networks (CRNs)</a:t>
            </a:r>
            <a:r>
              <a:rPr lang="en-US" altLang="en-US" sz="6400" i="0" u="none" strike="noStrike" baseline="0" dirty="0">
                <a:latin typeface="+mj-lt"/>
                <a:ea typeface="Calibri" panose="020F0502020204030204" pitchFamily="34" charset="0"/>
                <a:cs typeface="Calibri" panose="020F0502020204030204" pitchFamily="34" charset="0"/>
              </a:rPr>
              <a:t> to improve dynamic spectrum utilization by allowing secondary users to access unused spectrum without causing interference to primary users.</a:t>
            </a:r>
            <a:endParaRPr lang="en-US" altLang="en-US" sz="6400" i="0" u="none" strike="noStrike" baseline="0" dirty="0">
              <a:latin typeface="+mj-lt"/>
              <a:ea typeface="Calibri" panose="020F0502020204030204" pitchFamily="34" charset="0"/>
              <a:cs typeface="Calibri" panose="020F0502020204030204" pitchFamily="34" charset="0"/>
            </a:endParaRPr>
          </a:p>
          <a:p>
            <a:pPr algn="just">
              <a:lnSpc>
                <a:spcPct val="170000"/>
              </a:lnSpc>
              <a:spcBef>
                <a:spcPts val="0"/>
              </a:spcBef>
            </a:pPr>
            <a:r>
              <a:rPr lang="en-US" altLang="en-US" sz="6400" dirty="0">
                <a:latin typeface="+mj-lt"/>
                <a:ea typeface="Calibri" panose="020F0502020204030204" pitchFamily="34" charset="0"/>
                <a:cs typeface="Calibri" panose="020F0502020204030204" pitchFamily="34" charset="0"/>
              </a:rPr>
              <a:t>The proposed system utilizes </a:t>
            </a:r>
            <a:r>
              <a:rPr lang="en-US" altLang="en-US" sz="6400" b="1" dirty="0">
                <a:latin typeface="+mj-lt"/>
                <a:ea typeface="Calibri" panose="020F0502020204030204" pitchFamily="34" charset="0"/>
                <a:cs typeface="Calibri" panose="020F0502020204030204" pitchFamily="34" charset="0"/>
              </a:rPr>
              <a:t>historical spectrum sensing data</a:t>
            </a:r>
            <a:r>
              <a:rPr lang="en-US" altLang="en-US" sz="6400" dirty="0">
                <a:latin typeface="+mj-lt"/>
                <a:ea typeface="Calibri" panose="020F0502020204030204" pitchFamily="34" charset="0"/>
                <a:cs typeface="Calibri" panose="020F0502020204030204" pitchFamily="34" charset="0"/>
              </a:rPr>
              <a:t> to learn </a:t>
            </a:r>
            <a:r>
              <a:rPr lang="en-US" altLang="en-US" sz="6400" b="1" dirty="0">
                <a:latin typeface="+mj-lt"/>
                <a:ea typeface="Calibri" panose="020F0502020204030204" pitchFamily="34" charset="0"/>
                <a:cs typeface="Calibri" panose="020F0502020204030204" pitchFamily="34" charset="0"/>
              </a:rPr>
              <a:t>temporal patterns of spectrum usage</a:t>
            </a:r>
            <a:r>
              <a:rPr lang="en-US" altLang="en-US" sz="6400" dirty="0">
                <a:latin typeface="+mj-lt"/>
                <a:ea typeface="Calibri" panose="020F0502020204030204" pitchFamily="34" charset="0"/>
                <a:cs typeface="Calibri" panose="020F0502020204030204" pitchFamily="34" charset="0"/>
              </a:rPr>
              <a:t>, where the dataset undergoes</a:t>
            </a:r>
            <a:r>
              <a:rPr lang="en-US" altLang="en-US" sz="6400" b="1" dirty="0">
                <a:latin typeface="+mj-lt"/>
                <a:ea typeface="Calibri" panose="020F0502020204030204" pitchFamily="34" charset="0"/>
                <a:cs typeface="Calibri" panose="020F0502020204030204" pitchFamily="34" charset="0"/>
              </a:rPr>
              <a:t> data preprocessing including cleaning, normalization, and handling of missing values</a:t>
            </a:r>
            <a:r>
              <a:rPr lang="en-US" altLang="en-US" sz="6400" dirty="0">
                <a:latin typeface="+mj-lt"/>
                <a:ea typeface="Calibri" panose="020F0502020204030204" pitchFamily="34" charset="0"/>
                <a:cs typeface="Calibri" panose="020F0502020204030204" pitchFamily="34" charset="0"/>
              </a:rPr>
              <a:t>, followed by </a:t>
            </a:r>
            <a:r>
              <a:rPr lang="en-US" altLang="en-US" sz="6400" b="1" dirty="0">
                <a:latin typeface="+mj-lt"/>
                <a:ea typeface="Calibri" panose="020F0502020204030204" pitchFamily="34" charset="0"/>
                <a:cs typeface="Calibri" panose="020F0502020204030204" pitchFamily="34" charset="0"/>
              </a:rPr>
              <a:t>feature extraction techniques</a:t>
            </a:r>
            <a:r>
              <a:rPr lang="en-US" altLang="en-US" sz="6400" dirty="0">
                <a:latin typeface="+mj-lt"/>
                <a:ea typeface="Calibri" panose="020F0502020204030204" pitchFamily="34" charset="0"/>
                <a:cs typeface="Calibri" panose="020F0502020204030204" pitchFamily="34" charset="0"/>
              </a:rPr>
              <a:t> to capture important characteristics of spectrum behavior.</a:t>
            </a:r>
            <a:endParaRPr lang="en-US" altLang="en-US" sz="6400" dirty="0">
              <a:latin typeface="+mj-lt"/>
              <a:ea typeface="Calibri" panose="020F0502020204030204" pitchFamily="34" charset="0"/>
              <a:cs typeface="Calibri" panose="020F0502020204030204" pitchFamily="34" charset="0"/>
            </a:endParaRPr>
          </a:p>
          <a:p>
            <a:pPr algn="just">
              <a:lnSpc>
                <a:spcPct val="170000"/>
              </a:lnSpc>
              <a:spcBef>
                <a:spcPts val="0"/>
              </a:spcBef>
            </a:pPr>
            <a:r>
              <a:rPr lang="en-US" altLang="en-US" sz="6400" b="1" dirty="0">
                <a:solidFill>
                  <a:srgbClr val="FF0000"/>
                </a:solidFill>
                <a:latin typeface="+mj-lt"/>
                <a:ea typeface="Calibri" panose="020F0502020204030204" pitchFamily="34" charset="0"/>
                <a:cs typeface="Calibri" panose="020F0502020204030204" pitchFamily="34" charset="0"/>
              </a:rPr>
              <a:t>The goal of the proposed system</a:t>
            </a:r>
            <a:r>
              <a:rPr lang="en-US" altLang="en-US" sz="6400" dirty="0">
                <a:latin typeface="+mj-lt"/>
                <a:ea typeface="Calibri" panose="020F0502020204030204" pitchFamily="34" charset="0"/>
                <a:cs typeface="Calibri" panose="020F0502020204030204" pitchFamily="34" charset="0"/>
              </a:rPr>
              <a:t> is to accurately predict</a:t>
            </a:r>
            <a:r>
              <a:rPr lang="en-US" altLang="en-US" sz="6400" b="1" dirty="0">
                <a:latin typeface="+mj-lt"/>
                <a:ea typeface="Calibri" panose="020F0502020204030204" pitchFamily="34" charset="0"/>
                <a:cs typeface="Calibri" panose="020F0502020204030204" pitchFamily="34" charset="0"/>
              </a:rPr>
              <a:t> future spectrum availability</a:t>
            </a:r>
            <a:r>
              <a:rPr lang="en-US" altLang="en-US" sz="6400" dirty="0">
                <a:latin typeface="+mj-lt"/>
                <a:ea typeface="Calibri" panose="020F0502020204030204" pitchFamily="34" charset="0"/>
                <a:cs typeface="Calibri" panose="020F0502020204030204" pitchFamily="34" charset="0"/>
              </a:rPr>
              <a:t>, enabling </a:t>
            </a:r>
            <a:r>
              <a:rPr lang="en-US" altLang="en-US" sz="6400" b="1" dirty="0">
                <a:latin typeface="+mj-lt"/>
                <a:ea typeface="Calibri" panose="020F0502020204030204" pitchFamily="34" charset="0"/>
                <a:cs typeface="Calibri" panose="020F0502020204030204" pitchFamily="34" charset="0"/>
              </a:rPr>
              <a:t>intelligent spectrum access decisions</a:t>
            </a:r>
            <a:r>
              <a:rPr lang="en-US" altLang="en-US" sz="6400" dirty="0">
                <a:latin typeface="+mj-lt"/>
                <a:ea typeface="Calibri" panose="020F0502020204030204" pitchFamily="34" charset="0"/>
                <a:cs typeface="Calibri" panose="020F0502020204030204" pitchFamily="34" charset="0"/>
              </a:rPr>
              <a:t>, improving</a:t>
            </a:r>
            <a:r>
              <a:rPr lang="en-US" altLang="en-US" sz="6400" b="1" dirty="0">
                <a:latin typeface="+mj-lt"/>
                <a:ea typeface="Calibri" panose="020F0502020204030204" pitchFamily="34" charset="0"/>
                <a:cs typeface="Calibri" panose="020F0502020204030204" pitchFamily="34" charset="0"/>
              </a:rPr>
              <a:t> dynamic spectrum management</a:t>
            </a:r>
            <a:r>
              <a:rPr lang="en-US" altLang="en-US" sz="6400" dirty="0">
                <a:latin typeface="+mj-lt"/>
                <a:ea typeface="Calibri" panose="020F0502020204030204" pitchFamily="34" charset="0"/>
                <a:cs typeface="Calibri" panose="020F0502020204030204" pitchFamily="34" charset="0"/>
              </a:rPr>
              <a:t>, and enhancing </a:t>
            </a:r>
            <a:r>
              <a:rPr lang="en-US" altLang="en-US" sz="6400" b="1" dirty="0">
                <a:latin typeface="+mj-lt"/>
                <a:ea typeface="Calibri" panose="020F0502020204030204" pitchFamily="34" charset="0"/>
                <a:cs typeface="Calibri" panose="020F0502020204030204" pitchFamily="34" charset="0"/>
              </a:rPr>
              <a:t>efficient utilization of wireless communication resources</a:t>
            </a:r>
            <a:r>
              <a:rPr lang="en-US" altLang="en-US" sz="6400" dirty="0">
                <a:latin typeface="+mj-lt"/>
                <a:ea typeface="Calibri" panose="020F0502020204030204" pitchFamily="34" charset="0"/>
                <a:cs typeface="Calibri" panose="020F0502020204030204" pitchFamily="34" charset="0"/>
              </a:rPr>
              <a:t> in next-generation networks.</a:t>
            </a:r>
            <a:endParaRPr lang="en-US" altLang="en-US" sz="6400" dirty="0">
              <a:latin typeface="+mj-lt"/>
              <a:ea typeface="Calibri" panose="020F0502020204030204" pitchFamily="34" charset="0"/>
              <a:cs typeface="Calibri" panose="020F0502020204030204" pitchFamily="34" charset="0"/>
            </a:endParaRPr>
          </a:p>
          <a:p>
            <a:pPr algn="just">
              <a:lnSpc>
                <a:spcPct val="120000"/>
              </a:lnSpc>
              <a:spcBef>
                <a:spcPts val="0"/>
              </a:spcBef>
              <a:buFont typeface="Wingdings" panose="05000000000000000000" pitchFamily="2" charset="2"/>
              <a:buChar char="v"/>
            </a:pPr>
            <a:endParaRPr lang="en-US" sz="4705" b="1" i="1" dirty="0">
              <a:solidFill>
                <a:srgbClr val="FF0000"/>
              </a:solidFill>
              <a:effectLst/>
              <a:latin typeface="+mj-lt"/>
              <a:ea typeface="Times New Roman" panose="02020603050405020304" pitchFamily="18" charset="0"/>
            </a:endParaRPr>
          </a:p>
          <a:p>
            <a:pPr algn="just">
              <a:lnSpc>
                <a:spcPct val="120000"/>
              </a:lnSpc>
              <a:spcBef>
                <a:spcPts val="0"/>
              </a:spcBef>
              <a:buFont typeface="Wingdings" panose="05000000000000000000" pitchFamily="2" charset="2"/>
              <a:buChar char="v"/>
            </a:pPr>
            <a:endParaRPr lang="en-US" sz="5600" b="1" i="1" dirty="0">
              <a:solidFill>
                <a:srgbClr val="FF0000"/>
              </a:solidFill>
              <a:effectLst/>
              <a:latin typeface="+mj-lt"/>
              <a:ea typeface="Times New Roman" panose="02020603050405020304" pitchFamily="18" charset="0"/>
            </a:endParaRPr>
          </a:p>
          <a:p>
            <a:pPr algn="just">
              <a:lnSpc>
                <a:spcPct val="120000"/>
              </a:lnSpc>
              <a:spcBef>
                <a:spcPts val="0"/>
              </a:spcBef>
              <a:buFont typeface="Wingdings" panose="05000000000000000000" pitchFamily="2" charset="2"/>
              <a:buChar char="v"/>
            </a:pPr>
            <a:r>
              <a:rPr lang="en-US" sz="5600" b="1" i="1" dirty="0">
                <a:solidFill>
                  <a:srgbClr val="FF0000"/>
                </a:solidFill>
                <a:effectLst/>
                <a:latin typeface="+mj-lt"/>
                <a:ea typeface="Times New Roman" panose="02020603050405020304" pitchFamily="18" charset="0"/>
              </a:rPr>
              <a:t>Keywords </a:t>
            </a:r>
            <a:r>
              <a:rPr lang="en-US" sz="5600" b="1" dirty="0">
                <a:solidFill>
                  <a:srgbClr val="FF0000"/>
                </a:solidFill>
                <a:effectLst/>
                <a:latin typeface="+mj-lt"/>
                <a:ea typeface="Times New Roman" panose="02020603050405020304" pitchFamily="18" charset="0"/>
              </a:rPr>
              <a:t>-</a:t>
            </a:r>
            <a:r>
              <a:rPr lang="en-US" sz="5600" b="1" i="1" dirty="0">
                <a:effectLst/>
                <a:latin typeface="+mj-lt"/>
                <a:ea typeface="Times New Roman" panose="02020603050405020304" pitchFamily="18" charset="0"/>
              </a:rPr>
              <a:t> </a:t>
            </a:r>
            <a:r>
              <a:rPr lang="en-US" altLang="en-US" sz="5600" b="1" dirty="0">
                <a:latin typeface="+mj-lt"/>
              </a:rPr>
              <a:t>Cognitive Radio Networks, Spectrum Prediction, Ensemble Learning, Time-Series Analysis, Machine Learning, Dynamic Spectrum Access</a:t>
            </a:r>
            <a:r>
              <a:rPr lang="en-IN" altLang="en-US" sz="5600" b="1" dirty="0">
                <a:latin typeface="+mj-lt"/>
              </a:rPr>
              <a:t>.</a:t>
            </a:r>
            <a:endParaRPr lang="en-IN" altLang="en-US" sz="5600" b="1" dirty="0">
              <a:latin typeface="+mj-lt"/>
            </a:endParaRPr>
          </a:p>
        </p:txBody>
      </p:sp>
      <p:pic>
        <p:nvPicPr>
          <p:cNvPr id="2" name="Picture 1"/>
          <p:cNvPicPr>
            <a:picLocks noChangeAspect="1"/>
          </p:cNvPicPr>
          <p:nvPr/>
        </p:nvPicPr>
        <p:blipFill>
          <a:blip r:embed="rId1"/>
          <a:stretch>
            <a:fillRect/>
          </a:stretch>
        </p:blipFill>
        <p:spPr>
          <a:xfrm>
            <a:off x="0" y="118540"/>
            <a:ext cx="9144000" cy="335840"/>
          </a:xfrm>
          <a:prstGeom prst="rect">
            <a:avLst/>
          </a:prstGeom>
        </p:spPr>
      </p:pic>
      <p:pic>
        <p:nvPicPr>
          <p:cNvPr id="3" name="Picture 2"/>
          <p:cNvPicPr>
            <a:picLocks noChangeAspect="1"/>
          </p:cNvPicPr>
          <p:nvPr/>
        </p:nvPicPr>
        <p:blipFill>
          <a:blip r:embed="rId1"/>
          <a:stretch>
            <a:fillRect/>
          </a:stretch>
        </p:blipFill>
        <p:spPr>
          <a:xfrm>
            <a:off x="107504" y="6521450"/>
            <a:ext cx="9144000" cy="335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620713"/>
            <a:ext cx="8362950" cy="509587"/>
          </a:xfrm>
        </p:spPr>
        <p:txBody>
          <a:bodyPr>
            <a:noAutofit/>
          </a:bodyPr>
          <a:lstStyle>
            <a:lvl1pPr algn="r">
              <a:defRPr>
                <a:solidFill>
                  <a:schemeClr val="accent2">
                    <a:lumMod val="50000"/>
                  </a:schemeClr>
                </a:solidFill>
              </a:defRPr>
            </a:lvl1pPr>
          </a:lstStyle>
          <a:p>
            <a:pPr algn="l"/>
            <a:r>
              <a:rPr lang="en-US" sz="3200" b="1" dirty="0"/>
              <a:t>I. Introduction </a:t>
            </a:r>
            <a:endParaRPr lang="en-IN" sz="3200" b="1" dirty="0"/>
          </a:p>
        </p:txBody>
      </p:sp>
      <p:sp>
        <p:nvSpPr>
          <p:cNvPr id="6" name="Text Placeholder 5"/>
          <p:cNvSpPr>
            <a:spLocks noGrp="1"/>
          </p:cNvSpPr>
          <p:nvPr>
            <p:ph type="body" sz="quarter" idx="4294967295"/>
          </p:nvPr>
        </p:nvSpPr>
        <p:spPr>
          <a:xfrm>
            <a:off x="179512" y="1079055"/>
            <a:ext cx="8569325" cy="5184775"/>
          </a:xfrm>
          <a:ln>
            <a:solidFill>
              <a:schemeClr val="tx1"/>
            </a:solidFill>
          </a:ln>
        </p:spPr>
        <p:txBody>
          <a:bodyPr>
            <a:normAutofit fontScale="87500" lnSpcReduction="20000"/>
          </a:bodyPr>
          <a:lstStyle/>
          <a:p>
            <a:pPr algn="just">
              <a:lnSpc>
                <a:spcPct val="170000"/>
              </a:lnSpc>
              <a:spcBef>
                <a:spcPts val="0"/>
              </a:spcBef>
              <a:buFont typeface="Wingdings" panose="05000000000000000000" pitchFamily="2" charset="2"/>
              <a:buChar char="Ø"/>
            </a:pPr>
            <a:r>
              <a:rPr lang="en-US" altLang="en-US" sz="2000" dirty="0">
                <a:latin typeface="+mj-lt"/>
                <a:cs typeface="+mj-lt"/>
              </a:rPr>
              <a:t> </a:t>
            </a:r>
            <a:r>
              <a:rPr lang="en-US" altLang="en-US" sz="2000" b="1" dirty="0">
                <a:latin typeface="+mj-lt"/>
                <a:cs typeface="+mj-lt"/>
              </a:rPr>
              <a:t>Rapid growth of wireless communication and cognitive radio technology </a:t>
            </a:r>
            <a:r>
              <a:rPr lang="en-US" altLang="en-US" sz="2000" dirty="0">
                <a:latin typeface="+mj-lt"/>
                <a:cs typeface="+mj-lt"/>
              </a:rPr>
              <a:t>has increased the demand for efficient spectrum utilization. However, wireless spectrum usage is </a:t>
            </a:r>
            <a:r>
              <a:rPr lang="en-US" altLang="en-US" sz="2000" dirty="0">
                <a:solidFill>
                  <a:srgbClr val="FF0000"/>
                </a:solidFill>
                <a:latin typeface="+mj-lt"/>
                <a:cs typeface="+mj-lt"/>
              </a:rPr>
              <a:t>highly dynamic and influenced by factors such as user behavior, environmental conditions, and network traffic patterns.</a:t>
            </a:r>
            <a:endParaRPr lang="en-US" altLang="en-US" sz="2000" dirty="0">
              <a:solidFill>
                <a:srgbClr val="FF0000"/>
              </a:solidFill>
              <a:latin typeface="+mj-lt"/>
              <a:cs typeface="+mj-lt"/>
            </a:endParaRPr>
          </a:p>
          <a:p>
            <a:pPr algn="just">
              <a:lnSpc>
                <a:spcPct val="170000"/>
              </a:lnSpc>
              <a:spcBef>
                <a:spcPts val="0"/>
              </a:spcBef>
              <a:buFont typeface="Wingdings" panose="05000000000000000000" pitchFamily="2" charset="2"/>
              <a:buChar char="Ø"/>
            </a:pPr>
            <a:endParaRPr lang="en-US" altLang="en-US" sz="2000" dirty="0">
              <a:latin typeface="+mj-lt"/>
              <a:cs typeface="+mj-lt"/>
            </a:endParaRPr>
          </a:p>
          <a:p>
            <a:pPr algn="just">
              <a:lnSpc>
                <a:spcPct val="170000"/>
              </a:lnSpc>
              <a:spcBef>
                <a:spcPts val="0"/>
              </a:spcBef>
              <a:buFont typeface="Wingdings" panose="05000000000000000000" pitchFamily="2" charset="2"/>
              <a:buChar char="Ø"/>
            </a:pPr>
            <a:r>
              <a:rPr lang="en-US" altLang="en-US" sz="2000" dirty="0">
                <a:latin typeface="+mj-lt"/>
                <a:cs typeface="+mj-lt"/>
              </a:rPr>
              <a:t> </a:t>
            </a:r>
            <a:r>
              <a:rPr lang="en-US" altLang="en-US" sz="2000" b="1" dirty="0">
                <a:latin typeface="+mj-lt"/>
                <a:cs typeface="+mj-lt"/>
              </a:rPr>
              <a:t>Traditional spectrum sensing techniques</a:t>
            </a:r>
            <a:r>
              <a:rPr lang="en-US" altLang="en-US" sz="2000" dirty="0">
                <a:latin typeface="+mj-lt"/>
                <a:cs typeface="+mj-lt"/>
              </a:rPr>
              <a:t> can detect current channel occupancy but are </a:t>
            </a:r>
            <a:r>
              <a:rPr lang="en-US" altLang="en-US" sz="2000" dirty="0">
                <a:solidFill>
                  <a:srgbClr val="FF0000"/>
                </a:solidFill>
                <a:latin typeface="+mj-lt"/>
                <a:cs typeface="+mj-lt"/>
              </a:rPr>
              <a:t>unable to predict future spectrum availability</a:t>
            </a:r>
            <a:r>
              <a:rPr lang="en-US" altLang="en-US" sz="2000" dirty="0">
                <a:latin typeface="+mj-lt"/>
                <a:cs typeface="+mj-lt"/>
              </a:rPr>
              <a:t>, which limits efficient spectrum utilization in cognitive radio networks.</a:t>
            </a:r>
            <a:endParaRPr lang="en-US" altLang="en-US" sz="2000" dirty="0">
              <a:latin typeface="+mj-lt"/>
              <a:cs typeface="+mj-lt"/>
            </a:endParaRPr>
          </a:p>
          <a:p>
            <a:pPr algn="just">
              <a:lnSpc>
                <a:spcPct val="170000"/>
              </a:lnSpc>
              <a:spcBef>
                <a:spcPts val="0"/>
              </a:spcBef>
              <a:buFont typeface="Wingdings" panose="05000000000000000000" pitchFamily="2" charset="2"/>
              <a:buChar char="Ø"/>
            </a:pPr>
            <a:endParaRPr lang="en-US" altLang="en-US" sz="2000" dirty="0">
              <a:latin typeface="+mj-lt"/>
              <a:cs typeface="+mj-lt"/>
            </a:endParaRPr>
          </a:p>
          <a:p>
            <a:pPr algn="just">
              <a:lnSpc>
                <a:spcPct val="170000"/>
              </a:lnSpc>
              <a:spcBef>
                <a:spcPts val="0"/>
              </a:spcBef>
              <a:buFont typeface="Wingdings" panose="05000000000000000000" pitchFamily="2" charset="2"/>
              <a:buChar char="Ø"/>
            </a:pPr>
            <a:r>
              <a:rPr lang="en-US" altLang="en-US" sz="2000" dirty="0">
                <a:latin typeface="+mj-lt"/>
                <a:cs typeface="+mj-lt"/>
              </a:rPr>
              <a:t> Therefore, developing an</a:t>
            </a:r>
            <a:r>
              <a:rPr lang="en-US" altLang="en-US" sz="2000" b="1" dirty="0">
                <a:latin typeface="+mj-lt"/>
                <a:cs typeface="+mj-lt"/>
              </a:rPr>
              <a:t> intelligent prediction mechanism </a:t>
            </a:r>
            <a:r>
              <a:rPr lang="en-US" altLang="en-US" sz="2000" dirty="0">
                <a:latin typeface="+mj-lt"/>
                <a:cs typeface="+mj-lt"/>
              </a:rPr>
              <a:t>that can analyze historical spectrum data and identify temporal patterns is essential for</a:t>
            </a:r>
            <a:r>
              <a:rPr lang="en-US" altLang="en-US" sz="2000" dirty="0">
                <a:solidFill>
                  <a:srgbClr val="FF0000"/>
                </a:solidFill>
                <a:latin typeface="+mj-lt"/>
                <a:cs typeface="+mj-lt"/>
              </a:rPr>
              <a:t> improving spectrum utilization and communication reliability.</a:t>
            </a:r>
            <a:endParaRPr lang="en-US" altLang="en-US" sz="2000" dirty="0">
              <a:solidFill>
                <a:srgbClr val="FF0000"/>
              </a:solidFill>
              <a:latin typeface="+mj-lt"/>
              <a:cs typeface="+mj-lt"/>
            </a:endParaRPr>
          </a:p>
          <a:p>
            <a:pPr algn="just">
              <a:lnSpc>
                <a:spcPct val="170000"/>
              </a:lnSpc>
              <a:spcBef>
                <a:spcPts val="0"/>
              </a:spcBef>
            </a:pPr>
            <a:endParaRPr lang="en-US" sz="2400" b="0" i="0" u="none" strike="noStrike" baseline="0" dirty="0">
              <a:solidFill>
                <a:schemeClr val="tx1"/>
              </a:solidFill>
              <a:latin typeface="+mj-lt"/>
              <a:ea typeface="Calibri" panose="020F0502020204030204" pitchFamily="34" charset="0"/>
              <a:cs typeface="Calibri" panose="020F0502020204030204" pitchFamily="34" charset="0"/>
            </a:endParaRPr>
          </a:p>
          <a:p>
            <a:pPr marL="0" indent="0" algn="just">
              <a:lnSpc>
                <a:spcPct val="170000"/>
              </a:lnSpc>
              <a:spcBef>
                <a:spcPts val="0"/>
              </a:spcBef>
              <a:buNone/>
            </a:pPr>
            <a:endParaRPr lang="en-US" sz="2100" dirty="0">
              <a:latin typeface="+mj-lt"/>
              <a:ea typeface="Calibri" panose="020F0502020204030204" pitchFamily="34" charset="0"/>
              <a:cs typeface="Calibri" panose="020F0502020204030204" pitchFamily="34" charset="0"/>
            </a:endParaRPr>
          </a:p>
          <a:p>
            <a:pPr algn="just">
              <a:lnSpc>
                <a:spcPct val="170000"/>
              </a:lnSpc>
              <a:spcBef>
                <a:spcPts val="0"/>
              </a:spcBef>
            </a:pPr>
            <a:endParaRPr lang="en-US" sz="1600" b="1" dirty="0">
              <a:latin typeface="+mj-lt"/>
              <a:ea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1"/>
          <a:stretch>
            <a:fillRect/>
          </a:stretch>
        </p:blipFill>
        <p:spPr>
          <a:xfrm>
            <a:off x="107504" y="140410"/>
            <a:ext cx="9144000" cy="335840"/>
          </a:xfrm>
          <a:prstGeom prst="rect">
            <a:avLst/>
          </a:prstGeom>
        </p:spPr>
      </p:pic>
      <p:pic>
        <p:nvPicPr>
          <p:cNvPr id="3" name="Picture 2"/>
          <p:cNvPicPr>
            <a:picLocks noChangeAspect="1"/>
          </p:cNvPicPr>
          <p:nvPr/>
        </p:nvPicPr>
        <p:blipFill>
          <a:blip r:embed="rId1"/>
          <a:stretch>
            <a:fillRect/>
          </a:stretch>
        </p:blipFill>
        <p:spPr>
          <a:xfrm>
            <a:off x="-14872" y="6503872"/>
            <a:ext cx="9144000" cy="335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620713"/>
            <a:ext cx="8362950" cy="509587"/>
          </a:xfrm>
        </p:spPr>
        <p:txBody>
          <a:bodyPr>
            <a:noAutofit/>
          </a:bodyPr>
          <a:lstStyle>
            <a:lvl1pPr algn="r">
              <a:defRPr>
                <a:solidFill>
                  <a:schemeClr val="accent2">
                    <a:lumMod val="50000"/>
                  </a:schemeClr>
                </a:solidFill>
              </a:defRPr>
            </a:lvl1pPr>
          </a:lstStyle>
          <a:p>
            <a:pPr algn="l"/>
            <a:r>
              <a:rPr lang="en-US" sz="3200" b="1" dirty="0"/>
              <a:t>I. Introduction</a:t>
            </a:r>
            <a:r>
              <a:rPr lang="en-US" sz="3200" b="1" dirty="0">
                <a:sym typeface="+mn-ea"/>
              </a:rPr>
              <a:t>(Contd.,)</a:t>
            </a:r>
            <a:endParaRPr lang="en-IN" sz="3200" b="1" dirty="0"/>
          </a:p>
        </p:txBody>
      </p:sp>
      <p:sp>
        <p:nvSpPr>
          <p:cNvPr id="6" name="Text Placeholder 5"/>
          <p:cNvSpPr>
            <a:spLocks noGrp="1"/>
          </p:cNvSpPr>
          <p:nvPr>
            <p:ph type="body" sz="quarter" idx="4294967295"/>
          </p:nvPr>
        </p:nvSpPr>
        <p:spPr>
          <a:xfrm>
            <a:off x="0" y="1196975"/>
            <a:ext cx="8569325" cy="5184775"/>
          </a:xfrm>
          <a:ln>
            <a:solidFill>
              <a:schemeClr val="tx1"/>
            </a:solidFill>
          </a:ln>
        </p:spPr>
        <p:txBody>
          <a:bodyPr>
            <a:normAutofit fontScale="92500" lnSpcReduction="20000"/>
          </a:bodyPr>
          <a:lstStyle/>
          <a:p>
            <a:pPr algn="just">
              <a:lnSpc>
                <a:spcPct val="170000"/>
              </a:lnSpc>
              <a:spcBef>
                <a:spcPts val="0"/>
              </a:spcBef>
              <a:buFont typeface="Wingdings" panose="05000000000000000000" pitchFamily="2" charset="2"/>
              <a:buChar char="Ø"/>
            </a:pPr>
            <a:r>
              <a:rPr lang="en-US" altLang="en-US" sz="2000" dirty="0">
                <a:latin typeface="Calibri" panose="020F0502020204030204" pitchFamily="34" charset="0"/>
                <a:cs typeface="Calibri" panose="020F0502020204030204" pitchFamily="34" charset="0"/>
              </a:rPr>
              <a:t> In </a:t>
            </a:r>
            <a:r>
              <a:rPr lang="en-US" altLang="en-US" sz="2000" b="1" dirty="0">
                <a:solidFill>
                  <a:srgbClr val="FF0000"/>
                </a:solidFill>
                <a:latin typeface="Calibri" panose="020F0502020204030204" pitchFamily="34" charset="0"/>
                <a:cs typeface="Calibri" panose="020F0502020204030204" pitchFamily="34" charset="0"/>
              </a:rPr>
              <a:t>cognitive radio networks</a:t>
            </a:r>
            <a:r>
              <a:rPr lang="en-US" altLang="en-US" sz="2000" dirty="0">
                <a:latin typeface="Calibri" panose="020F0502020204030204" pitchFamily="34" charset="0"/>
                <a:cs typeface="Calibri" panose="020F0502020204030204" pitchFamily="34" charset="0"/>
              </a:rPr>
              <a:t>, accurate prediction of spectrum availability is a challenging task due to dynamic spectrum usage and complex time-series patterns.</a:t>
            </a:r>
            <a:endParaRPr lang="en-US" altLang="en-US" sz="2000" dirty="0">
              <a:latin typeface="Calibri" panose="020F0502020204030204" pitchFamily="34" charset="0"/>
              <a:cs typeface="Calibri" panose="020F0502020204030204" pitchFamily="34" charset="0"/>
            </a:endParaRPr>
          </a:p>
          <a:p>
            <a:pPr algn="just">
              <a:lnSpc>
                <a:spcPct val="170000"/>
              </a:lnSpc>
              <a:spcBef>
                <a:spcPts val="0"/>
              </a:spcBef>
              <a:buFont typeface="Wingdings" panose="05000000000000000000" pitchFamily="2" charset="2"/>
              <a:buChar char="Ø"/>
            </a:pPr>
            <a:endParaRPr lang="en-US" altLang="en-US" sz="2000" dirty="0">
              <a:latin typeface="Calibri" panose="020F0502020204030204" pitchFamily="34" charset="0"/>
              <a:cs typeface="Calibri" panose="020F0502020204030204" pitchFamily="34" charset="0"/>
            </a:endParaRPr>
          </a:p>
          <a:p>
            <a:pPr algn="just">
              <a:lnSpc>
                <a:spcPct val="170000"/>
              </a:lnSpc>
              <a:spcBef>
                <a:spcPts val="0"/>
              </a:spcBef>
              <a:buFont typeface="Wingdings" panose="05000000000000000000" pitchFamily="2" charset="2"/>
              <a:buChar char="Ø"/>
            </a:pPr>
            <a:r>
              <a:rPr lang="en-US" altLang="en-US" sz="2000" dirty="0">
                <a:latin typeface="Calibri" panose="020F0502020204030204" pitchFamily="34" charset="0"/>
                <a:cs typeface="Calibri" panose="020F0502020204030204" pitchFamily="34" charset="0"/>
              </a:rPr>
              <a:t>Many existing machine learning approaches rely on</a:t>
            </a:r>
            <a:r>
              <a:rPr lang="en-US" altLang="en-US" sz="2000" b="1" dirty="0">
                <a:latin typeface="Calibri" panose="020F0502020204030204" pitchFamily="34" charset="0"/>
                <a:cs typeface="Calibri" panose="020F0502020204030204" pitchFamily="34" charset="0"/>
              </a:rPr>
              <a:t> single predictive models</a:t>
            </a:r>
            <a:r>
              <a:rPr lang="en-US" altLang="en-US" sz="2000" dirty="0">
                <a:latin typeface="Calibri" panose="020F0502020204030204" pitchFamily="34" charset="0"/>
                <a:cs typeface="Calibri" panose="020F0502020204030204" pitchFamily="34" charset="0"/>
              </a:rPr>
              <a:t>, which often fail to provide reliable predictions under varying conditions or noisy datasets.</a:t>
            </a:r>
            <a:endParaRPr lang="en-US" altLang="en-US" sz="2000" dirty="0">
              <a:latin typeface="Calibri" panose="020F0502020204030204" pitchFamily="34" charset="0"/>
              <a:cs typeface="Calibri" panose="020F0502020204030204" pitchFamily="34" charset="0"/>
            </a:endParaRPr>
          </a:p>
          <a:p>
            <a:pPr algn="just">
              <a:lnSpc>
                <a:spcPct val="170000"/>
              </a:lnSpc>
              <a:spcBef>
                <a:spcPts val="0"/>
              </a:spcBef>
              <a:buFont typeface="Wingdings" panose="05000000000000000000" pitchFamily="2" charset="2"/>
              <a:buChar char="Ø"/>
            </a:pPr>
            <a:endParaRPr lang="en-US" altLang="en-US" sz="2000" dirty="0">
              <a:latin typeface="Calibri" panose="020F0502020204030204" pitchFamily="34" charset="0"/>
              <a:cs typeface="Calibri" panose="020F0502020204030204" pitchFamily="34" charset="0"/>
            </a:endParaRPr>
          </a:p>
          <a:p>
            <a:pPr algn="just">
              <a:lnSpc>
                <a:spcPct val="170000"/>
              </a:lnSpc>
              <a:spcBef>
                <a:spcPts val="0"/>
              </a:spcBef>
              <a:buFont typeface="Wingdings" panose="05000000000000000000" pitchFamily="2" charset="2"/>
              <a:buChar char="Ø"/>
            </a:pPr>
            <a:r>
              <a:rPr lang="en-US" altLang="en-US" sz="2000" dirty="0">
                <a:latin typeface="Calibri" panose="020F0502020204030204" pitchFamily="34" charset="0"/>
                <a:cs typeface="Calibri" panose="020F0502020204030204" pitchFamily="34" charset="0"/>
              </a:rPr>
              <a:t> This work aims to develop an </a:t>
            </a:r>
            <a:r>
              <a:rPr lang="en-US" altLang="en-US" sz="2000" b="1" dirty="0">
                <a:latin typeface="Calibri" panose="020F0502020204030204" pitchFamily="34" charset="0"/>
                <a:cs typeface="Calibri" panose="020F0502020204030204" pitchFamily="34" charset="0"/>
              </a:rPr>
              <a:t>adaptive ensemble machine learning framework </a:t>
            </a:r>
            <a:r>
              <a:rPr lang="en-US" altLang="en-US" sz="2000" dirty="0">
                <a:latin typeface="Calibri" panose="020F0502020204030204" pitchFamily="34" charset="0"/>
                <a:cs typeface="Calibri" panose="020F0502020204030204" pitchFamily="34" charset="0"/>
              </a:rPr>
              <a:t>that combines multiple models to</a:t>
            </a:r>
            <a:r>
              <a:rPr lang="en-US" altLang="en-US" sz="2000" b="1" dirty="0">
                <a:solidFill>
                  <a:srgbClr val="FF0000"/>
                </a:solidFill>
                <a:latin typeface="Calibri" panose="020F0502020204030204" pitchFamily="34" charset="0"/>
                <a:cs typeface="Calibri" panose="020F0502020204030204" pitchFamily="34" charset="0"/>
              </a:rPr>
              <a:t> improve prediction accuracy and reliability of spectrum availability.</a:t>
            </a:r>
            <a:endParaRPr lang="en-US" altLang="en-US" sz="2000" b="1" dirty="0">
              <a:solidFill>
                <a:srgbClr val="FF0000"/>
              </a:solidFill>
              <a:latin typeface="Calibri" panose="020F0502020204030204" pitchFamily="34" charset="0"/>
              <a:cs typeface="Calibri" panose="020F0502020204030204" pitchFamily="34" charset="0"/>
            </a:endParaRPr>
          </a:p>
          <a:p>
            <a:pPr algn="just">
              <a:lnSpc>
                <a:spcPct val="170000"/>
              </a:lnSpc>
              <a:spcBef>
                <a:spcPts val="0"/>
              </a:spcBef>
            </a:pPr>
            <a:endParaRPr lang="en-US" sz="2400" b="0" i="0" u="none" strike="noStrike" baseline="0" dirty="0">
              <a:solidFill>
                <a:schemeClr val="tx1"/>
              </a:solidFill>
              <a:latin typeface="+mj-lt"/>
              <a:ea typeface="Calibri" panose="020F0502020204030204" pitchFamily="34" charset="0"/>
              <a:cs typeface="Calibri" panose="020F0502020204030204" pitchFamily="34" charset="0"/>
            </a:endParaRPr>
          </a:p>
          <a:p>
            <a:pPr marL="0" indent="0" algn="just">
              <a:lnSpc>
                <a:spcPct val="170000"/>
              </a:lnSpc>
              <a:spcBef>
                <a:spcPts val="0"/>
              </a:spcBef>
              <a:buNone/>
            </a:pPr>
            <a:endParaRPr lang="en-US" sz="2100" dirty="0">
              <a:latin typeface="+mj-lt"/>
              <a:ea typeface="Calibri" panose="020F0502020204030204" pitchFamily="34" charset="0"/>
              <a:cs typeface="Calibri" panose="020F0502020204030204" pitchFamily="34" charset="0"/>
            </a:endParaRPr>
          </a:p>
          <a:p>
            <a:pPr algn="just">
              <a:lnSpc>
                <a:spcPct val="170000"/>
              </a:lnSpc>
              <a:spcBef>
                <a:spcPts val="0"/>
              </a:spcBef>
            </a:pPr>
            <a:endParaRPr lang="en-US" sz="1600" b="1" dirty="0">
              <a:latin typeface="+mj-lt"/>
              <a:ea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1"/>
          <a:stretch>
            <a:fillRect/>
          </a:stretch>
        </p:blipFill>
        <p:spPr>
          <a:xfrm>
            <a:off x="0" y="83616"/>
            <a:ext cx="9144000" cy="335840"/>
          </a:xfrm>
          <a:prstGeom prst="rect">
            <a:avLst/>
          </a:prstGeom>
        </p:spPr>
      </p:pic>
      <p:pic>
        <p:nvPicPr>
          <p:cNvPr id="3" name="Picture 2"/>
          <p:cNvPicPr>
            <a:picLocks noChangeAspect="1"/>
          </p:cNvPicPr>
          <p:nvPr/>
        </p:nvPicPr>
        <p:blipFill>
          <a:blip r:embed="rId1"/>
          <a:stretch>
            <a:fillRect/>
          </a:stretch>
        </p:blipFill>
        <p:spPr>
          <a:xfrm>
            <a:off x="27416" y="6522160"/>
            <a:ext cx="9144000" cy="335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395605" y="692785"/>
            <a:ext cx="8734425" cy="509588"/>
          </a:xfrm>
        </p:spPr>
        <p:txBody>
          <a:bodyPr>
            <a:noAutofit/>
          </a:bodyPr>
          <a:lstStyle>
            <a:lvl1pPr algn="r">
              <a:defRPr>
                <a:solidFill>
                  <a:schemeClr val="accent2">
                    <a:lumMod val="50000"/>
                  </a:schemeClr>
                </a:solidFill>
              </a:defRPr>
            </a:lvl1pPr>
          </a:lstStyle>
          <a:p>
            <a:pPr algn="ctr"/>
            <a:r>
              <a:rPr lang="en-US" altLang="en-US" sz="2800" b="1" dirty="0"/>
              <a:t>Problem Statement and Objectives of Spectrum Prediction</a:t>
            </a:r>
            <a:endParaRPr lang="en-US" altLang="en-US" sz="2800" b="1" dirty="0"/>
          </a:p>
        </p:txBody>
      </p:sp>
      <p:sp>
        <p:nvSpPr>
          <p:cNvPr id="6" name="Text Placeholder 5"/>
          <p:cNvSpPr>
            <a:spLocks noGrp="1"/>
          </p:cNvSpPr>
          <p:nvPr>
            <p:ph type="body" sz="quarter" idx="4294967295"/>
          </p:nvPr>
        </p:nvSpPr>
        <p:spPr>
          <a:xfrm>
            <a:off x="287337" y="1341438"/>
            <a:ext cx="8569325" cy="5040312"/>
          </a:xfrm>
          <a:ln>
            <a:solidFill>
              <a:schemeClr val="tx1"/>
            </a:solidFill>
          </a:ln>
        </p:spPr>
        <p:txBody>
          <a:bodyPr>
            <a:normAutofit/>
          </a:bodyPr>
          <a:lstStyle/>
          <a:p>
            <a:pPr algn="just">
              <a:lnSpc>
                <a:spcPct val="120000"/>
              </a:lnSpc>
              <a:spcBef>
                <a:spcPts val="0"/>
              </a:spcBef>
              <a:buFont typeface="Wingdings" panose="05000000000000000000" pitchFamily="2" charset="2"/>
              <a:buChar char="Ø"/>
            </a:pPr>
            <a:r>
              <a:rPr lang="en-US" sz="2400" dirty="0">
                <a:latin typeface="+mj-lt"/>
                <a:ea typeface="Calibri" panose="020F0502020204030204" pitchFamily="34" charset="0"/>
                <a:cs typeface="Calibri" panose="020F0502020204030204" pitchFamily="34" charset="0"/>
              </a:rPr>
              <a:t>Wireless spectrum resources are limited but often underutilized due to </a:t>
            </a:r>
            <a:r>
              <a:rPr lang="en-US" sz="2400" b="1" dirty="0">
                <a:solidFill>
                  <a:srgbClr val="FF0000"/>
                </a:solidFill>
                <a:latin typeface="+mj-lt"/>
                <a:ea typeface="Calibri" panose="020F0502020204030204" pitchFamily="34" charset="0"/>
                <a:cs typeface="Calibri" panose="020F0502020204030204" pitchFamily="34" charset="0"/>
              </a:rPr>
              <a:t>static spectrum allocation.</a:t>
            </a:r>
            <a:endParaRPr lang="en-US" sz="2400" dirty="0">
              <a:latin typeface="+mj-lt"/>
              <a:ea typeface="Calibri" panose="020F0502020204030204" pitchFamily="34" charset="0"/>
              <a:cs typeface="Calibri" panose="020F0502020204030204" pitchFamily="34" charset="0"/>
            </a:endParaRPr>
          </a:p>
          <a:p>
            <a:pPr algn="just">
              <a:lnSpc>
                <a:spcPct val="120000"/>
              </a:lnSpc>
              <a:spcBef>
                <a:spcPts val="0"/>
              </a:spcBef>
              <a:buFont typeface="Wingdings" panose="05000000000000000000" pitchFamily="2" charset="2"/>
              <a:buChar char="Ø"/>
            </a:pPr>
            <a:r>
              <a:rPr lang="en-US" sz="2400" b="1" dirty="0">
                <a:latin typeface="+mj-lt"/>
                <a:ea typeface="Calibri" panose="020F0502020204030204" pitchFamily="34" charset="0"/>
                <a:cs typeface="Calibri" panose="020F0502020204030204" pitchFamily="34" charset="0"/>
              </a:rPr>
              <a:t>Traditional spectrum sensing methods can only detect current channel occupancy</a:t>
            </a:r>
            <a:r>
              <a:rPr lang="en-US" sz="2400" dirty="0">
                <a:latin typeface="+mj-lt"/>
                <a:ea typeface="Calibri" panose="020F0502020204030204" pitchFamily="34" charset="0"/>
                <a:cs typeface="Calibri" panose="020F0502020204030204" pitchFamily="34" charset="0"/>
              </a:rPr>
              <a:t> and </a:t>
            </a:r>
            <a:r>
              <a:rPr lang="en-US" sz="2400" dirty="0">
                <a:solidFill>
                  <a:srgbClr val="FF0000"/>
                </a:solidFill>
                <a:latin typeface="+mj-lt"/>
                <a:ea typeface="Calibri" panose="020F0502020204030204" pitchFamily="34" charset="0"/>
                <a:cs typeface="Calibri" panose="020F0502020204030204" pitchFamily="34" charset="0"/>
              </a:rPr>
              <a:t>cannot predict future spectrum availability.</a:t>
            </a:r>
            <a:endParaRPr lang="en-US" sz="2400" dirty="0">
              <a:solidFill>
                <a:srgbClr val="FF0000"/>
              </a:solidFill>
              <a:latin typeface="+mj-lt"/>
              <a:ea typeface="Calibri" panose="020F0502020204030204" pitchFamily="34" charset="0"/>
              <a:cs typeface="Calibri" panose="020F0502020204030204" pitchFamily="34" charset="0"/>
            </a:endParaRPr>
          </a:p>
          <a:p>
            <a:pPr algn="just">
              <a:lnSpc>
                <a:spcPct val="120000"/>
              </a:lnSpc>
              <a:spcBef>
                <a:spcPts val="0"/>
              </a:spcBef>
              <a:buFont typeface="Wingdings" panose="05000000000000000000" pitchFamily="2" charset="2"/>
              <a:buChar char="Ø"/>
            </a:pPr>
            <a:r>
              <a:rPr lang="en-US" sz="2400" b="1" dirty="0">
                <a:solidFill>
                  <a:srgbClr val="FF0000"/>
                </a:solidFill>
                <a:latin typeface="+mj-lt"/>
                <a:ea typeface="Calibri" panose="020F0502020204030204" pitchFamily="34" charset="0"/>
                <a:cs typeface="Calibri" panose="020F0502020204030204" pitchFamily="34" charset="0"/>
              </a:rPr>
              <a:t>Single machine learning models may not perform well in dynamic spectrum environments.</a:t>
            </a:r>
            <a:endParaRPr lang="en-US" sz="2400" dirty="0">
              <a:latin typeface="+mj-lt"/>
              <a:ea typeface="Calibri" panose="020F0502020204030204" pitchFamily="34" charset="0"/>
              <a:cs typeface="Calibri" panose="020F0502020204030204" pitchFamily="34" charset="0"/>
            </a:endParaRPr>
          </a:p>
          <a:p>
            <a:pPr algn="just">
              <a:lnSpc>
                <a:spcPct val="120000"/>
              </a:lnSpc>
              <a:spcBef>
                <a:spcPts val="0"/>
              </a:spcBef>
              <a:buFont typeface="Wingdings" panose="05000000000000000000" pitchFamily="2" charset="2"/>
              <a:buChar char="Ø"/>
            </a:pPr>
            <a:r>
              <a:rPr lang="en-US" sz="2400" dirty="0">
                <a:latin typeface="+mj-lt"/>
                <a:ea typeface="Calibri" panose="020F0502020204030204" pitchFamily="34" charset="0"/>
                <a:cs typeface="Calibri" panose="020F0502020204030204" pitchFamily="34" charset="0"/>
              </a:rPr>
              <a:t>Therefore, </a:t>
            </a:r>
            <a:r>
              <a:rPr lang="en-US" sz="2400" b="1" dirty="0">
                <a:latin typeface="+mj-lt"/>
                <a:ea typeface="Calibri" panose="020F0502020204030204" pitchFamily="34" charset="0"/>
                <a:cs typeface="Calibri" panose="020F0502020204030204" pitchFamily="34" charset="0"/>
              </a:rPr>
              <a:t>an adaptive ensemble machine learning framework</a:t>
            </a:r>
            <a:r>
              <a:rPr lang="en-US" sz="2400" dirty="0">
                <a:latin typeface="+mj-lt"/>
                <a:ea typeface="Calibri" panose="020F0502020204030204" pitchFamily="34" charset="0"/>
                <a:cs typeface="Calibri" panose="020F0502020204030204" pitchFamily="34" charset="0"/>
              </a:rPr>
              <a:t> is proposed to improve spectrum </a:t>
            </a:r>
            <a:r>
              <a:rPr lang="en-US" sz="2400" dirty="0">
                <a:solidFill>
                  <a:srgbClr val="FF0000"/>
                </a:solidFill>
                <a:highlight>
                  <a:srgbClr val="FFFF00"/>
                </a:highlight>
                <a:latin typeface="+mj-lt"/>
                <a:ea typeface="Calibri" panose="020F0502020204030204" pitchFamily="34" charset="0"/>
                <a:cs typeface="Calibri" panose="020F0502020204030204" pitchFamily="34" charset="0"/>
              </a:rPr>
              <a:t>occupancy prediction accuracy.</a:t>
            </a:r>
            <a:endParaRPr lang="en-US" sz="2400" i="0" u="none" strike="noStrike" baseline="0" dirty="0">
              <a:solidFill>
                <a:srgbClr val="FF0000"/>
              </a:solidFill>
              <a:highlight>
                <a:srgbClr val="FFFF00"/>
              </a:highlight>
              <a:latin typeface="+mj-lt"/>
              <a:ea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1"/>
          <a:stretch>
            <a:fillRect/>
          </a:stretch>
        </p:blipFill>
        <p:spPr>
          <a:xfrm>
            <a:off x="0" y="119493"/>
            <a:ext cx="9144000" cy="335840"/>
          </a:xfrm>
          <a:prstGeom prst="rect">
            <a:avLst/>
          </a:prstGeom>
        </p:spPr>
      </p:pic>
      <p:pic>
        <p:nvPicPr>
          <p:cNvPr id="3" name="Picture 2"/>
          <p:cNvPicPr>
            <a:picLocks noChangeAspect="1"/>
          </p:cNvPicPr>
          <p:nvPr/>
        </p:nvPicPr>
        <p:blipFill>
          <a:blip r:embed="rId1"/>
          <a:stretch>
            <a:fillRect/>
          </a:stretch>
        </p:blipFill>
        <p:spPr>
          <a:xfrm>
            <a:off x="-13970" y="6520815"/>
            <a:ext cx="9144000" cy="335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409575" y="692150"/>
            <a:ext cx="8734425" cy="509588"/>
          </a:xfrm>
        </p:spPr>
        <p:txBody>
          <a:bodyPr>
            <a:noAutofit/>
          </a:bodyPr>
          <a:lstStyle>
            <a:lvl1pPr algn="r">
              <a:defRPr>
                <a:solidFill>
                  <a:schemeClr val="accent2">
                    <a:lumMod val="50000"/>
                  </a:schemeClr>
                </a:solidFill>
              </a:defRPr>
            </a:lvl1pPr>
          </a:lstStyle>
          <a:p>
            <a:pPr algn="ctr"/>
            <a:r>
              <a:rPr lang="en-US" sz="3200" b="1" dirty="0">
                <a:solidFill>
                  <a:srgbClr val="673322"/>
                </a:solidFill>
                <a:ea typeface="Calibri" panose="020F0502020204030204" pitchFamily="34" charset="0"/>
                <a:cs typeface="Calibri" panose="020F0502020204030204" pitchFamily="34" charset="0"/>
                <a:sym typeface="+mn-ea"/>
              </a:rPr>
              <a:t>Key </a:t>
            </a:r>
            <a:r>
              <a:rPr lang="en-US" altLang="en-US" sz="3200" b="1" dirty="0">
                <a:solidFill>
                  <a:srgbClr val="673322"/>
                </a:solidFill>
                <a:ea typeface="Calibri" panose="020F0502020204030204" pitchFamily="34" charset="0"/>
                <a:cs typeface="Calibri" panose="020F0502020204030204" pitchFamily="34" charset="0"/>
                <a:sym typeface="+mn-ea"/>
              </a:rPr>
              <a:t>Contributions of the Project</a:t>
            </a:r>
            <a:endParaRPr lang="en-US" altLang="en-US" sz="3200" b="1" dirty="0">
              <a:solidFill>
                <a:srgbClr val="673322"/>
              </a:solidFill>
              <a:ea typeface="Calibri" panose="020F0502020204030204" pitchFamily="34" charset="0"/>
              <a:cs typeface="Calibri" panose="020F0502020204030204" pitchFamily="34" charset="0"/>
              <a:sym typeface="+mn-ea"/>
            </a:endParaRPr>
          </a:p>
        </p:txBody>
      </p:sp>
      <p:sp>
        <p:nvSpPr>
          <p:cNvPr id="6" name="Text Placeholder 5"/>
          <p:cNvSpPr>
            <a:spLocks noGrp="1"/>
          </p:cNvSpPr>
          <p:nvPr>
            <p:ph type="body" sz="quarter" idx="4294967295"/>
          </p:nvPr>
        </p:nvSpPr>
        <p:spPr>
          <a:xfrm>
            <a:off x="1" y="1341755"/>
            <a:ext cx="8964488" cy="4824095"/>
          </a:xfrm>
          <a:ln>
            <a:solidFill>
              <a:schemeClr val="tx1"/>
            </a:solidFill>
          </a:ln>
        </p:spPr>
        <p:txBody>
          <a:bodyPr>
            <a:normAutofit fontScale="50000" lnSpcReduction="20000"/>
          </a:bodyPr>
          <a:lstStyle/>
          <a:p>
            <a:pPr marL="0" indent="0" algn="just">
              <a:lnSpc>
                <a:spcPct val="120000"/>
              </a:lnSpc>
              <a:spcBef>
                <a:spcPts val="0"/>
              </a:spcBef>
              <a:buNone/>
            </a:pPr>
            <a:endParaRPr lang="en-US" sz="1600" b="1" i="0" u="none" strike="noStrike" baseline="0" dirty="0">
              <a:latin typeface="+mj-lt"/>
              <a:ea typeface="Calibri" panose="020F0502020204030204" pitchFamily="34" charset="0"/>
              <a:cs typeface="Calibri" panose="020F0502020204030204" pitchFamily="34" charset="0"/>
            </a:endParaRPr>
          </a:p>
          <a:p>
            <a:pPr marL="457200" indent="-457200" algn="just">
              <a:lnSpc>
                <a:spcPct val="170000"/>
              </a:lnSpc>
              <a:spcBef>
                <a:spcPts val="0"/>
              </a:spcBef>
              <a:buFont typeface="Wingdings" panose="05000000000000000000" pitchFamily="2" charset="2"/>
              <a:buAutoNum type="arabicPeriod"/>
            </a:pPr>
            <a:r>
              <a:rPr lang="en-US" altLang="en-US" sz="4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The proposed system develops an adaptive ensemble machine learning framework for accurate spectrum occupancy prediction in cognitive radio networks.</a:t>
            </a:r>
            <a:endParaRPr lang="en-US" altLang="en-US" sz="400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457200" indent="-457200" algn="just">
              <a:lnSpc>
                <a:spcPct val="170000"/>
              </a:lnSpc>
              <a:spcBef>
                <a:spcPts val="0"/>
              </a:spcBef>
              <a:buFont typeface="Wingdings" panose="05000000000000000000" pitchFamily="2" charset="2"/>
              <a:buAutoNum type="arabicPeriod"/>
            </a:pPr>
            <a:endParaRPr lang="en-US" altLang="en-US" sz="400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457200" indent="-457200" algn="just">
              <a:lnSpc>
                <a:spcPct val="170000"/>
              </a:lnSpc>
              <a:spcBef>
                <a:spcPts val="0"/>
              </a:spcBef>
              <a:buFont typeface="Wingdings" panose="05000000000000000000" pitchFamily="2" charset="2"/>
              <a:buAutoNum type="arabicPeriod"/>
            </a:pPr>
            <a:r>
              <a:rPr lang="en-US" altLang="en-US" sz="4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Multiple machine learning models are integrated to capture complex temporal patterns and improve the prediction accuracy and reliability.</a:t>
            </a:r>
            <a:endParaRPr lang="en-US" altLang="en-US" sz="400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457200" indent="-457200" algn="just">
              <a:lnSpc>
                <a:spcPct val="170000"/>
              </a:lnSpc>
              <a:spcBef>
                <a:spcPts val="0"/>
              </a:spcBef>
              <a:buFont typeface="Wingdings" panose="05000000000000000000" pitchFamily="2" charset="2"/>
              <a:buAutoNum type="arabicPeriod"/>
            </a:pPr>
            <a:endParaRPr lang="en-US" altLang="en-US" sz="400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457200" indent="-457200" algn="just">
              <a:lnSpc>
                <a:spcPct val="170000"/>
              </a:lnSpc>
              <a:spcBef>
                <a:spcPts val="0"/>
              </a:spcBef>
              <a:buFont typeface="Wingdings" panose="05000000000000000000" pitchFamily="2" charset="2"/>
              <a:buAutoNum type="arabicPeriod"/>
            </a:pPr>
            <a:r>
              <a:rPr lang="en-US" altLang="en-US" sz="4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The system is implemented in a cloud-based environment and evaluated using standard performance metrics to validate the effectiveness of the proposed model.</a:t>
            </a:r>
            <a:endParaRPr lang="en-US" altLang="en-US" sz="4000"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algn="just">
              <a:lnSpc>
                <a:spcPct val="170000"/>
              </a:lnSpc>
              <a:spcBef>
                <a:spcPts val="0"/>
              </a:spcBef>
            </a:pPr>
            <a:endParaRPr lang="en-US" sz="2400" b="0" i="0" u="none" strike="noStrike" baseline="0" dirty="0">
              <a:solidFill>
                <a:schemeClr val="tx1"/>
              </a:solidFill>
              <a:latin typeface="+mj-lt"/>
              <a:ea typeface="Calibri" panose="020F0502020204030204" pitchFamily="34" charset="0"/>
              <a:cs typeface="Calibri" panose="020F0502020204030204" pitchFamily="34" charset="0"/>
            </a:endParaRPr>
          </a:p>
          <a:p>
            <a:pPr marL="0" indent="0" algn="just">
              <a:lnSpc>
                <a:spcPct val="170000"/>
              </a:lnSpc>
              <a:spcBef>
                <a:spcPts val="0"/>
              </a:spcBef>
              <a:buNone/>
            </a:pPr>
            <a:endParaRPr lang="en-US" sz="2100" dirty="0">
              <a:latin typeface="+mj-lt"/>
              <a:ea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1"/>
          <a:stretch>
            <a:fillRect/>
          </a:stretch>
        </p:blipFill>
        <p:spPr>
          <a:xfrm>
            <a:off x="0" y="118382"/>
            <a:ext cx="9144000" cy="335840"/>
          </a:xfrm>
          <a:prstGeom prst="rect">
            <a:avLst/>
          </a:prstGeom>
        </p:spPr>
      </p:pic>
      <p:pic>
        <p:nvPicPr>
          <p:cNvPr id="3" name="Picture 2"/>
          <p:cNvPicPr>
            <a:picLocks noChangeAspect="1"/>
          </p:cNvPicPr>
          <p:nvPr/>
        </p:nvPicPr>
        <p:blipFill>
          <a:blip r:embed="rId1"/>
          <a:stretch>
            <a:fillRect/>
          </a:stretch>
        </p:blipFill>
        <p:spPr>
          <a:xfrm>
            <a:off x="146359" y="6522160"/>
            <a:ext cx="9144000" cy="335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3"/>
          <p:cNvSpPr txBox="1"/>
          <p:nvPr/>
        </p:nvSpPr>
        <p:spPr>
          <a:xfrm>
            <a:off x="467678" y="699169"/>
            <a:ext cx="8363272" cy="508918"/>
          </a:xfrm>
          <a:prstGeom prst="rect">
            <a:avLst/>
          </a:prstGeom>
          <a:ln>
            <a:solidFill>
              <a:schemeClr val="tx1"/>
            </a:solidFill>
          </a:ln>
        </p:spPr>
        <p:txBody>
          <a:bodyPr vert="horz" lIns="91440" tIns="45720" rIns="91440" bIns="45720" rtlCol="0" anchor="ctr">
            <a:normAutofit fontScale="75000" lnSpcReduction="20000"/>
          </a:bodyPr>
          <a:lstStyle>
            <a:lvl1pPr algn="r" defTabSz="914400" rtl="0" eaLnBrk="1" latinLnBrk="0" hangingPunct="1">
              <a:spcBef>
                <a:spcPct val="0"/>
              </a:spcBef>
              <a:buNone/>
              <a:defRPr sz="4400" kern="1200">
                <a:solidFill>
                  <a:schemeClr val="accent2">
                    <a:lumMod val="50000"/>
                  </a:schemeClr>
                </a:solidFill>
                <a:latin typeface="+mj-lt"/>
                <a:ea typeface="+mj-ea"/>
                <a:cs typeface="+mj-cs"/>
              </a:defRPr>
            </a:lvl1pPr>
          </a:lstStyle>
          <a:p>
            <a:pPr marL="355600" lvl="6" indent="0" algn="ctr">
              <a:spcAft>
                <a:spcPts val="600"/>
              </a:spcAft>
              <a:buFont typeface="+mj-lt"/>
              <a:buNone/>
            </a:pPr>
            <a:r>
              <a:rPr lang="en-US" altLang="en-US" sz="4400" b="1" i="1" dirty="0">
                <a:solidFill>
                  <a:srgbClr val="673322"/>
                </a:solidFill>
                <a:ea typeface="Calibri" panose="020F0502020204030204" pitchFamily="34" charset="0"/>
                <a:cs typeface="Calibri" panose="020F0502020204030204" pitchFamily="34" charset="0"/>
                <a:sym typeface="+mn-ea"/>
              </a:rPr>
              <a:t>Proposed Framework</a:t>
            </a:r>
            <a:endParaRPr lang="en-US" altLang="en-US" sz="4400" b="1" i="1" dirty="0">
              <a:solidFill>
                <a:srgbClr val="673322"/>
              </a:solidFill>
              <a:ea typeface="Calibri" panose="020F0502020204030204" pitchFamily="34" charset="0"/>
              <a:cs typeface="Calibri" panose="020F0502020204030204" pitchFamily="34" charset="0"/>
              <a:sym typeface="+mn-ea"/>
            </a:endParaRPr>
          </a:p>
        </p:txBody>
      </p:sp>
      <p:pic>
        <p:nvPicPr>
          <p:cNvPr id="2" name="Picture 1"/>
          <p:cNvPicPr>
            <a:picLocks noChangeAspect="1"/>
          </p:cNvPicPr>
          <p:nvPr/>
        </p:nvPicPr>
        <p:blipFill>
          <a:blip r:embed="rId1"/>
          <a:stretch>
            <a:fillRect/>
          </a:stretch>
        </p:blipFill>
        <p:spPr>
          <a:xfrm>
            <a:off x="-25160" y="95929"/>
            <a:ext cx="9144000" cy="335840"/>
          </a:xfrm>
          <a:prstGeom prst="rect">
            <a:avLst/>
          </a:prstGeom>
        </p:spPr>
      </p:pic>
      <p:pic>
        <p:nvPicPr>
          <p:cNvPr id="3" name="Picture 2"/>
          <p:cNvPicPr>
            <a:picLocks noChangeAspect="1"/>
          </p:cNvPicPr>
          <p:nvPr/>
        </p:nvPicPr>
        <p:blipFill>
          <a:blip r:embed="rId1"/>
          <a:stretch>
            <a:fillRect/>
          </a:stretch>
        </p:blipFill>
        <p:spPr>
          <a:xfrm>
            <a:off x="176278" y="6550432"/>
            <a:ext cx="9144000" cy="335840"/>
          </a:xfrm>
          <a:prstGeom prst="rect">
            <a:avLst/>
          </a:prstGeom>
        </p:spPr>
      </p:pic>
      <p:pic>
        <p:nvPicPr>
          <p:cNvPr id="9" name="Picture 8"/>
          <p:cNvPicPr>
            <a:picLocks noChangeAspect="1"/>
          </p:cNvPicPr>
          <p:nvPr/>
        </p:nvPicPr>
        <p:blipFill>
          <a:blip r:embed="rId2"/>
          <a:stretch>
            <a:fillRect/>
          </a:stretch>
        </p:blipFill>
        <p:spPr>
          <a:xfrm>
            <a:off x="1475656" y="1475486"/>
            <a:ext cx="6192688" cy="50749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409575" y="692150"/>
            <a:ext cx="8734425" cy="360363"/>
          </a:xfrm>
        </p:spPr>
        <p:txBody>
          <a:bodyPr>
            <a:noAutofit/>
          </a:bodyPr>
          <a:lstStyle>
            <a:lvl1pPr algn="r">
              <a:defRPr>
                <a:solidFill>
                  <a:schemeClr val="accent2">
                    <a:lumMod val="50000"/>
                  </a:schemeClr>
                </a:solidFill>
              </a:defRPr>
            </a:lvl1pPr>
          </a:lstStyle>
          <a:p>
            <a:pPr algn="l"/>
            <a:r>
              <a:rPr lang="en-US" sz="3200" b="1" dirty="0"/>
              <a:t>II. </a:t>
            </a:r>
            <a:r>
              <a:rPr lang="en-IN" altLang="en-US" sz="3200" b="1" dirty="0"/>
              <a:t>Data set details &amp; </a:t>
            </a:r>
            <a:r>
              <a:rPr lang="en-US" sz="3200" b="1" dirty="0"/>
              <a:t>Related Work</a:t>
            </a:r>
            <a:endParaRPr lang="en-IN" sz="3200" b="1" dirty="0"/>
          </a:p>
        </p:txBody>
      </p:sp>
      <p:graphicFrame>
        <p:nvGraphicFramePr>
          <p:cNvPr id="2" name="Table 1"/>
          <p:cNvGraphicFramePr>
            <a:graphicFrameLocks noGrp="1"/>
          </p:cNvGraphicFramePr>
          <p:nvPr>
            <p:custDataLst>
              <p:tags r:id="rId1"/>
            </p:custDataLst>
          </p:nvPr>
        </p:nvGraphicFramePr>
        <p:xfrm>
          <a:off x="251460" y="1357630"/>
          <a:ext cx="8568690" cy="4382770"/>
        </p:xfrm>
        <a:graphic>
          <a:graphicData uri="http://schemas.openxmlformats.org/drawingml/2006/table">
            <a:tbl>
              <a:tblPr firstRow="1" firstCol="1" bandRow="1">
                <a:tableStyleId>{5A111915-BE36-4E01-A7E5-04B1672EAD32}</a:tableStyleId>
              </a:tblPr>
              <a:tblGrid>
                <a:gridCol w="1329690"/>
                <a:gridCol w="1031240"/>
                <a:gridCol w="1095375"/>
                <a:gridCol w="864235"/>
                <a:gridCol w="791845"/>
                <a:gridCol w="3456305"/>
              </a:tblGrid>
              <a:tr h="731520">
                <a:tc>
                  <a:txBody>
                    <a:bodyPr/>
                    <a:lstStyle/>
                    <a:p>
                      <a:pPr algn="ctr"/>
                      <a:r>
                        <a:rPr lang="en-US" sz="1200" dirty="0">
                          <a:effectLst/>
                          <a:latin typeface="+mj-lt"/>
                        </a:rPr>
                        <a:t>Reference </a:t>
                      </a:r>
                      <a:endParaRPr lang="en-US" sz="1200" dirty="0">
                        <a:effectLst/>
                        <a:latin typeface="+mj-lt"/>
                      </a:endParaRPr>
                    </a:p>
                    <a:p>
                      <a:pPr algn="ctr"/>
                      <a:r>
                        <a:rPr lang="en-US" sz="1200" dirty="0">
                          <a:effectLst/>
                          <a:latin typeface="+mj-lt"/>
                        </a:rPr>
                        <a:t>Paper</a:t>
                      </a:r>
                      <a:endParaRPr lang="en-IN" sz="1200" b="1"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j-lt"/>
                        </a:rPr>
                        <a:t>Feature Selection / Extraction</a:t>
                      </a:r>
                      <a:endParaRPr lang="en-IN" sz="1200" b="1"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j-lt"/>
                        </a:rPr>
                        <a:t>Number of Features Selection (or) Extraction</a:t>
                      </a:r>
                      <a:endParaRPr lang="en-IN" sz="1200" b="1"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j-lt"/>
                        </a:rPr>
                        <a:t>Machine </a:t>
                      </a:r>
                      <a:endParaRPr lang="en-IN" sz="1200" dirty="0">
                        <a:effectLst/>
                        <a:latin typeface="+mj-lt"/>
                      </a:endParaRPr>
                    </a:p>
                    <a:p>
                      <a:pPr algn="ctr"/>
                      <a:r>
                        <a:rPr lang="en-US" sz="1200" dirty="0">
                          <a:effectLst/>
                          <a:latin typeface="+mj-lt"/>
                        </a:rPr>
                        <a:t>Learning Classifiers</a:t>
                      </a:r>
                      <a:endParaRPr lang="en-IN" sz="1200" b="1"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effectLst/>
                          <a:latin typeface="+mj-lt"/>
                        </a:rPr>
                        <a:t>Accuracy (%)</a:t>
                      </a:r>
                      <a:endParaRPr lang="en-IN" sz="1200" b="1"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200" dirty="0">
                        <a:effectLst/>
                        <a:latin typeface="+mj-lt"/>
                      </a:endParaRPr>
                    </a:p>
                    <a:p>
                      <a:pPr algn="ctr"/>
                      <a:r>
                        <a:rPr lang="en-US" sz="1400" dirty="0">
                          <a:effectLst/>
                          <a:latin typeface="+mj-lt"/>
                        </a:rPr>
                        <a:t>Pros / Cons of the techniques used in the existing work</a:t>
                      </a:r>
                      <a:endParaRPr lang="en-IN" sz="1400" b="1"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80160">
                <a:tc>
                  <a:txBody>
                    <a:bodyPr/>
                    <a:lstStyle/>
                    <a:p>
                      <a:pPr algn="ctr"/>
                      <a:r>
                        <a:rPr lang="en-US" altLang="en-US" sz="1200" u="none" dirty="0">
                          <a:effectLst/>
                          <a:latin typeface="+mj-lt"/>
                          <a:ea typeface="Times New Roman" panose="02020603050405020304" pitchFamily="18" charset="0"/>
                        </a:rPr>
                        <a:t> M. Yasir, Z. S. Shah, S. A. Memon, and Z. Ali, “Machine learning based analysis of cellular spectrum” </a:t>
                      </a:r>
                      <a:endParaRPr lang="en-US" altLang="en-US" sz="1200" u="none" dirty="0">
                        <a:effectLst/>
                        <a:latin typeface="+mj-lt"/>
                        <a:ea typeface="Times New Roman" panose="02020603050405020304" pitchFamily="18" charset="0"/>
                      </a:endParaRPr>
                    </a:p>
                    <a:p>
                      <a:pPr algn="ctr"/>
                      <a:r>
                        <a:rPr lang="en-IN" altLang="en-US" sz="1200" dirty="0">
                          <a:solidFill>
                            <a:srgbClr val="FF0000"/>
                          </a:solidFill>
                          <a:effectLst/>
                          <a:latin typeface="+mj-lt"/>
                          <a:ea typeface="Times New Roman" panose="02020603050405020304" pitchFamily="18" charset="0"/>
                          <a:sym typeface="+mn-ea"/>
                        </a:rPr>
                        <a:t>[1]</a:t>
                      </a:r>
                      <a:endParaRPr lang="en-IN" altLang="en-US" sz="1200" u="none" dirty="0">
                        <a:solidFill>
                          <a:srgbClr val="FF0000"/>
                        </a:solidFill>
                        <a:effectLst/>
                        <a:latin typeface="+mj-lt"/>
                        <a:ea typeface="Times New Roman" panose="02020603050405020304" pitchFamily="18" charset="0"/>
                        <a:sym typeface="+mn-ea"/>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en-US" sz="1200" dirty="0">
                          <a:effectLst/>
                          <a:latin typeface="+mj-lt"/>
                          <a:ea typeface="Times New Roman" panose="02020603050405020304" pitchFamily="18" charset="0"/>
                        </a:rPr>
                        <a:t>Statistical Feature Analysis</a:t>
                      </a:r>
                      <a:endParaRPr lang="en-US" altLang="en-US" sz="1200"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a:effectLst/>
                          <a:latin typeface="+mj-lt"/>
                          <a:ea typeface="Times New Roman" panose="02020603050405020304" pitchFamily="18" charset="0"/>
                        </a:rPr>
                        <a:t>32</a:t>
                      </a:r>
                      <a:endParaRPr lang="en-IN" sz="120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en-US" sz="1200" dirty="0">
                          <a:effectLst/>
                          <a:latin typeface="+mj-lt"/>
                          <a:ea typeface="Times New Roman" panose="02020603050405020304" pitchFamily="18" charset="0"/>
                        </a:rPr>
                        <a:t>Support Vector Machine (SVM)</a:t>
                      </a:r>
                      <a:endParaRPr lang="en-US" altLang="en-US" sz="1200"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ltLang="en-US" sz="1200">
                          <a:effectLst/>
                          <a:latin typeface="+mj-lt"/>
                          <a:ea typeface="Times New Roman" panose="02020603050405020304" pitchFamily="18" charset="0"/>
                        </a:rPr>
                        <a:t>84.75</a:t>
                      </a:r>
                      <a:endParaRPr lang="en-IN" altLang="en-US" sz="1200">
                        <a:effectLst/>
                        <a:latin typeface="+mj-lt"/>
                        <a:ea typeface="Times New Roman" panose="02020603050405020304" pitchFamily="18" charset="0"/>
                      </a:endParaRPr>
                    </a:p>
                  </a:txBody>
                  <a:tcPr marL="0" marR="0" marT="71755" marB="71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lvl="0" indent="-342900" algn="l">
                        <a:buFont typeface="Symbol" panose="05050102010706020507" pitchFamily="18" charset="2"/>
                        <a:buChar char=""/>
                      </a:pPr>
                      <a:r>
                        <a:rPr lang="en-US" altLang="en-US" sz="1200" dirty="0">
                          <a:effectLst/>
                          <a:latin typeface="+mj-lt"/>
                          <a:ea typeface="Times New Roman" panose="02020603050405020304" pitchFamily="18" charset="0"/>
                        </a:rPr>
                        <a:t> Effective in analyzing cellular spectrum patterns.</a:t>
                      </a:r>
                      <a:endParaRPr lang="en-US" altLang="en-US" sz="1200" dirty="0">
                        <a:effectLst/>
                        <a:latin typeface="+mj-lt"/>
                        <a:ea typeface="Times New Roman" panose="02020603050405020304" pitchFamily="18" charset="0"/>
                      </a:endParaRPr>
                    </a:p>
                    <a:p>
                      <a:pPr marL="342900" lvl="0" indent="-342900" algn="l">
                        <a:buFont typeface="Symbol" panose="05050102010706020507" pitchFamily="18" charset="2"/>
                        <a:buChar char=""/>
                      </a:pPr>
                      <a:r>
                        <a:rPr lang="en-IN" altLang="en-US" sz="1200" dirty="0">
                          <a:effectLst/>
                          <a:latin typeface="+mj-lt"/>
                          <a:ea typeface="Times New Roman" panose="02020603050405020304" pitchFamily="18" charset="0"/>
                        </a:rPr>
                        <a:t> </a:t>
                      </a:r>
                      <a:r>
                        <a:rPr lang="en-US" altLang="en-US" sz="1200" dirty="0">
                          <a:effectLst/>
                          <a:latin typeface="+mj-lt"/>
                          <a:ea typeface="Times New Roman" panose="02020603050405020304" pitchFamily="18" charset="0"/>
                        </a:rPr>
                        <a:t>Provides reliable prediction using machine </a:t>
                      </a:r>
                      <a:r>
                        <a:rPr lang="en-IN" altLang="en-US" sz="1200" dirty="0">
                          <a:effectLst/>
                          <a:latin typeface="+mj-lt"/>
                          <a:ea typeface="Times New Roman" panose="02020603050405020304" pitchFamily="18" charset="0"/>
                        </a:rPr>
                        <a:t>  </a:t>
                      </a:r>
                      <a:r>
                        <a:rPr lang="en-US" altLang="en-US" sz="1200" dirty="0">
                          <a:effectLst/>
                          <a:latin typeface="+mj-lt"/>
                          <a:ea typeface="Times New Roman" panose="02020603050405020304" pitchFamily="18" charset="0"/>
                        </a:rPr>
                        <a:t>learning techniques.</a:t>
                      </a:r>
                      <a:endParaRPr lang="en-US" altLang="en-US" sz="1200" dirty="0">
                        <a:effectLst/>
                        <a:latin typeface="+mj-lt"/>
                        <a:ea typeface="Times New Roman" panose="02020603050405020304" pitchFamily="18" charset="0"/>
                      </a:endParaRPr>
                    </a:p>
                    <a:p>
                      <a:pPr marL="342900" lvl="0" indent="-342900" algn="l">
                        <a:buFont typeface="Symbol" panose="05050102010706020507" pitchFamily="18" charset="2"/>
                        <a:buChar char=""/>
                      </a:pPr>
                      <a:r>
                        <a:rPr lang="en-IN" altLang="en-US" sz="1200" dirty="0">
                          <a:effectLst/>
                          <a:latin typeface="+mj-lt"/>
                          <a:ea typeface="Times New Roman" panose="02020603050405020304" pitchFamily="18" charset="0"/>
                        </a:rPr>
                        <a:t> </a:t>
                      </a:r>
                      <a:r>
                        <a:rPr lang="en-US" altLang="en-US" sz="1200" dirty="0">
                          <a:effectLst/>
                          <a:latin typeface="+mj-lt"/>
                          <a:ea typeface="Times New Roman" panose="02020603050405020304" pitchFamily="18" charset="0"/>
                        </a:rPr>
                        <a:t>Performance may decrease in highly dynamic </a:t>
                      </a:r>
                      <a:r>
                        <a:rPr lang="en-IN" altLang="en-US" sz="1200" dirty="0">
                          <a:effectLst/>
                          <a:latin typeface="+mj-lt"/>
                          <a:ea typeface="Times New Roman" panose="02020603050405020304" pitchFamily="18" charset="0"/>
                        </a:rPr>
                        <a:t> </a:t>
                      </a:r>
                      <a:r>
                        <a:rPr lang="en-US" altLang="en-US" sz="1200" dirty="0">
                          <a:effectLst/>
                          <a:latin typeface="+mj-lt"/>
                          <a:ea typeface="Times New Roman" panose="02020603050405020304" pitchFamily="18" charset="0"/>
                        </a:rPr>
                        <a:t>spectrum environments.</a:t>
                      </a:r>
                      <a:endParaRPr lang="en-US" altLang="en-US" sz="1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47090">
                <a:tc>
                  <a:txBody>
                    <a:bodyPr/>
                    <a:lstStyle/>
                    <a:p>
                      <a:pPr algn="ctr"/>
                      <a:r>
                        <a:rPr lang="en-US" altLang="en-US" sz="1200" u="none" dirty="0">
                          <a:solidFill>
                            <a:schemeClr val="tx1"/>
                          </a:solidFill>
                          <a:effectLst/>
                          <a:latin typeface="+mj-lt"/>
                          <a:ea typeface="Times New Roman" panose="02020603050405020304" pitchFamily="18" charset="0"/>
                        </a:rPr>
                        <a:t> T. A. Oyewo, U. S. Dauda, and A. S. Mohammed</a:t>
                      </a:r>
                      <a:endParaRPr lang="en-US" altLang="en-US" sz="1200" u="none" dirty="0">
                        <a:solidFill>
                          <a:schemeClr val="tx1"/>
                        </a:solidFill>
                        <a:effectLst/>
                        <a:latin typeface="+mj-lt"/>
                        <a:ea typeface="Times New Roman" panose="02020603050405020304" pitchFamily="18" charset="0"/>
                      </a:endParaRPr>
                    </a:p>
                    <a:p>
                      <a:pPr algn="ctr"/>
                      <a:r>
                        <a:rPr lang="en-IN" altLang="en-US" sz="1200" u="none" dirty="0">
                          <a:solidFill>
                            <a:srgbClr val="FF0000"/>
                          </a:solidFill>
                          <a:effectLst/>
                          <a:latin typeface="+mj-lt"/>
                          <a:ea typeface="Times New Roman" panose="02020603050405020304" pitchFamily="18" charset="0"/>
                        </a:rPr>
                        <a:t>[9]</a:t>
                      </a:r>
                      <a:endParaRPr lang="en-IN" altLang="en-US" sz="1200" u="none" dirty="0">
                        <a:solidFill>
                          <a:srgbClr val="FF0000"/>
                        </a:solidFill>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en-US" sz="1200" dirty="0">
                          <a:effectLst/>
                          <a:latin typeface="+mj-lt"/>
                          <a:ea typeface="Times New Roman" panose="02020603050405020304" pitchFamily="18" charset="0"/>
                        </a:rPr>
                        <a:t>Feature Extraction</a:t>
                      </a:r>
                      <a:endParaRPr lang="en-US" altLang="en-US" sz="1200"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en-US" sz="1200" dirty="0">
                          <a:effectLst/>
                          <a:latin typeface="+mj-lt"/>
                          <a:ea typeface="Times New Roman" panose="02020603050405020304" pitchFamily="18" charset="0"/>
                        </a:rPr>
                        <a:t>3</a:t>
                      </a:r>
                      <a:r>
                        <a:rPr lang="en-IN" altLang="en-US" sz="1200" dirty="0">
                          <a:effectLst/>
                          <a:latin typeface="+mj-lt"/>
                          <a:ea typeface="Times New Roman" panose="02020603050405020304" pitchFamily="18" charset="0"/>
                        </a:rPr>
                        <a:t>4</a:t>
                      </a:r>
                      <a:endParaRPr lang="en-IN" altLang="en-US" sz="1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ltLang="en-US" sz="1200" dirty="0">
                          <a:effectLst/>
                          <a:latin typeface="+mj-lt"/>
                          <a:ea typeface="Times New Roman" panose="02020603050405020304" pitchFamily="18" charset="0"/>
                        </a:rPr>
                        <a:t>Decision Tree</a:t>
                      </a:r>
                      <a:endParaRPr lang="en-IN" altLang="en-US" sz="1200"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effectLst/>
                          <a:latin typeface="+mj-lt"/>
                        </a:rPr>
                        <a:t>9</a:t>
                      </a:r>
                      <a:r>
                        <a:rPr lang="en-IN" altLang="en-US" sz="1200">
                          <a:effectLst/>
                          <a:latin typeface="+mj-lt"/>
                        </a:rPr>
                        <a:t>2.70</a:t>
                      </a:r>
                      <a:endParaRPr lang="en-IN" altLang="en-US" sz="1200" dirty="0">
                        <a:effectLst/>
                        <a:latin typeface="+mj-lt"/>
                        <a:ea typeface="Times New Roman" panose="02020603050405020304" pitchFamily="18" charset="0"/>
                      </a:endParaRPr>
                    </a:p>
                  </a:txBody>
                  <a:tcPr marL="0" marR="0" marT="71755" marB="71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lvl="0" indent="-342900" algn="l">
                        <a:buFont typeface="Symbol" panose="05050102010706020507" pitchFamily="18" charset="2"/>
                        <a:buChar char=""/>
                      </a:pPr>
                      <a:r>
                        <a:rPr lang="en-US" altLang="en-US" sz="1200" dirty="0">
                          <a:effectLst/>
                          <a:latin typeface="+mj-lt"/>
                          <a:ea typeface="Times New Roman" panose="02020603050405020304" pitchFamily="18" charset="0"/>
                        </a:rPr>
                        <a:t> Simple and interpretable model</a:t>
                      </a:r>
                      <a:endParaRPr lang="en-US" altLang="en-US" sz="1200" dirty="0">
                        <a:effectLst/>
                        <a:latin typeface="+mj-lt"/>
                        <a:ea typeface="Times New Roman" panose="02020603050405020304" pitchFamily="18" charset="0"/>
                      </a:endParaRPr>
                    </a:p>
                    <a:p>
                      <a:pPr marL="342900" lvl="0" indent="-342900" algn="l">
                        <a:buFont typeface="Symbol" panose="05050102010706020507" pitchFamily="18" charset="2"/>
                        <a:buChar char=""/>
                      </a:pPr>
                      <a:r>
                        <a:rPr lang="en-US" altLang="en-US" sz="1200" dirty="0">
                          <a:effectLst/>
                          <a:latin typeface="+mj-lt"/>
                          <a:ea typeface="Times New Roman" panose="02020603050405020304" pitchFamily="18" charset="0"/>
                        </a:rPr>
                        <a:t> Works well for structured spectrum datasets</a:t>
                      </a:r>
                      <a:endParaRPr lang="en-US" altLang="en-US" sz="1200" dirty="0">
                        <a:effectLst/>
                        <a:latin typeface="+mj-lt"/>
                        <a:ea typeface="Times New Roman" panose="02020603050405020304" pitchFamily="18" charset="0"/>
                      </a:endParaRPr>
                    </a:p>
                    <a:p>
                      <a:pPr marL="342900" lvl="0" indent="-342900" algn="l">
                        <a:buFont typeface="Symbol" panose="05050102010706020507" pitchFamily="18" charset="2"/>
                        <a:buChar char=""/>
                      </a:pPr>
                      <a:r>
                        <a:rPr lang="en-US" altLang="en-US" sz="1200" dirty="0">
                          <a:effectLst/>
                          <a:latin typeface="+mj-lt"/>
                          <a:ea typeface="Times New Roman" panose="02020603050405020304" pitchFamily="18" charset="0"/>
                        </a:rPr>
                        <a:t>May suffer from overfitting in complex environments</a:t>
                      </a:r>
                      <a:endParaRPr lang="en-US" altLang="en-US" sz="1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24000">
                <a:tc>
                  <a:txBody>
                    <a:bodyPr/>
                    <a:lstStyle/>
                    <a:p>
                      <a:pPr algn="ctr"/>
                      <a:r>
                        <a:rPr lang="en-US" altLang="en-US" sz="1200" u="none" dirty="0">
                          <a:solidFill>
                            <a:schemeClr val="tx1"/>
                          </a:solidFill>
                          <a:effectLst/>
                          <a:latin typeface="+mj-lt"/>
                          <a:ea typeface="Times New Roman" panose="02020603050405020304" pitchFamily="18" charset="0"/>
                        </a:rPr>
                        <a:t>P. Venkatapathi, H. Khan, S. S. Rao, and G. Immadi</a:t>
                      </a:r>
                      <a:endParaRPr lang="en-US" altLang="en-US" sz="1200" u="none" dirty="0">
                        <a:solidFill>
                          <a:schemeClr val="tx1"/>
                        </a:solidFill>
                        <a:effectLst/>
                        <a:latin typeface="+mj-lt"/>
                        <a:ea typeface="Times New Roman" panose="02020603050405020304" pitchFamily="18" charset="0"/>
                      </a:endParaRPr>
                    </a:p>
                    <a:p>
                      <a:pPr algn="ctr"/>
                      <a:r>
                        <a:rPr lang="en-IN" altLang="en-US" sz="1200" u="none" dirty="0">
                          <a:solidFill>
                            <a:srgbClr val="FF0000"/>
                          </a:solidFill>
                          <a:effectLst/>
                          <a:latin typeface="+mj-lt"/>
                          <a:ea typeface="Times New Roman" panose="02020603050405020304" pitchFamily="18" charset="0"/>
                        </a:rPr>
                        <a:t>[8]</a:t>
                      </a:r>
                      <a:endParaRPr lang="en-IN" altLang="en-US" sz="1200" u="none" dirty="0">
                        <a:solidFill>
                          <a:srgbClr val="FF0000"/>
                        </a:solidFill>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en-US" sz="1200" dirty="0">
                          <a:effectLst/>
                          <a:latin typeface="+mj-lt"/>
                          <a:ea typeface="Times New Roman" panose="02020603050405020304" pitchFamily="18" charset="0"/>
                        </a:rPr>
                        <a:t>Statistical Feature Extraction</a:t>
                      </a:r>
                      <a:endParaRPr lang="en-US" altLang="en-US" sz="1200"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effectLst/>
                          <a:latin typeface="+mj-lt"/>
                        </a:rPr>
                        <a:t>30</a:t>
                      </a:r>
                      <a:endParaRPr lang="en-IN" sz="1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ltLang="en-US" sz="1200" dirty="0">
                          <a:effectLst/>
                          <a:latin typeface="+mj-lt"/>
                          <a:ea typeface="Times New Roman" panose="02020603050405020304" pitchFamily="18" charset="0"/>
                        </a:rPr>
                        <a:t>gradient boosting</a:t>
                      </a:r>
                      <a:endParaRPr lang="en-IN" altLang="en-US" sz="1200" dirty="0">
                        <a:effectLst/>
                        <a:latin typeface="+mj-lt"/>
                        <a:ea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en-US" sz="1200" dirty="0">
                          <a:effectLst/>
                          <a:latin typeface="+mj-lt"/>
                          <a:ea typeface="Times New Roman" panose="02020603050405020304" pitchFamily="18" charset="0"/>
                        </a:rPr>
                        <a:t>94.</a:t>
                      </a:r>
                      <a:r>
                        <a:rPr lang="en-IN" altLang="en-US" sz="1200" dirty="0">
                          <a:effectLst/>
                          <a:latin typeface="+mj-lt"/>
                          <a:ea typeface="Times New Roman" panose="02020603050405020304" pitchFamily="18" charset="0"/>
                        </a:rPr>
                        <a:t>6</a:t>
                      </a:r>
                      <a:r>
                        <a:rPr lang="en-US" altLang="en-US" sz="1200" dirty="0">
                          <a:effectLst/>
                          <a:latin typeface="+mj-lt"/>
                          <a:ea typeface="Times New Roman" panose="02020603050405020304" pitchFamily="18" charset="0"/>
                        </a:rPr>
                        <a:t>0</a:t>
                      </a:r>
                      <a:endParaRPr lang="en-US" altLang="en-US" sz="1200" dirty="0">
                        <a:effectLst/>
                        <a:latin typeface="+mj-lt"/>
                        <a:ea typeface="Times New Roman" panose="02020603050405020304" pitchFamily="18" charset="0"/>
                      </a:endParaRPr>
                    </a:p>
                  </a:txBody>
                  <a:tcPr marL="0" marR="0" marT="71755" marB="7175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lvl="0" indent="-342900" algn="l">
                        <a:buFont typeface="Symbol" panose="05050102010706020507" pitchFamily="18" charset="2"/>
                        <a:buChar char=""/>
                      </a:pPr>
                      <a:r>
                        <a:rPr lang="en-US" altLang="en-US" sz="1200" dirty="0">
                          <a:effectLst/>
                          <a:latin typeface="+mj-lt"/>
                          <a:ea typeface="Times New Roman" panose="02020603050405020304" pitchFamily="18" charset="0"/>
                        </a:rPr>
                        <a:t>Ensemble learning improves prediction accuracy</a:t>
                      </a:r>
                      <a:endParaRPr lang="en-US" altLang="en-US" sz="1200" dirty="0">
                        <a:effectLst/>
                        <a:latin typeface="+mj-lt"/>
                        <a:ea typeface="Times New Roman" panose="02020603050405020304" pitchFamily="18" charset="0"/>
                      </a:endParaRPr>
                    </a:p>
                    <a:p>
                      <a:pPr marL="342900" lvl="0" indent="-342900" algn="l">
                        <a:buFont typeface="Symbol" panose="05050102010706020507" pitchFamily="18" charset="2"/>
                        <a:buChar char=""/>
                      </a:pPr>
                      <a:r>
                        <a:rPr lang="en-US" altLang="en-US" sz="1200" dirty="0">
                          <a:effectLst/>
                          <a:latin typeface="+mj-lt"/>
                          <a:ea typeface="Times New Roman" panose="02020603050405020304" pitchFamily="18" charset="0"/>
                        </a:rPr>
                        <a:t>Handles noisy data better than single models</a:t>
                      </a:r>
                      <a:endParaRPr lang="en-US" altLang="en-US" sz="1200" dirty="0">
                        <a:effectLst/>
                        <a:latin typeface="+mj-lt"/>
                        <a:ea typeface="Times New Roman" panose="02020603050405020304" pitchFamily="18" charset="0"/>
                      </a:endParaRPr>
                    </a:p>
                    <a:p>
                      <a:pPr marL="342900" lvl="0" indent="-342900" algn="l">
                        <a:buFont typeface="Symbol" panose="05050102010706020507" pitchFamily="18" charset="2"/>
                        <a:buChar char=""/>
                      </a:pPr>
                      <a:r>
                        <a:rPr lang="en-US" altLang="en-US" sz="1200" dirty="0">
                          <a:effectLst/>
                          <a:latin typeface="+mj-lt"/>
                          <a:ea typeface="Times New Roman" panose="02020603050405020304" pitchFamily="18" charset="0"/>
                        </a:rPr>
                        <a:t> Higher computational complexity compared to simple classifiers</a:t>
                      </a:r>
                      <a:endParaRPr lang="en-US" altLang="en-US" sz="12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TextBox 4"/>
          <p:cNvSpPr txBox="1"/>
          <p:nvPr/>
        </p:nvSpPr>
        <p:spPr>
          <a:xfrm>
            <a:off x="2051720" y="1019240"/>
            <a:ext cx="4627880" cy="338554"/>
          </a:xfrm>
          <a:prstGeom prst="rect">
            <a:avLst/>
          </a:prstGeom>
          <a:noFill/>
        </p:spPr>
        <p:txBody>
          <a:bodyPr wrap="square">
            <a:spAutoFit/>
          </a:bodyPr>
          <a:lstStyle/>
          <a:p>
            <a:pPr algn="ctr">
              <a:spcBef>
                <a:spcPct val="20000"/>
              </a:spcBef>
            </a:pPr>
            <a:r>
              <a:rPr lang="en-IN" altLang="en-US" sz="1600" b="1" cap="small" dirty="0">
                <a:solidFill>
                  <a:srgbClr val="0000FF"/>
                </a:solidFill>
                <a:latin typeface="+mj-lt"/>
                <a:cs typeface="+mj-cs"/>
              </a:rPr>
              <a:t>Table I. </a:t>
            </a:r>
            <a:r>
              <a:rPr lang="en-IN" altLang="en-US" sz="1600" b="1" cap="small" dirty="0">
                <a:solidFill>
                  <a:schemeClr val="accent2">
                    <a:lumMod val="50000"/>
                  </a:schemeClr>
                </a:solidFill>
                <a:latin typeface="+mj-lt"/>
                <a:cs typeface="+mj-cs"/>
              </a:rPr>
              <a:t>Related Work </a:t>
            </a:r>
            <a:endParaRPr lang="en-IN" altLang="en-US" sz="1600" b="1" cap="small" dirty="0">
              <a:solidFill>
                <a:schemeClr val="accent2">
                  <a:lumMod val="50000"/>
                </a:schemeClr>
              </a:solidFill>
              <a:latin typeface="+mj-lt"/>
              <a:cs typeface="+mj-cs"/>
            </a:endParaRPr>
          </a:p>
        </p:txBody>
      </p:sp>
      <p:sp>
        <p:nvSpPr>
          <p:cNvPr id="6" name="TextBox 5"/>
          <p:cNvSpPr txBox="1"/>
          <p:nvPr/>
        </p:nvSpPr>
        <p:spPr>
          <a:xfrm>
            <a:off x="323850" y="5746750"/>
            <a:ext cx="8733790" cy="908050"/>
          </a:xfrm>
          <a:prstGeom prst="rect">
            <a:avLst/>
          </a:prstGeom>
          <a:noFill/>
        </p:spPr>
        <p:txBody>
          <a:bodyPr wrap="square">
            <a:noAutofit/>
          </a:bodyPr>
          <a:lstStyle/>
          <a:p>
            <a:pPr marL="171450" indent="-171450" algn="just">
              <a:spcBef>
                <a:spcPts val="0"/>
              </a:spcBef>
              <a:buFont typeface="Wingdings" panose="05000000000000000000" pitchFamily="2" charset="2"/>
              <a:buChar char="Ø"/>
            </a:pPr>
            <a:r>
              <a:rPr lang="en-US" altLang="en-US" sz="1400" dirty="0">
                <a:solidFill>
                  <a:srgbClr val="000000"/>
                </a:solidFill>
                <a:latin typeface="+mj-lt"/>
                <a:ea typeface="Times New Roman" panose="02020603050405020304" pitchFamily="18" charset="0"/>
              </a:rPr>
              <a:t>This work proposes an adaptive ensemble machine learning framework for spectrum occupancy prediction in cognitive radio networks by integrating multiple machine learning models to improve prediction accuracy, robustness, and reliability compared to existing single-model approaches</a:t>
            </a:r>
            <a:r>
              <a:rPr lang="en-IN" altLang="en-US" sz="1400" dirty="0">
                <a:solidFill>
                  <a:srgbClr val="000000"/>
                </a:solidFill>
                <a:latin typeface="+mj-lt"/>
                <a:ea typeface="Times New Roman" panose="02020603050405020304" pitchFamily="18" charset="0"/>
              </a:rPr>
              <a:t>.</a:t>
            </a:r>
            <a:endParaRPr lang="en-IN" altLang="en-US" sz="1400" b="1" i="0" u="none" strike="noStrike" baseline="0" dirty="0">
              <a:solidFill>
                <a:srgbClr val="000000"/>
              </a:solidFill>
              <a:latin typeface="+mj-lt"/>
              <a:ea typeface="Times New Roman" panose="02020603050405020304" pitchFamily="18"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7128" y="68361"/>
            <a:ext cx="9144000" cy="335840"/>
          </a:xfrm>
          <a:prstGeom prst="rect">
            <a:avLst/>
          </a:prstGeom>
        </p:spPr>
      </p:pic>
      <p:pic>
        <p:nvPicPr>
          <p:cNvPr id="7" name="Picture 6"/>
          <p:cNvPicPr>
            <a:picLocks noChangeAspect="1"/>
          </p:cNvPicPr>
          <p:nvPr/>
        </p:nvPicPr>
        <p:blipFill>
          <a:blip r:embed="rId2"/>
          <a:stretch>
            <a:fillRect/>
          </a:stretch>
        </p:blipFill>
        <p:spPr>
          <a:xfrm>
            <a:off x="17128" y="6525909"/>
            <a:ext cx="9144000" cy="335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411163" y="620713"/>
            <a:ext cx="8732837" cy="509587"/>
          </a:xfrm>
        </p:spPr>
        <p:txBody>
          <a:bodyPr>
            <a:noAutofit/>
          </a:bodyPr>
          <a:lstStyle>
            <a:lvl1pPr algn="r">
              <a:defRPr>
                <a:solidFill>
                  <a:schemeClr val="accent2">
                    <a:lumMod val="50000"/>
                  </a:schemeClr>
                </a:solidFill>
              </a:defRPr>
            </a:lvl1pPr>
          </a:lstStyle>
          <a:p>
            <a:pPr algn="l"/>
            <a:r>
              <a:rPr lang="en-US" sz="3200" b="1" dirty="0"/>
              <a:t>III. </a:t>
            </a:r>
            <a:r>
              <a:rPr lang="en-IN" altLang="en-US" sz="3200" b="1" dirty="0"/>
              <a:t>Research Approach</a:t>
            </a:r>
            <a:endParaRPr lang="en-IN" altLang="en-US" sz="3200" b="1" dirty="0"/>
          </a:p>
        </p:txBody>
      </p:sp>
      <p:sp>
        <p:nvSpPr>
          <p:cNvPr id="6" name="Text Placeholder 5"/>
          <p:cNvSpPr>
            <a:spLocks noGrp="1"/>
          </p:cNvSpPr>
          <p:nvPr>
            <p:ph type="body" sz="quarter" idx="4294967295"/>
          </p:nvPr>
        </p:nvSpPr>
        <p:spPr>
          <a:xfrm>
            <a:off x="411163" y="1988145"/>
            <a:ext cx="8158162" cy="3888779"/>
          </a:xfrm>
          <a:ln>
            <a:solidFill>
              <a:schemeClr val="tx1"/>
            </a:solidFill>
          </a:ln>
        </p:spPr>
        <p:txBody>
          <a:bodyPr>
            <a:normAutofit/>
          </a:bodyPr>
          <a:lstStyle/>
          <a:p>
            <a:pPr marL="57150" indent="0" algn="ctr">
              <a:buNone/>
            </a:pPr>
            <a:endParaRPr lang="en-US" sz="1800" b="1" dirty="0">
              <a:solidFill>
                <a:srgbClr val="2306F8"/>
              </a:solidFill>
              <a:cs typeface="Arial" panose="020B0604020202020204" pitchFamily="34" charset="0"/>
            </a:endParaRPr>
          </a:p>
          <a:p>
            <a:pPr indent="-285750" algn="l"/>
            <a:r>
              <a:rPr lang="en-US" altLang="en-US" sz="1600" b="1" dirty="0">
                <a:solidFill>
                  <a:srgbClr val="2306F8"/>
                </a:solidFill>
                <a:cs typeface="Arial" panose="020B0604020202020204" pitchFamily="34" charset="0"/>
              </a:rPr>
              <a:t>This study follows an experimental research approach to develop a machine learning based prediction system for spectrum occupancy.</a:t>
            </a:r>
            <a:br>
              <a:rPr lang="en-US" altLang="en-US" sz="1600" b="1" dirty="0">
                <a:solidFill>
                  <a:srgbClr val="2306F8"/>
                </a:solidFill>
                <a:cs typeface="Arial" panose="020B0604020202020204" pitchFamily="34" charset="0"/>
              </a:rPr>
            </a:br>
            <a:endParaRPr lang="en-US" altLang="en-US" sz="1600" b="1" dirty="0">
              <a:solidFill>
                <a:srgbClr val="2306F8"/>
              </a:solidFill>
              <a:cs typeface="Arial" panose="020B0604020202020204" pitchFamily="34" charset="0"/>
            </a:endParaRPr>
          </a:p>
          <a:p>
            <a:pPr indent="-285750" algn="l"/>
            <a:r>
              <a:rPr lang="en-US" altLang="en-US" sz="1600" b="1" dirty="0">
                <a:solidFill>
                  <a:srgbClr val="2306F8"/>
                </a:solidFill>
                <a:cs typeface="Arial" panose="020B0604020202020204" pitchFamily="34" charset="0"/>
              </a:rPr>
              <a:t>The problem is formulated as a Binary Classification task, where the model predicts channel status.</a:t>
            </a:r>
            <a:endParaRPr lang="en-US" sz="2000" b="1" dirty="0">
              <a:cs typeface="Arial" panose="020B0604020202020204" pitchFamily="34" charset="0"/>
            </a:endParaRPr>
          </a:p>
          <a:p>
            <a:pPr marL="1257300" lvl="3" indent="0" defTabSz="1016000">
              <a:buFont typeface="Wingdings" panose="05000000000000000000" pitchFamily="2" charset="2"/>
              <a:buNone/>
              <a:tabLst>
                <a:tab pos="3941445" algn="l"/>
              </a:tabLst>
            </a:pPr>
            <a:endParaRPr lang="en-US" sz="2800" b="1" dirty="0">
              <a:cs typeface="Arial" panose="020B0604020202020204" pitchFamily="34" charset="0"/>
            </a:endParaRPr>
          </a:p>
          <a:p>
            <a:pPr algn="just">
              <a:lnSpc>
                <a:spcPct val="170000"/>
              </a:lnSpc>
              <a:spcBef>
                <a:spcPts val="0"/>
              </a:spcBef>
              <a:buFont typeface="Wingdings" panose="05000000000000000000" pitchFamily="2" charset="2"/>
              <a:buChar char="v"/>
            </a:pPr>
            <a:endParaRPr lang="en-US" sz="4200" b="1" dirty="0">
              <a:latin typeface="+mj-lt"/>
              <a:ea typeface="Calibri" panose="020F0502020204030204" pitchFamily="34" charset="0"/>
              <a:cs typeface="Calibri" panose="020F0502020204030204" pitchFamily="34" charset="0"/>
            </a:endParaRPr>
          </a:p>
        </p:txBody>
      </p:sp>
      <p:sp>
        <p:nvSpPr>
          <p:cNvPr id="2" name="Title 23"/>
          <p:cNvSpPr txBox="1"/>
          <p:nvPr/>
        </p:nvSpPr>
        <p:spPr>
          <a:xfrm>
            <a:off x="251520" y="1304764"/>
            <a:ext cx="8568952" cy="508918"/>
          </a:xfrm>
          <a:prstGeom prst="rect">
            <a:avLst/>
          </a:prstGeom>
          <a:ln>
            <a:solidFill>
              <a:schemeClr val="tx1"/>
            </a:solidFill>
          </a:ln>
        </p:spPr>
        <p:txBody>
          <a:bodyPr vert="horz" lIns="91440" tIns="45720" rIns="91440" bIns="45720" rtlCol="0" anchor="ctr">
            <a:noAutofit/>
          </a:bodyPr>
          <a:lstStyle>
            <a:lvl1pPr algn="r" defTabSz="914400" rtl="0" eaLnBrk="1" latinLnBrk="0" hangingPunct="1">
              <a:spcBef>
                <a:spcPct val="0"/>
              </a:spcBef>
              <a:buNone/>
              <a:defRPr sz="4400" kern="1200">
                <a:solidFill>
                  <a:schemeClr val="accent2">
                    <a:lumMod val="50000"/>
                  </a:schemeClr>
                </a:solidFill>
                <a:latin typeface="+mj-lt"/>
                <a:ea typeface="+mj-ea"/>
                <a:cs typeface="+mj-cs"/>
              </a:defRPr>
            </a:lvl1pPr>
          </a:lstStyle>
          <a:p>
            <a:pPr algn="l"/>
            <a:r>
              <a:rPr lang="en-US" sz="2400" dirty="0"/>
              <a:t>Reference Website for Dataset : Kaggle-CASS Spectrum Dataset</a:t>
            </a:r>
            <a:endParaRPr lang="en-IN" sz="2400" dirty="0"/>
          </a:p>
        </p:txBody>
      </p:sp>
      <p:pic>
        <p:nvPicPr>
          <p:cNvPr id="3" name="Picture 2"/>
          <p:cNvPicPr>
            <a:picLocks noChangeAspect="1"/>
          </p:cNvPicPr>
          <p:nvPr/>
        </p:nvPicPr>
        <p:blipFill>
          <a:blip r:embed="rId1"/>
          <a:stretch>
            <a:fillRect/>
          </a:stretch>
        </p:blipFill>
        <p:spPr>
          <a:xfrm>
            <a:off x="107504" y="29721"/>
            <a:ext cx="9144000" cy="335840"/>
          </a:xfrm>
          <a:prstGeom prst="rect">
            <a:avLst/>
          </a:prstGeom>
        </p:spPr>
      </p:pic>
      <p:pic>
        <p:nvPicPr>
          <p:cNvPr id="5" name="Picture 4"/>
          <p:cNvPicPr>
            <a:picLocks noChangeAspect="1"/>
          </p:cNvPicPr>
          <p:nvPr/>
        </p:nvPicPr>
        <p:blipFill>
          <a:blip r:embed="rId1"/>
          <a:stretch>
            <a:fillRect/>
          </a:stretch>
        </p:blipFill>
        <p:spPr>
          <a:xfrm>
            <a:off x="98360" y="6540448"/>
            <a:ext cx="9144000" cy="335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4294967295"/>
          </p:nvPr>
        </p:nvSpPr>
        <p:spPr>
          <a:xfrm>
            <a:off x="0" y="1484313"/>
            <a:ext cx="8569325" cy="4897437"/>
          </a:xfrm>
          <a:ln>
            <a:solidFill>
              <a:schemeClr val="tx1"/>
            </a:solidFill>
          </a:ln>
        </p:spPr>
        <p:txBody>
          <a:bodyPr>
            <a:normAutofit fontScale="40000" lnSpcReduction="20000"/>
          </a:bodyPr>
          <a:lstStyle/>
          <a:p>
            <a:pPr marL="0" indent="0" algn="just">
              <a:lnSpc>
                <a:spcPct val="120000"/>
              </a:lnSpc>
              <a:spcBef>
                <a:spcPts val="0"/>
              </a:spcBef>
              <a:buNone/>
            </a:pPr>
            <a:endParaRPr lang="en-US" sz="2600" b="1" i="0" u="none" strike="noStrike" baseline="0" dirty="0">
              <a:ea typeface="Calibri" panose="020F0502020204030204" pitchFamily="34" charset="0"/>
              <a:cs typeface="Calibri" panose="020F0502020204030204" pitchFamily="34" charset="0"/>
            </a:endParaRPr>
          </a:p>
          <a:p>
            <a:pPr algn="just">
              <a:lnSpc>
                <a:spcPct val="120000"/>
              </a:lnSpc>
              <a:spcBef>
                <a:spcPts val="0"/>
              </a:spcBef>
            </a:pPr>
            <a:r>
              <a:rPr lang="en-US" altLang="en-US" sz="4000" dirty="0"/>
              <a:t>Machine Learning Techniques</a:t>
            </a:r>
            <a:endParaRPr lang="en-US" altLang="en-US" sz="4000" dirty="0"/>
          </a:p>
          <a:p>
            <a:pPr algn="just">
              <a:lnSpc>
                <a:spcPct val="120000"/>
              </a:lnSpc>
              <a:spcBef>
                <a:spcPts val="0"/>
              </a:spcBef>
            </a:pPr>
            <a:endParaRPr lang="en-US" altLang="en-US" sz="4000" dirty="0"/>
          </a:p>
          <a:p>
            <a:pPr algn="just">
              <a:lnSpc>
                <a:spcPct val="120000"/>
              </a:lnSpc>
              <a:spcBef>
                <a:spcPts val="0"/>
              </a:spcBef>
            </a:pPr>
            <a:r>
              <a:rPr lang="en-US" altLang="en-US" sz="4000" dirty="0"/>
              <a:t>The proposed system uses several machine learning algorithms to predict spectrum occupancy.</a:t>
            </a:r>
            <a:endParaRPr lang="en-US" altLang="en-US" sz="4000" dirty="0"/>
          </a:p>
          <a:p>
            <a:pPr algn="just">
              <a:lnSpc>
                <a:spcPct val="120000"/>
              </a:lnSpc>
              <a:spcBef>
                <a:spcPts val="0"/>
              </a:spcBef>
            </a:pPr>
            <a:endParaRPr lang="en-US" altLang="en-US" sz="4000" dirty="0"/>
          </a:p>
          <a:p>
            <a:pPr algn="just">
              <a:lnSpc>
                <a:spcPct val="120000"/>
              </a:lnSpc>
              <a:spcBef>
                <a:spcPts val="0"/>
              </a:spcBef>
            </a:pPr>
            <a:r>
              <a:rPr lang="en-US" altLang="en-US" sz="4000" dirty="0">
                <a:solidFill>
                  <a:srgbClr val="FF0000"/>
                </a:solidFill>
              </a:rPr>
              <a:t>❖ Logistic Regression</a:t>
            </a:r>
            <a:endParaRPr lang="en-US" altLang="en-US" sz="4000" dirty="0">
              <a:solidFill>
                <a:srgbClr val="FF0000"/>
              </a:solidFill>
            </a:endParaRPr>
          </a:p>
          <a:p>
            <a:pPr algn="just">
              <a:lnSpc>
                <a:spcPct val="120000"/>
              </a:lnSpc>
              <a:spcBef>
                <a:spcPts val="0"/>
              </a:spcBef>
            </a:pPr>
            <a:r>
              <a:rPr lang="en-US" altLang="en-US" sz="4000" dirty="0">
                <a:solidFill>
                  <a:srgbClr val="FF0000"/>
                </a:solidFill>
              </a:rPr>
              <a:t>❖ K-Nearest Neighbors (KNN)</a:t>
            </a:r>
            <a:endParaRPr lang="en-US" altLang="en-US" sz="4000" dirty="0">
              <a:solidFill>
                <a:srgbClr val="FF0000"/>
              </a:solidFill>
            </a:endParaRPr>
          </a:p>
          <a:p>
            <a:pPr algn="just">
              <a:lnSpc>
                <a:spcPct val="120000"/>
              </a:lnSpc>
              <a:spcBef>
                <a:spcPts val="0"/>
              </a:spcBef>
            </a:pPr>
            <a:r>
              <a:rPr lang="en-US" altLang="en-US" sz="4000" dirty="0">
                <a:solidFill>
                  <a:srgbClr val="FF0000"/>
                </a:solidFill>
              </a:rPr>
              <a:t>❖ Support Vector Machine (SVM)</a:t>
            </a:r>
            <a:endParaRPr lang="en-US" altLang="en-US" sz="4000" dirty="0">
              <a:solidFill>
                <a:srgbClr val="FF0000"/>
              </a:solidFill>
            </a:endParaRPr>
          </a:p>
          <a:p>
            <a:pPr algn="just">
              <a:lnSpc>
                <a:spcPct val="120000"/>
              </a:lnSpc>
              <a:spcBef>
                <a:spcPts val="0"/>
              </a:spcBef>
            </a:pPr>
            <a:r>
              <a:rPr lang="en-US" altLang="en-US" sz="4000" dirty="0">
                <a:solidFill>
                  <a:srgbClr val="FF0000"/>
                </a:solidFill>
              </a:rPr>
              <a:t>❖ Decision Tree</a:t>
            </a:r>
            <a:endParaRPr lang="en-US" altLang="en-US" sz="4000" dirty="0">
              <a:solidFill>
                <a:srgbClr val="FF0000"/>
              </a:solidFill>
            </a:endParaRPr>
          </a:p>
          <a:p>
            <a:pPr algn="just">
              <a:lnSpc>
                <a:spcPct val="120000"/>
              </a:lnSpc>
              <a:spcBef>
                <a:spcPts val="0"/>
              </a:spcBef>
            </a:pPr>
            <a:r>
              <a:rPr lang="en-US" altLang="en-US" sz="4000" dirty="0">
                <a:solidFill>
                  <a:srgbClr val="FF0000"/>
                </a:solidFill>
              </a:rPr>
              <a:t>❖ Random Forest</a:t>
            </a:r>
            <a:endParaRPr lang="en-US" altLang="en-US" sz="4000" dirty="0">
              <a:solidFill>
                <a:srgbClr val="FF0000"/>
              </a:solidFill>
            </a:endParaRPr>
          </a:p>
          <a:p>
            <a:pPr algn="just">
              <a:lnSpc>
                <a:spcPct val="120000"/>
              </a:lnSpc>
              <a:spcBef>
                <a:spcPts val="0"/>
              </a:spcBef>
            </a:pPr>
            <a:r>
              <a:rPr lang="en-US" altLang="en-US" sz="4000" dirty="0">
                <a:solidFill>
                  <a:srgbClr val="FF0000"/>
                </a:solidFill>
              </a:rPr>
              <a:t>❖ AdaBoost</a:t>
            </a:r>
            <a:endParaRPr lang="en-US" altLang="en-US" sz="4000" dirty="0">
              <a:solidFill>
                <a:srgbClr val="FF0000"/>
              </a:solidFill>
            </a:endParaRPr>
          </a:p>
          <a:p>
            <a:pPr algn="just">
              <a:lnSpc>
                <a:spcPct val="120000"/>
              </a:lnSpc>
              <a:spcBef>
                <a:spcPts val="0"/>
              </a:spcBef>
            </a:pPr>
            <a:r>
              <a:rPr lang="en-US" altLang="en-US" sz="4000" dirty="0">
                <a:solidFill>
                  <a:srgbClr val="FF0000"/>
                </a:solidFill>
              </a:rPr>
              <a:t>❖ Gradient Boosting</a:t>
            </a:r>
            <a:endParaRPr lang="en-US" altLang="en-US" sz="4000" dirty="0">
              <a:solidFill>
                <a:srgbClr val="FF0000"/>
              </a:solidFill>
            </a:endParaRPr>
          </a:p>
          <a:p>
            <a:pPr algn="just">
              <a:lnSpc>
                <a:spcPct val="120000"/>
              </a:lnSpc>
              <a:spcBef>
                <a:spcPts val="0"/>
              </a:spcBef>
            </a:pPr>
            <a:r>
              <a:rPr lang="en-US" altLang="en-US" sz="4000" dirty="0">
                <a:solidFill>
                  <a:srgbClr val="FF0000"/>
                </a:solidFill>
              </a:rPr>
              <a:t>❖ Naïve Bayes</a:t>
            </a:r>
            <a:endParaRPr lang="en-US" altLang="en-US" sz="4000" dirty="0">
              <a:solidFill>
                <a:srgbClr val="FF0000"/>
              </a:solidFill>
            </a:endParaRPr>
          </a:p>
          <a:p>
            <a:pPr algn="just">
              <a:lnSpc>
                <a:spcPct val="120000"/>
              </a:lnSpc>
              <a:spcBef>
                <a:spcPts val="0"/>
              </a:spcBef>
            </a:pPr>
            <a:endParaRPr lang="en-US" altLang="en-US" sz="4000" dirty="0"/>
          </a:p>
          <a:p>
            <a:pPr algn="just">
              <a:lnSpc>
                <a:spcPct val="120000"/>
              </a:lnSpc>
              <a:spcBef>
                <a:spcPts val="0"/>
              </a:spcBef>
            </a:pPr>
            <a:r>
              <a:rPr lang="en-US" altLang="en-US" sz="4000" dirty="0"/>
              <a:t>These models are trained individually and later combined using an ensemble learning strategy to improve prediction performance.</a:t>
            </a:r>
            <a:endParaRPr lang="en-US" altLang="en-US" sz="4000" dirty="0"/>
          </a:p>
        </p:txBody>
      </p:sp>
      <p:sp>
        <p:nvSpPr>
          <p:cNvPr id="2" name="Title 23"/>
          <p:cNvSpPr txBox="1"/>
          <p:nvPr/>
        </p:nvSpPr>
        <p:spPr>
          <a:xfrm>
            <a:off x="251520" y="548680"/>
            <a:ext cx="8640960" cy="936104"/>
          </a:xfrm>
          <a:prstGeom prst="rect">
            <a:avLst/>
          </a:prstGeom>
        </p:spPr>
        <p:txBody>
          <a:bodyPr vert="horz" lIns="91440" tIns="45720" rIns="91440" bIns="45720" rtlCol="0" anchor="ctr">
            <a:noAutofit/>
          </a:bodyPr>
          <a:lstStyle>
            <a:lvl1pPr algn="r" defTabSz="914400" rtl="0" eaLnBrk="1" latinLnBrk="0" hangingPunct="1">
              <a:spcBef>
                <a:spcPct val="0"/>
              </a:spcBef>
              <a:buNone/>
              <a:defRPr sz="4400" kern="1200">
                <a:solidFill>
                  <a:schemeClr val="accent2">
                    <a:lumMod val="50000"/>
                  </a:schemeClr>
                </a:solidFill>
                <a:latin typeface="+mj-lt"/>
                <a:ea typeface="+mj-ea"/>
                <a:cs typeface="+mj-cs"/>
              </a:defRPr>
            </a:lvl1pPr>
          </a:lstStyle>
          <a:p>
            <a:pPr algn="l"/>
            <a:r>
              <a:rPr lang="en-US" sz="3200" b="1" dirty="0"/>
              <a:t>IV. Methodology</a:t>
            </a:r>
            <a:br>
              <a:rPr lang="en-US" sz="2300" b="1" dirty="0"/>
            </a:br>
            <a:r>
              <a:rPr lang="en-US" altLang="en-US" sz="3200" b="1" dirty="0"/>
              <a:t>Machine Learning Techniques</a:t>
            </a:r>
            <a:endParaRPr lang="en-US" altLang="en-US" sz="3200" b="1" dirty="0"/>
          </a:p>
        </p:txBody>
      </p:sp>
      <p:pic>
        <p:nvPicPr>
          <p:cNvPr id="3" name="Picture 2"/>
          <p:cNvPicPr>
            <a:picLocks noChangeAspect="1"/>
          </p:cNvPicPr>
          <p:nvPr/>
        </p:nvPicPr>
        <p:blipFill>
          <a:blip r:embed="rId1"/>
          <a:stretch>
            <a:fillRect/>
          </a:stretch>
        </p:blipFill>
        <p:spPr>
          <a:xfrm>
            <a:off x="-108520" y="140410"/>
            <a:ext cx="9144000" cy="335840"/>
          </a:xfrm>
          <a:prstGeom prst="rect">
            <a:avLst/>
          </a:prstGeom>
        </p:spPr>
      </p:pic>
      <p:pic>
        <p:nvPicPr>
          <p:cNvPr id="4" name="Picture 3"/>
          <p:cNvPicPr>
            <a:picLocks noChangeAspect="1"/>
          </p:cNvPicPr>
          <p:nvPr/>
        </p:nvPicPr>
        <p:blipFill>
          <a:blip r:embed="rId1"/>
          <a:stretch>
            <a:fillRect/>
          </a:stretch>
        </p:blipFill>
        <p:spPr>
          <a:xfrm>
            <a:off x="0" y="6522160"/>
            <a:ext cx="9144000" cy="335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4294967295"/>
          </p:nvPr>
        </p:nvSpPr>
        <p:spPr>
          <a:xfrm>
            <a:off x="0" y="1484313"/>
            <a:ext cx="8569325" cy="4897437"/>
          </a:xfrm>
          <a:ln>
            <a:solidFill>
              <a:schemeClr val="tx1"/>
            </a:solidFill>
          </a:ln>
        </p:spPr>
        <p:txBody>
          <a:bodyPr>
            <a:normAutofit fontScale="47500" lnSpcReduction="20000"/>
          </a:bodyPr>
          <a:lstStyle/>
          <a:p>
            <a:pPr algn="just">
              <a:lnSpc>
                <a:spcPct val="120000"/>
              </a:lnSpc>
              <a:spcBef>
                <a:spcPts val="0"/>
              </a:spcBef>
            </a:pPr>
            <a:endParaRPr lang="en-US" sz="2200" dirty="0"/>
          </a:p>
          <a:p>
            <a:pPr marL="0" indent="0" algn="ctr">
              <a:lnSpc>
                <a:spcPct val="120000"/>
              </a:lnSpc>
              <a:spcBef>
                <a:spcPts val="0"/>
              </a:spcBef>
              <a:buNone/>
            </a:pPr>
            <a:r>
              <a:rPr lang="en-US" altLang="en-US" sz="7000" dirty="0"/>
              <a:t>Implementation Steps</a:t>
            </a:r>
            <a:endParaRPr lang="en-US" altLang="en-US" sz="7000" dirty="0"/>
          </a:p>
          <a:p>
            <a:pPr algn="just">
              <a:lnSpc>
                <a:spcPct val="120000"/>
              </a:lnSpc>
              <a:spcBef>
                <a:spcPts val="0"/>
              </a:spcBef>
            </a:pPr>
            <a:endParaRPr lang="en-US" altLang="en-US" sz="3600" dirty="0"/>
          </a:p>
          <a:p>
            <a:pPr algn="just">
              <a:lnSpc>
                <a:spcPct val="120000"/>
              </a:lnSpc>
              <a:spcBef>
                <a:spcPts val="0"/>
              </a:spcBef>
            </a:pPr>
            <a:r>
              <a:rPr lang="en-US" altLang="en-US" sz="3600" dirty="0"/>
              <a:t>The proposed system follows these steps:</a:t>
            </a:r>
            <a:endParaRPr lang="en-US" altLang="en-US" sz="3600" dirty="0"/>
          </a:p>
          <a:p>
            <a:pPr algn="just">
              <a:lnSpc>
                <a:spcPct val="120000"/>
              </a:lnSpc>
              <a:spcBef>
                <a:spcPts val="0"/>
              </a:spcBef>
            </a:pPr>
            <a:endParaRPr lang="en-US" altLang="en-US" sz="3600" dirty="0"/>
          </a:p>
          <a:p>
            <a:pPr algn="just">
              <a:lnSpc>
                <a:spcPct val="120000"/>
              </a:lnSpc>
              <a:spcBef>
                <a:spcPts val="0"/>
              </a:spcBef>
            </a:pPr>
            <a:r>
              <a:rPr lang="en-US" altLang="en-US" sz="3600" dirty="0"/>
              <a:t>Import the spectrum dataset</a:t>
            </a:r>
            <a:endParaRPr lang="en-US" altLang="en-US" sz="3600" dirty="0"/>
          </a:p>
          <a:p>
            <a:pPr algn="just">
              <a:lnSpc>
                <a:spcPct val="120000"/>
              </a:lnSpc>
              <a:spcBef>
                <a:spcPts val="0"/>
              </a:spcBef>
            </a:pPr>
            <a:endParaRPr lang="en-US" altLang="en-US" sz="3600" dirty="0"/>
          </a:p>
          <a:p>
            <a:pPr algn="just">
              <a:lnSpc>
                <a:spcPct val="120000"/>
              </a:lnSpc>
              <a:spcBef>
                <a:spcPts val="0"/>
              </a:spcBef>
            </a:pPr>
            <a:r>
              <a:rPr lang="en-US" altLang="en-US" sz="3600" dirty="0"/>
              <a:t>Perform data preprocessing and cleaning</a:t>
            </a:r>
            <a:endParaRPr lang="en-US" altLang="en-US" sz="3600" dirty="0"/>
          </a:p>
          <a:p>
            <a:pPr algn="just">
              <a:lnSpc>
                <a:spcPct val="120000"/>
              </a:lnSpc>
              <a:spcBef>
                <a:spcPts val="0"/>
              </a:spcBef>
            </a:pPr>
            <a:endParaRPr lang="en-US" altLang="en-US" sz="3600" dirty="0"/>
          </a:p>
          <a:p>
            <a:pPr algn="just">
              <a:lnSpc>
                <a:spcPct val="120000"/>
              </a:lnSpc>
              <a:spcBef>
                <a:spcPts val="0"/>
              </a:spcBef>
            </a:pPr>
            <a:r>
              <a:rPr lang="en-US" altLang="en-US" sz="3600" dirty="0"/>
              <a:t>Normalize and transform the dataset</a:t>
            </a:r>
            <a:endParaRPr lang="en-US" altLang="en-US" sz="3600" dirty="0"/>
          </a:p>
          <a:p>
            <a:pPr algn="just">
              <a:lnSpc>
                <a:spcPct val="120000"/>
              </a:lnSpc>
              <a:spcBef>
                <a:spcPts val="0"/>
              </a:spcBef>
            </a:pPr>
            <a:endParaRPr lang="en-US" altLang="en-US" sz="3600" dirty="0"/>
          </a:p>
          <a:p>
            <a:pPr algn="just">
              <a:lnSpc>
                <a:spcPct val="120000"/>
              </a:lnSpc>
              <a:spcBef>
                <a:spcPts val="0"/>
              </a:spcBef>
            </a:pPr>
            <a:r>
              <a:rPr lang="en-US" altLang="en-US" sz="3600" dirty="0"/>
              <a:t>Split the dataset into training and testing sets</a:t>
            </a:r>
            <a:endParaRPr lang="en-US" altLang="en-US" sz="3600" dirty="0"/>
          </a:p>
          <a:p>
            <a:pPr algn="just">
              <a:lnSpc>
                <a:spcPct val="120000"/>
              </a:lnSpc>
              <a:spcBef>
                <a:spcPts val="0"/>
              </a:spcBef>
            </a:pPr>
            <a:endParaRPr lang="en-US" altLang="en-US" sz="3600" dirty="0"/>
          </a:p>
          <a:p>
            <a:pPr algn="just">
              <a:lnSpc>
                <a:spcPct val="120000"/>
              </a:lnSpc>
              <a:spcBef>
                <a:spcPts val="0"/>
              </a:spcBef>
            </a:pPr>
            <a:r>
              <a:rPr lang="en-US" altLang="en-US" sz="3600" dirty="0"/>
              <a:t>Train individual machine learning models</a:t>
            </a:r>
            <a:endParaRPr lang="en-US" altLang="en-US" sz="3600" dirty="0"/>
          </a:p>
          <a:p>
            <a:pPr algn="just">
              <a:lnSpc>
                <a:spcPct val="120000"/>
              </a:lnSpc>
              <a:spcBef>
                <a:spcPts val="0"/>
              </a:spcBef>
            </a:pPr>
            <a:endParaRPr lang="en-US" altLang="en-US" sz="3600" dirty="0"/>
          </a:p>
          <a:p>
            <a:pPr algn="just">
              <a:lnSpc>
                <a:spcPct val="120000"/>
              </a:lnSpc>
              <a:spcBef>
                <a:spcPts val="0"/>
              </a:spcBef>
            </a:pPr>
            <a:r>
              <a:rPr lang="en-US" altLang="en-US" sz="3600" dirty="0"/>
              <a:t>Combine model outputs using ensemble learning</a:t>
            </a:r>
            <a:endParaRPr lang="en-US" altLang="en-US" sz="3600" dirty="0"/>
          </a:p>
          <a:p>
            <a:pPr algn="just">
              <a:lnSpc>
                <a:spcPct val="120000"/>
              </a:lnSpc>
              <a:spcBef>
                <a:spcPts val="0"/>
              </a:spcBef>
            </a:pPr>
            <a:endParaRPr lang="en-US" altLang="en-US" sz="3600" dirty="0"/>
          </a:p>
          <a:p>
            <a:pPr algn="just">
              <a:lnSpc>
                <a:spcPct val="120000"/>
              </a:lnSpc>
              <a:spcBef>
                <a:spcPts val="0"/>
              </a:spcBef>
            </a:pPr>
            <a:r>
              <a:rPr lang="en-US" altLang="en-US" sz="3600" dirty="0"/>
              <a:t>Evaluate the model performance</a:t>
            </a:r>
            <a:endParaRPr lang="en-US" altLang="en-US" sz="3600" dirty="0"/>
          </a:p>
        </p:txBody>
      </p:sp>
      <p:sp>
        <p:nvSpPr>
          <p:cNvPr id="2" name="Title 23"/>
          <p:cNvSpPr txBox="1"/>
          <p:nvPr/>
        </p:nvSpPr>
        <p:spPr>
          <a:xfrm>
            <a:off x="251520" y="548680"/>
            <a:ext cx="8640960" cy="936104"/>
          </a:xfrm>
          <a:prstGeom prst="rect">
            <a:avLst/>
          </a:prstGeom>
        </p:spPr>
        <p:txBody>
          <a:bodyPr vert="horz" lIns="91440" tIns="45720" rIns="91440" bIns="45720" rtlCol="0" anchor="ctr">
            <a:noAutofit/>
          </a:bodyPr>
          <a:lstStyle>
            <a:lvl1pPr algn="r" defTabSz="914400" rtl="0" eaLnBrk="1" latinLnBrk="0" hangingPunct="1">
              <a:spcBef>
                <a:spcPct val="0"/>
              </a:spcBef>
              <a:buNone/>
              <a:defRPr sz="4400" kern="1200">
                <a:solidFill>
                  <a:schemeClr val="accent2">
                    <a:lumMod val="50000"/>
                  </a:schemeClr>
                </a:solidFill>
                <a:latin typeface="+mj-lt"/>
                <a:ea typeface="+mj-ea"/>
                <a:cs typeface="+mj-cs"/>
              </a:defRPr>
            </a:lvl1pPr>
          </a:lstStyle>
          <a:p>
            <a:pPr algn="l"/>
            <a:r>
              <a:rPr lang="en-US" sz="3200" b="1" dirty="0"/>
              <a:t>IV. Methodology </a:t>
            </a:r>
            <a:br>
              <a:rPr lang="en-US" sz="2300" b="1" dirty="0"/>
            </a:br>
            <a:r>
              <a:rPr lang="en-US" sz="2300" b="1" dirty="0"/>
              <a:t>  -  </a:t>
            </a:r>
            <a:r>
              <a:rPr lang="en-US" sz="2300" b="1" i="1" dirty="0">
                <a:solidFill>
                  <a:srgbClr val="0000FF"/>
                </a:solidFill>
                <a:latin typeface="+mj-lt"/>
                <a:ea typeface="Calibri" panose="020F0502020204030204" pitchFamily="34" charset="0"/>
                <a:cs typeface="Calibri" panose="020F0502020204030204" pitchFamily="34" charset="0"/>
              </a:rPr>
              <a:t>Principal Component Analysis – </a:t>
            </a:r>
            <a:r>
              <a:rPr lang="en-US" sz="2300" b="1" i="1" dirty="0">
                <a:solidFill>
                  <a:srgbClr val="FF0066"/>
                </a:solidFill>
                <a:latin typeface="+mj-lt"/>
                <a:ea typeface="Calibri" panose="020F0502020204030204" pitchFamily="34" charset="0"/>
                <a:cs typeface="Calibri" panose="020F0502020204030204" pitchFamily="34" charset="0"/>
              </a:rPr>
              <a:t>A Statistical Technique </a:t>
            </a:r>
            <a:r>
              <a:rPr lang="en-US" sz="2300" b="1" i="1" dirty="0">
                <a:solidFill>
                  <a:schemeClr val="tx1"/>
                </a:solidFill>
                <a:latin typeface="+mj-lt"/>
                <a:ea typeface="Calibri" panose="020F0502020204030204" pitchFamily="34" charset="0"/>
                <a:cs typeface="Calibri" panose="020F0502020204030204" pitchFamily="34" charset="0"/>
              </a:rPr>
              <a:t>(Contd.,)</a:t>
            </a:r>
            <a:endParaRPr lang="en-IN" sz="3200" b="1" dirty="0">
              <a:solidFill>
                <a:schemeClr val="tx1"/>
              </a:solidFill>
            </a:endParaRPr>
          </a:p>
        </p:txBody>
      </p:sp>
      <p:pic>
        <p:nvPicPr>
          <p:cNvPr id="3" name="Picture 2"/>
          <p:cNvPicPr>
            <a:picLocks noChangeAspect="1"/>
          </p:cNvPicPr>
          <p:nvPr/>
        </p:nvPicPr>
        <p:blipFill>
          <a:blip r:embed="rId1"/>
          <a:stretch>
            <a:fillRect/>
          </a:stretch>
        </p:blipFill>
        <p:spPr>
          <a:xfrm>
            <a:off x="0" y="6514160"/>
            <a:ext cx="9144000" cy="335840"/>
          </a:xfrm>
          <a:prstGeom prst="rect">
            <a:avLst/>
          </a:prstGeom>
        </p:spPr>
      </p:pic>
      <p:pic>
        <p:nvPicPr>
          <p:cNvPr id="4" name="Picture 3"/>
          <p:cNvPicPr>
            <a:picLocks noChangeAspect="1"/>
          </p:cNvPicPr>
          <p:nvPr/>
        </p:nvPicPr>
        <p:blipFill>
          <a:blip r:embed="rId1"/>
          <a:stretch>
            <a:fillRect/>
          </a:stretch>
        </p:blipFill>
        <p:spPr>
          <a:xfrm>
            <a:off x="0" y="140410"/>
            <a:ext cx="9144000" cy="335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601663"/>
            <a:ext cx="8734425" cy="508000"/>
          </a:xfrm>
        </p:spPr>
        <p:txBody>
          <a:bodyPr>
            <a:noAutofit/>
          </a:bodyPr>
          <a:lstStyle>
            <a:lvl1pPr algn="r">
              <a:defRPr>
                <a:solidFill>
                  <a:schemeClr val="accent2">
                    <a:lumMod val="50000"/>
                  </a:schemeClr>
                </a:solidFill>
              </a:defRPr>
            </a:lvl1pPr>
          </a:lstStyle>
          <a:p>
            <a:pPr algn="l"/>
            <a:r>
              <a:rPr lang="en-US" sz="3200" b="1" dirty="0"/>
              <a:t>V. Implementation Detail</a:t>
            </a:r>
            <a:endParaRPr lang="en-IN" sz="3200" b="1" dirty="0"/>
          </a:p>
        </p:txBody>
      </p:sp>
      <p:sp>
        <p:nvSpPr>
          <p:cNvPr id="5" name="Title 23"/>
          <p:cNvSpPr txBox="1"/>
          <p:nvPr/>
        </p:nvSpPr>
        <p:spPr>
          <a:xfrm>
            <a:off x="251520" y="1484784"/>
            <a:ext cx="5040560" cy="792088"/>
          </a:xfrm>
          <a:prstGeom prst="rect">
            <a:avLst/>
          </a:prstGeom>
          <a:ln>
            <a:solidFill>
              <a:schemeClr val="tx1"/>
            </a:solidFill>
          </a:ln>
        </p:spPr>
        <p:txBody>
          <a:bodyPr vert="horz" lIns="91440" tIns="45720" rIns="91440" bIns="45720" rtlCol="0" anchor="ctr">
            <a:noAutofit/>
          </a:bodyPr>
          <a:lstStyle>
            <a:lvl1pPr algn="r" defTabSz="914400" rtl="0" eaLnBrk="1" latinLnBrk="0" hangingPunct="1">
              <a:spcBef>
                <a:spcPct val="0"/>
              </a:spcBef>
              <a:buNone/>
              <a:defRPr sz="4400" kern="1200">
                <a:solidFill>
                  <a:schemeClr val="accent2">
                    <a:lumMod val="50000"/>
                  </a:schemeClr>
                </a:solidFill>
                <a:latin typeface="+mj-lt"/>
                <a:ea typeface="+mj-ea"/>
                <a:cs typeface="+mj-cs"/>
              </a:defRPr>
            </a:lvl1pPr>
          </a:lstStyle>
          <a:p>
            <a:pPr algn="ctr"/>
            <a:r>
              <a:rPr lang="en-US" sz="1800" b="1" cap="small" dirty="0">
                <a:solidFill>
                  <a:srgbClr val="0000FF"/>
                </a:solidFill>
                <a:effectLst/>
                <a:ea typeface="Times New Roman" panose="02020603050405020304" pitchFamily="18" charset="0"/>
              </a:rPr>
              <a:t>TABLE </a:t>
            </a:r>
            <a:r>
              <a:rPr lang="en-US" sz="1800" b="1" cap="small" dirty="0">
                <a:solidFill>
                  <a:srgbClr val="0000FF"/>
                </a:solidFill>
                <a:ea typeface="Times New Roman" panose="02020603050405020304" pitchFamily="18" charset="0"/>
              </a:rPr>
              <a:t>V</a:t>
            </a:r>
            <a:r>
              <a:rPr lang="en-US" sz="1800" b="1" cap="small" dirty="0">
                <a:solidFill>
                  <a:srgbClr val="0000FF"/>
                </a:solidFill>
                <a:effectLst/>
                <a:ea typeface="Times New Roman" panose="02020603050405020304" pitchFamily="18" charset="0"/>
              </a:rPr>
              <a:t>.</a:t>
            </a:r>
            <a:r>
              <a:rPr lang="en-US" sz="1800" cap="small" dirty="0">
                <a:solidFill>
                  <a:srgbClr val="0000FF"/>
                </a:solidFill>
                <a:effectLst/>
                <a:ea typeface="Times New Roman" panose="02020603050405020304" pitchFamily="18" charset="0"/>
              </a:rPr>
              <a:t> </a:t>
            </a:r>
            <a:endParaRPr lang="en-IN" sz="1800" dirty="0">
              <a:solidFill>
                <a:srgbClr val="0000FF"/>
              </a:solidFill>
              <a:effectLst/>
              <a:ea typeface="Times New Roman" panose="02020603050405020304" pitchFamily="18" charset="0"/>
            </a:endParaRPr>
          </a:p>
          <a:p>
            <a:pPr algn="ctr"/>
            <a:r>
              <a:rPr lang="en-US" altLang="en-US" sz="1600" cap="small" dirty="0">
                <a:effectLst/>
                <a:ea typeface="Times New Roman" panose="02020603050405020304" pitchFamily="18" charset="0"/>
              </a:rPr>
              <a:t>Dataset Distribution and Train–Test Split</a:t>
            </a:r>
            <a:r>
              <a:rPr lang="en-US" sz="1600" cap="small" dirty="0">
                <a:effectLst/>
                <a:ea typeface="Times New Roman" panose="02020603050405020304" pitchFamily="18" charset="0"/>
              </a:rPr>
              <a:t> </a:t>
            </a:r>
            <a:endParaRPr lang="en-IN" sz="1600" b="1" dirty="0">
              <a:effectLst/>
              <a:ea typeface="Times New Roman" panose="02020603050405020304" pitchFamily="18" charset="0"/>
            </a:endParaRPr>
          </a:p>
        </p:txBody>
      </p:sp>
      <p:graphicFrame>
        <p:nvGraphicFramePr>
          <p:cNvPr id="6" name="Table 5"/>
          <p:cNvGraphicFramePr>
            <a:graphicFrameLocks noGrp="1"/>
          </p:cNvGraphicFramePr>
          <p:nvPr/>
        </p:nvGraphicFramePr>
        <p:xfrm>
          <a:off x="251520" y="2348880"/>
          <a:ext cx="3263619" cy="2880816"/>
        </p:xfrm>
        <a:graphic>
          <a:graphicData uri="http://schemas.openxmlformats.org/drawingml/2006/table">
            <a:tbl>
              <a:tblPr firstRow="1" firstCol="1" bandRow="1">
                <a:tableStyleId>{BDBED569-4797-4DF1-A0F4-6AAB3CD982D8}</a:tableStyleId>
              </a:tblPr>
              <a:tblGrid>
                <a:gridCol w="716148"/>
                <a:gridCol w="514985"/>
                <a:gridCol w="564366"/>
                <a:gridCol w="1468120"/>
              </a:tblGrid>
              <a:tr h="342900">
                <a:tc>
                  <a:txBody>
                    <a:bodyPr/>
                    <a:lstStyle/>
                    <a:p>
                      <a:pPr algn="ctr"/>
                      <a:r>
                        <a:rPr lang="en-US" sz="1000" dirty="0">
                          <a:effectLst/>
                          <a:latin typeface="+mj-lt"/>
                        </a:rPr>
                        <a:t>Dataset</a:t>
                      </a:r>
                      <a:endParaRPr lang="en-IN" sz="1000" dirty="0">
                        <a:effectLst/>
                        <a:latin typeface="+mj-lt"/>
                      </a:endParaRPr>
                    </a:p>
                    <a:p>
                      <a:pPr algn="ctr"/>
                      <a:r>
                        <a:rPr lang="en-US" sz="1000" dirty="0">
                          <a:effectLst/>
                          <a:latin typeface="+mj-lt"/>
                        </a:rPr>
                        <a:t> Used</a:t>
                      </a:r>
                      <a:endParaRPr lang="en-IN" sz="1000" b="1" dirty="0">
                        <a:effectLst/>
                        <a:latin typeface="+mj-lt"/>
                        <a:ea typeface="Times New Roman" panose="02020603050405020304" pitchFamily="18" charset="0"/>
                      </a:endParaRPr>
                    </a:p>
                  </a:txBody>
                  <a:tcPr marL="28575" marR="28575" marT="19050" marB="19050" anchor="ctr"/>
                </a:tc>
                <a:tc gridSpan="3">
                  <a:txBody>
                    <a:bodyPr/>
                    <a:lstStyle/>
                    <a:p>
                      <a:pPr algn="ctr"/>
                      <a:r>
                        <a:rPr lang="en-US" altLang="en-US" sz="1100"/>
                        <a:t>Cognitive Radio Spectrum Dataset</a:t>
                      </a:r>
                      <a:endParaRPr lang="en-US" altLang="en-US" sz="1100"/>
                    </a:p>
                  </a:txBody>
                  <a:tcPr marL="0" marR="0" marT="0" marB="0" anchor="ctr"/>
                </a:tc>
                <a:tc hMerge="1">
                  <a:tcPr/>
                </a:tc>
                <a:tc hMerge="1">
                  <a:tcPr/>
                </a:tc>
              </a:tr>
              <a:tr h="510654">
                <a:tc>
                  <a:txBody>
                    <a:bodyPr/>
                    <a:lstStyle/>
                    <a:p>
                      <a:pPr algn="ctr"/>
                      <a:r>
                        <a:rPr lang="en-US" altLang="en-US" sz="1000" dirty="0">
                          <a:effectLst/>
                          <a:latin typeface="+mj-lt"/>
                          <a:ea typeface="Times New Roman" panose="02020603050405020304" pitchFamily="18" charset="0"/>
                        </a:rPr>
                        <a:t>Dataset Preparation</a:t>
                      </a:r>
                      <a:endParaRPr lang="en-US" altLang="en-US" sz="1000" dirty="0">
                        <a:effectLst/>
                        <a:latin typeface="+mj-lt"/>
                        <a:ea typeface="Times New Roman" panose="02020603050405020304" pitchFamily="18" charset="0"/>
                      </a:endParaRPr>
                    </a:p>
                  </a:txBody>
                  <a:tcPr marL="28575" marR="28575" marT="19050" marB="19050" anchor="b"/>
                </a:tc>
                <a:tc gridSpan="3">
                  <a:txBody>
                    <a:bodyPr/>
                    <a:lstStyle/>
                    <a:p>
                      <a:pPr algn="ctr"/>
                      <a:r>
                        <a:rPr lang="en-IN" sz="1200" b="1" i="1" dirty="0">
                          <a:effectLst/>
                          <a:latin typeface="+mj-lt"/>
                          <a:ea typeface="Times New Roman" panose="02020603050405020304" pitchFamily="18" charset="0"/>
                        </a:rPr>
                        <a:t>normalized dataset</a:t>
                      </a:r>
                      <a:endParaRPr lang="en-IN" sz="1200" b="1" i="1" dirty="0">
                        <a:effectLst/>
                        <a:latin typeface="+mj-lt"/>
                        <a:ea typeface="Times New Roman" panose="02020603050405020304" pitchFamily="18" charset="0"/>
                      </a:endParaRPr>
                    </a:p>
                  </a:txBody>
                  <a:tcPr marL="28575" marR="28575" marT="19050" marB="19050" anchor="ctr"/>
                </a:tc>
                <a:tc hMerge="1">
                  <a:tcPr/>
                </a:tc>
                <a:tc hMerge="1">
                  <a:tcPr/>
                </a:tc>
              </a:tr>
              <a:tr h="441802">
                <a:tc>
                  <a:txBody>
                    <a:bodyPr/>
                    <a:lstStyle/>
                    <a:p>
                      <a:pPr algn="ctr"/>
                      <a:r>
                        <a:rPr lang="en-IN" altLang="en-US" sz="1000">
                          <a:effectLst/>
                          <a:latin typeface="+mj-lt"/>
                        </a:rPr>
                        <a:t>class </a:t>
                      </a:r>
                      <a:r>
                        <a:rPr lang="en-US" sz="1000">
                          <a:effectLst/>
                          <a:latin typeface="+mj-lt"/>
                        </a:rPr>
                        <a:t>Types</a:t>
                      </a:r>
                      <a:endParaRPr lang="en-IN" sz="1000">
                        <a:effectLst/>
                        <a:latin typeface="+mj-lt"/>
                        <a:ea typeface="Times New Roman" panose="02020603050405020304" pitchFamily="18" charset="0"/>
                      </a:endParaRPr>
                    </a:p>
                  </a:txBody>
                  <a:tcPr marL="28575" marR="28575" marT="19050" marB="19050" anchor="ctr"/>
                </a:tc>
                <a:tc>
                  <a:txBody>
                    <a:bodyPr/>
                    <a:lstStyle/>
                    <a:p>
                      <a:pPr algn="ctr"/>
                      <a:r>
                        <a:rPr lang="en-IN" sz="1000" dirty="0">
                          <a:effectLst/>
                          <a:latin typeface="+mj-lt"/>
                        </a:rPr>
                        <a:t>idle channel(0)</a:t>
                      </a:r>
                      <a:endParaRPr lang="en-IN" sz="1000" dirty="0">
                        <a:effectLst/>
                        <a:latin typeface="+mj-lt"/>
                        <a:ea typeface="Times New Roman" panose="02020603050405020304" pitchFamily="18" charset="0"/>
                      </a:endParaRPr>
                    </a:p>
                  </a:txBody>
                  <a:tcPr marL="28575" marR="28575" marT="19050" marB="19050" anchor="ctr"/>
                </a:tc>
                <a:tc>
                  <a:txBody>
                    <a:bodyPr/>
                    <a:lstStyle/>
                    <a:p>
                      <a:pPr algn="ctr"/>
                      <a:r>
                        <a:rPr lang="en-US" altLang="en-US" sz="1000" dirty="0">
                          <a:effectLst/>
                          <a:latin typeface="+mj-lt"/>
                          <a:ea typeface="Times New Roman" panose="02020603050405020304" pitchFamily="18" charset="0"/>
                        </a:rPr>
                        <a:t>Occupied Channel (1)</a:t>
                      </a:r>
                      <a:endParaRPr lang="en-US" altLang="en-US" sz="1000" dirty="0">
                        <a:effectLst/>
                        <a:latin typeface="+mj-lt"/>
                        <a:ea typeface="Times New Roman" panose="02020603050405020304" pitchFamily="18" charset="0"/>
                      </a:endParaRPr>
                    </a:p>
                  </a:txBody>
                  <a:tcPr marL="28575" marR="28575" marT="19050" marB="19050" anchor="ctr"/>
                </a:tc>
                <a:tc>
                  <a:txBody>
                    <a:bodyPr/>
                    <a:lstStyle/>
                    <a:p>
                      <a:pPr algn="ctr"/>
                      <a:r>
                        <a:rPr lang="en-US" sz="1000" b="1" dirty="0">
                          <a:effectLst/>
                          <a:latin typeface="+mj-lt"/>
                        </a:rPr>
                        <a:t>Total Records</a:t>
                      </a:r>
                      <a:endParaRPr lang="en-IN" sz="1000" b="1" dirty="0">
                        <a:effectLst/>
                        <a:latin typeface="+mj-lt"/>
                        <a:ea typeface="Times New Roman" panose="02020603050405020304" pitchFamily="18" charset="0"/>
                      </a:endParaRPr>
                    </a:p>
                  </a:txBody>
                  <a:tcPr marL="28575" marR="28575" marT="19050" marB="19050" anchor="ctr"/>
                </a:tc>
              </a:tr>
              <a:tr h="510654">
                <a:tc>
                  <a:txBody>
                    <a:bodyPr/>
                    <a:lstStyle/>
                    <a:p>
                      <a:pPr algn="ctr"/>
                      <a:r>
                        <a:rPr lang="en-US" sz="1000">
                          <a:effectLst/>
                          <a:latin typeface="+mj-lt"/>
                        </a:rPr>
                        <a:t>Training </a:t>
                      </a:r>
                      <a:br>
                        <a:rPr lang="en-US" sz="1000">
                          <a:effectLst/>
                          <a:latin typeface="+mj-lt"/>
                        </a:rPr>
                      </a:br>
                      <a:r>
                        <a:rPr lang="en-US" sz="1000">
                          <a:effectLst/>
                          <a:latin typeface="+mj-lt"/>
                        </a:rPr>
                        <a:t>Samples</a:t>
                      </a:r>
                      <a:br>
                        <a:rPr lang="en-US" sz="1000">
                          <a:effectLst/>
                          <a:latin typeface="+mj-lt"/>
                        </a:rPr>
                      </a:br>
                      <a:r>
                        <a:rPr lang="en-US" sz="1000">
                          <a:effectLst/>
                          <a:latin typeface="+mj-lt"/>
                        </a:rPr>
                        <a:t>(1)</a:t>
                      </a:r>
                      <a:endParaRPr lang="en-IN" sz="1000">
                        <a:effectLst/>
                        <a:latin typeface="+mj-lt"/>
                        <a:ea typeface="Times New Roman" panose="02020603050405020304" pitchFamily="18" charset="0"/>
                      </a:endParaRPr>
                    </a:p>
                  </a:txBody>
                  <a:tcPr marL="28575" marR="28575" marT="19050" marB="19050" anchor="b"/>
                </a:tc>
                <a:tc>
                  <a:txBody>
                    <a:bodyPr/>
                    <a:lstStyle/>
                    <a:p>
                      <a:pPr algn="ctr"/>
                      <a:r>
                        <a:rPr lang="en-IN" altLang="en-US" sz="1000" dirty="0">
                          <a:effectLst/>
                          <a:latin typeface="+mj-lt"/>
                          <a:ea typeface="Times New Roman" panose="02020603050405020304" pitchFamily="18" charset="0"/>
                        </a:rPr>
                        <a:t>1299</a:t>
                      </a:r>
                      <a:endParaRPr lang="en-IN" altLang="en-US" sz="1000" dirty="0">
                        <a:effectLst/>
                        <a:latin typeface="+mj-lt"/>
                        <a:ea typeface="Times New Roman" panose="02020603050405020304" pitchFamily="18" charset="0"/>
                      </a:endParaRPr>
                    </a:p>
                  </a:txBody>
                  <a:tcPr marL="28575" marR="28575" marT="19050" marB="19050" anchor="ctr"/>
                </a:tc>
                <a:tc>
                  <a:txBody>
                    <a:bodyPr/>
                    <a:lstStyle/>
                    <a:p>
                      <a:pPr algn="ctr"/>
                      <a:r>
                        <a:rPr lang="en-IN" altLang="en-US" sz="1000" dirty="0">
                          <a:effectLst/>
                          <a:latin typeface="+mj-lt"/>
                          <a:ea typeface="Times New Roman" panose="02020603050405020304" pitchFamily="18" charset="0"/>
                        </a:rPr>
                        <a:t>6701</a:t>
                      </a:r>
                      <a:endParaRPr lang="en-IN" altLang="en-US" sz="1000" dirty="0">
                        <a:effectLst/>
                        <a:latin typeface="+mj-lt"/>
                        <a:ea typeface="Times New Roman" panose="02020603050405020304" pitchFamily="18" charset="0"/>
                      </a:endParaRPr>
                    </a:p>
                  </a:txBody>
                  <a:tcPr marL="28575" marR="28575" marT="19050" marB="19050" anchor="ctr"/>
                </a:tc>
                <a:tc>
                  <a:txBody>
                    <a:bodyPr/>
                    <a:lstStyle/>
                    <a:p>
                      <a:pPr algn="ctr"/>
                      <a:r>
                        <a:rPr lang="en-IN" altLang="en-US" sz="1000" dirty="0">
                          <a:effectLst/>
                          <a:latin typeface="+mj-lt"/>
                          <a:ea typeface="Times New Roman" panose="02020603050405020304" pitchFamily="18" charset="0"/>
                        </a:rPr>
                        <a:t>8000</a:t>
                      </a:r>
                      <a:endParaRPr lang="en-IN" altLang="en-US" sz="1000" dirty="0">
                        <a:effectLst/>
                        <a:latin typeface="+mj-lt"/>
                        <a:ea typeface="Times New Roman" panose="02020603050405020304" pitchFamily="18" charset="0"/>
                      </a:endParaRPr>
                    </a:p>
                  </a:txBody>
                  <a:tcPr marL="28575" marR="28575" marT="19050" marB="19050" anchor="ctr"/>
                </a:tc>
              </a:tr>
              <a:tr h="510654">
                <a:tc>
                  <a:txBody>
                    <a:bodyPr/>
                    <a:lstStyle/>
                    <a:p>
                      <a:pPr algn="ctr"/>
                      <a:r>
                        <a:rPr lang="en-US" sz="1000">
                          <a:effectLst/>
                          <a:latin typeface="+mj-lt"/>
                        </a:rPr>
                        <a:t>Testing</a:t>
                      </a:r>
                      <a:br>
                        <a:rPr lang="en-US" sz="1000">
                          <a:effectLst/>
                          <a:latin typeface="+mj-lt"/>
                        </a:rPr>
                      </a:br>
                      <a:r>
                        <a:rPr lang="en-US" sz="1000">
                          <a:effectLst/>
                          <a:latin typeface="+mj-lt"/>
                        </a:rPr>
                        <a:t>Samples</a:t>
                      </a:r>
                      <a:br>
                        <a:rPr lang="en-US" sz="1000">
                          <a:effectLst/>
                          <a:latin typeface="+mj-lt"/>
                        </a:rPr>
                      </a:br>
                      <a:r>
                        <a:rPr lang="en-US" sz="1000">
                          <a:effectLst/>
                          <a:latin typeface="+mj-lt"/>
                        </a:rPr>
                        <a:t>(2)</a:t>
                      </a:r>
                      <a:endParaRPr lang="en-IN" sz="1000">
                        <a:effectLst/>
                        <a:latin typeface="+mj-lt"/>
                        <a:ea typeface="Times New Roman" panose="02020603050405020304" pitchFamily="18" charset="0"/>
                      </a:endParaRPr>
                    </a:p>
                  </a:txBody>
                  <a:tcPr marL="28575" marR="28575" marT="19050" marB="19050" anchor="b"/>
                </a:tc>
                <a:tc>
                  <a:txBody>
                    <a:bodyPr/>
                    <a:lstStyle/>
                    <a:p>
                      <a:pPr algn="ctr"/>
                      <a:r>
                        <a:rPr lang="en-IN" altLang="en-US" sz="1000" dirty="0">
                          <a:effectLst/>
                          <a:latin typeface="+mj-lt"/>
                          <a:ea typeface="Times New Roman" panose="02020603050405020304" pitchFamily="18" charset="0"/>
                        </a:rPr>
                        <a:t>325</a:t>
                      </a:r>
                      <a:endParaRPr lang="en-IN" altLang="en-US" sz="1000" dirty="0">
                        <a:effectLst/>
                        <a:latin typeface="+mj-lt"/>
                        <a:ea typeface="Times New Roman" panose="02020603050405020304" pitchFamily="18" charset="0"/>
                      </a:endParaRPr>
                    </a:p>
                  </a:txBody>
                  <a:tcPr marL="28575" marR="28575" marT="19050" marB="19050" anchor="ctr"/>
                </a:tc>
                <a:tc>
                  <a:txBody>
                    <a:bodyPr/>
                    <a:lstStyle/>
                    <a:p>
                      <a:pPr algn="ctr"/>
                      <a:r>
                        <a:rPr lang="en-IN" sz="1000" dirty="0">
                          <a:effectLst/>
                          <a:latin typeface="+mj-lt"/>
                          <a:ea typeface="Times New Roman" panose="02020603050405020304" pitchFamily="18" charset="0"/>
                        </a:rPr>
                        <a:t>1675</a:t>
                      </a:r>
                      <a:endParaRPr lang="en-IN" sz="1000" dirty="0">
                        <a:effectLst/>
                        <a:latin typeface="+mj-lt"/>
                        <a:ea typeface="Times New Roman" panose="02020603050405020304" pitchFamily="18" charset="0"/>
                      </a:endParaRPr>
                    </a:p>
                  </a:txBody>
                  <a:tcPr marL="28575" marR="28575" marT="19050" marB="19050" anchor="ctr"/>
                </a:tc>
                <a:tc>
                  <a:txBody>
                    <a:bodyPr/>
                    <a:lstStyle/>
                    <a:p>
                      <a:pPr algn="ctr"/>
                      <a:r>
                        <a:rPr lang="en-IN" altLang="en-US" sz="1000" dirty="0">
                          <a:effectLst/>
                          <a:latin typeface="+mj-lt"/>
                        </a:rPr>
                        <a:t>2000</a:t>
                      </a:r>
                      <a:endParaRPr lang="en-IN" altLang="en-US" sz="1000" dirty="0">
                        <a:effectLst/>
                        <a:latin typeface="+mj-lt"/>
                        <a:ea typeface="Times New Roman" panose="02020603050405020304" pitchFamily="18" charset="0"/>
                      </a:endParaRPr>
                    </a:p>
                  </a:txBody>
                  <a:tcPr marL="28575" marR="28575" marT="19050" marB="19050" anchor="ctr"/>
                </a:tc>
              </a:tr>
              <a:tr h="510654">
                <a:tc>
                  <a:txBody>
                    <a:bodyPr/>
                    <a:lstStyle/>
                    <a:p>
                      <a:pPr algn="ctr"/>
                      <a:r>
                        <a:rPr lang="en-US" sz="1000">
                          <a:effectLst/>
                          <a:latin typeface="+mj-lt"/>
                        </a:rPr>
                        <a:t>No. of records</a:t>
                      </a:r>
                      <a:br>
                        <a:rPr lang="en-US" sz="1000">
                          <a:effectLst/>
                          <a:latin typeface="+mj-lt"/>
                        </a:rPr>
                      </a:br>
                      <a:r>
                        <a:rPr lang="en-US" sz="1000">
                          <a:effectLst/>
                          <a:latin typeface="+mj-lt"/>
                        </a:rPr>
                        <a:t>(1+2)</a:t>
                      </a:r>
                      <a:endParaRPr lang="en-IN" sz="1000">
                        <a:effectLst/>
                        <a:latin typeface="+mj-lt"/>
                        <a:ea typeface="Times New Roman" panose="02020603050405020304" pitchFamily="18" charset="0"/>
                      </a:endParaRPr>
                    </a:p>
                  </a:txBody>
                  <a:tcPr marL="28575" marR="28575" marT="19050" marB="19050" anchor="b"/>
                </a:tc>
                <a:tc>
                  <a:txBody>
                    <a:bodyPr/>
                    <a:lstStyle/>
                    <a:p>
                      <a:pPr algn="ctr"/>
                      <a:r>
                        <a:rPr lang="en-IN" altLang="en-US" sz="1000" dirty="0">
                          <a:effectLst/>
                          <a:latin typeface="+mj-lt"/>
                          <a:ea typeface="Times New Roman" panose="02020603050405020304" pitchFamily="18" charset="0"/>
                        </a:rPr>
                        <a:t>1624</a:t>
                      </a:r>
                      <a:endParaRPr lang="en-IN" altLang="en-US" sz="1000" dirty="0">
                        <a:effectLst/>
                        <a:latin typeface="+mj-lt"/>
                        <a:ea typeface="Times New Roman" panose="02020603050405020304" pitchFamily="18" charset="0"/>
                      </a:endParaRPr>
                    </a:p>
                  </a:txBody>
                  <a:tcPr marL="28575" marR="28575" marT="19050" marB="19050" anchor="ctr"/>
                </a:tc>
                <a:tc>
                  <a:txBody>
                    <a:bodyPr/>
                    <a:lstStyle/>
                    <a:p>
                      <a:pPr algn="ctr"/>
                      <a:r>
                        <a:rPr lang="en-IN" altLang="en-US" sz="1000" dirty="0">
                          <a:effectLst/>
                          <a:latin typeface="+mj-lt"/>
                          <a:ea typeface="Times New Roman" panose="02020603050405020304" pitchFamily="18" charset="0"/>
                        </a:rPr>
                        <a:t>8376</a:t>
                      </a:r>
                      <a:endParaRPr lang="en-IN" altLang="en-US" sz="1000" dirty="0">
                        <a:effectLst/>
                        <a:latin typeface="+mj-lt"/>
                        <a:ea typeface="Times New Roman" panose="02020603050405020304" pitchFamily="18" charset="0"/>
                      </a:endParaRPr>
                    </a:p>
                  </a:txBody>
                  <a:tcPr marL="28575" marR="28575" marT="19050" marB="19050" anchor="ctr"/>
                </a:tc>
                <a:tc>
                  <a:txBody>
                    <a:bodyPr/>
                    <a:lstStyle/>
                    <a:p>
                      <a:pPr algn="ctr"/>
                      <a:r>
                        <a:rPr lang="en-IN" altLang="en-US" sz="1100" b="1" dirty="0">
                          <a:solidFill>
                            <a:srgbClr val="0000FF"/>
                          </a:solidFill>
                          <a:effectLst/>
                          <a:latin typeface="+mj-lt"/>
                          <a:ea typeface="Times New Roman" panose="02020603050405020304" pitchFamily="18" charset="0"/>
                        </a:rPr>
                        <a:t>10000</a:t>
                      </a:r>
                      <a:endParaRPr lang="en-IN" altLang="en-US" sz="1100" b="1" dirty="0">
                        <a:solidFill>
                          <a:srgbClr val="0000FF"/>
                        </a:solidFill>
                        <a:effectLst/>
                        <a:latin typeface="+mj-lt"/>
                        <a:ea typeface="Times New Roman" panose="02020603050405020304" pitchFamily="18" charset="0"/>
                      </a:endParaRPr>
                    </a:p>
                  </a:txBody>
                  <a:tcPr marL="28575" marR="28575" marT="19050" marB="19050" anchor="ctr"/>
                </a:tc>
              </a:tr>
            </a:tbl>
          </a:graphicData>
        </a:graphic>
      </p:graphicFrame>
      <p:sp>
        <p:nvSpPr>
          <p:cNvPr id="7" name="TextBox 6"/>
          <p:cNvSpPr txBox="1"/>
          <p:nvPr/>
        </p:nvSpPr>
        <p:spPr>
          <a:xfrm>
            <a:off x="5633863" y="4398994"/>
            <a:ext cx="3142692" cy="738664"/>
          </a:xfrm>
          <a:prstGeom prst="rect">
            <a:avLst/>
          </a:prstGeom>
          <a:noFill/>
        </p:spPr>
        <p:txBody>
          <a:bodyPr wrap="square">
            <a:spAutoFit/>
          </a:bodyPr>
          <a:lstStyle/>
          <a:p>
            <a:pPr>
              <a:spcAft>
                <a:spcPts val="600"/>
              </a:spcAft>
            </a:pPr>
            <a:r>
              <a:rPr lang="en-US" sz="1400" b="1" dirty="0">
                <a:solidFill>
                  <a:schemeClr val="tx2"/>
                </a:solidFill>
              </a:rPr>
              <a:t>Figure 5: Distribution of Free and Occupied Spectrum Channels in the Dataset</a:t>
            </a:r>
            <a:endParaRPr lang="en-IN" sz="1400" b="1" cap="small" dirty="0">
              <a:solidFill>
                <a:schemeClr val="tx2"/>
              </a:solidFill>
              <a:latin typeface="+mj-lt"/>
              <a:cs typeface="+mj-cs"/>
            </a:endParaRPr>
          </a:p>
        </p:txBody>
      </p:sp>
      <p:pic>
        <p:nvPicPr>
          <p:cNvPr id="29352566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580380" y="2014220"/>
            <a:ext cx="2987040" cy="2385060"/>
          </a:xfrm>
          <a:prstGeom prst="rect">
            <a:avLst/>
          </a:prstGeom>
          <a:noFill/>
          <a:ln>
            <a:noFill/>
          </a:ln>
        </p:spPr>
      </p:pic>
      <p:pic>
        <p:nvPicPr>
          <p:cNvPr id="2" name="Picture 1"/>
          <p:cNvPicPr>
            <a:picLocks noChangeAspect="1"/>
          </p:cNvPicPr>
          <p:nvPr/>
        </p:nvPicPr>
        <p:blipFill>
          <a:blip r:embed="rId2"/>
          <a:stretch>
            <a:fillRect/>
          </a:stretch>
        </p:blipFill>
        <p:spPr>
          <a:xfrm>
            <a:off x="107504" y="78263"/>
            <a:ext cx="9144000" cy="335840"/>
          </a:xfrm>
          <a:prstGeom prst="rect">
            <a:avLst/>
          </a:prstGeom>
        </p:spPr>
      </p:pic>
      <p:pic>
        <p:nvPicPr>
          <p:cNvPr id="3" name="Picture 2"/>
          <p:cNvPicPr>
            <a:picLocks noChangeAspect="1"/>
          </p:cNvPicPr>
          <p:nvPr/>
        </p:nvPicPr>
        <p:blipFill>
          <a:blip r:embed="rId2"/>
          <a:stretch>
            <a:fillRect/>
          </a:stretch>
        </p:blipFill>
        <p:spPr>
          <a:xfrm>
            <a:off x="33152" y="6503872"/>
            <a:ext cx="9144000" cy="335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625475" y="620713"/>
            <a:ext cx="8518525" cy="936625"/>
          </a:xfrm>
        </p:spPr>
        <p:txBody>
          <a:bodyPr>
            <a:noAutofit/>
          </a:bodyPr>
          <a:lstStyle>
            <a:lvl1pPr algn="r">
              <a:defRPr>
                <a:solidFill>
                  <a:schemeClr val="accent2">
                    <a:lumMod val="50000"/>
                  </a:schemeClr>
                </a:solidFill>
              </a:defRPr>
            </a:lvl1pPr>
          </a:lstStyle>
          <a:p>
            <a:pPr algn="l"/>
            <a:br>
              <a:rPr lang="en-US" sz="2200" b="1" dirty="0"/>
            </a:br>
            <a:r>
              <a:rPr lang="en-US" sz="3200" b="1" dirty="0"/>
              <a:t>V. Implementation Detail</a:t>
            </a:r>
            <a:br>
              <a:rPr lang="en-US" sz="2300" b="1" dirty="0"/>
            </a:br>
            <a:r>
              <a:rPr lang="en-US" sz="2300" b="1" dirty="0"/>
              <a:t>  -  </a:t>
            </a:r>
            <a:r>
              <a:rPr lang="en-US" sz="2300" b="1" i="1" dirty="0">
                <a:solidFill>
                  <a:srgbClr val="0000FF"/>
                </a:solidFill>
                <a:latin typeface="+mj-lt"/>
                <a:ea typeface="Calibri" panose="020F0502020204030204" pitchFamily="34" charset="0"/>
                <a:cs typeface="Calibri" panose="020F0502020204030204" pitchFamily="34" charset="0"/>
              </a:rPr>
              <a:t>Implementation Tool and Evaluation Metrics</a:t>
            </a:r>
            <a:br>
              <a:rPr lang="en-US" sz="3200" b="1" i="1" dirty="0">
                <a:solidFill>
                  <a:srgbClr val="0000FF"/>
                </a:solidFill>
                <a:latin typeface="+mj-lt"/>
                <a:ea typeface="Calibri" panose="020F0502020204030204" pitchFamily="34" charset="0"/>
                <a:cs typeface="Calibri" panose="020F0502020204030204" pitchFamily="34" charset="0"/>
              </a:rPr>
            </a:br>
            <a:endParaRPr lang="en-IN" sz="3200" b="1" dirty="0"/>
          </a:p>
        </p:txBody>
      </p:sp>
      <p:sp>
        <p:nvSpPr>
          <p:cNvPr id="5" name="Title 23"/>
          <p:cNvSpPr txBox="1"/>
          <p:nvPr/>
        </p:nvSpPr>
        <p:spPr>
          <a:xfrm>
            <a:off x="728923" y="2483768"/>
            <a:ext cx="3384376" cy="432048"/>
          </a:xfrm>
          <a:prstGeom prst="rect">
            <a:avLst/>
          </a:prstGeom>
          <a:ln>
            <a:solidFill>
              <a:schemeClr val="bg1"/>
            </a:solidFill>
          </a:ln>
        </p:spPr>
        <p:txBody>
          <a:bodyPr vert="horz" lIns="91440" tIns="45720" rIns="91440" bIns="45720" rtlCol="0" anchor="ctr">
            <a:noAutofit/>
          </a:bodyPr>
          <a:lstStyle>
            <a:lvl1pPr algn="r" defTabSz="914400" rtl="0" eaLnBrk="1" latinLnBrk="0" hangingPunct="1">
              <a:spcBef>
                <a:spcPct val="0"/>
              </a:spcBef>
              <a:buNone/>
              <a:defRPr sz="4400" kern="1200">
                <a:solidFill>
                  <a:schemeClr val="accent2">
                    <a:lumMod val="50000"/>
                  </a:schemeClr>
                </a:solidFill>
                <a:latin typeface="+mj-lt"/>
                <a:ea typeface="+mj-ea"/>
                <a:cs typeface="+mj-cs"/>
              </a:defRPr>
            </a:lvl1pPr>
          </a:lstStyle>
          <a:p>
            <a:pPr algn="ctr"/>
            <a:r>
              <a:rPr lang="en-US" sz="1800" b="1" cap="small" dirty="0">
                <a:solidFill>
                  <a:srgbClr val="0000FF"/>
                </a:solidFill>
                <a:effectLst/>
                <a:ea typeface="Times New Roman" panose="02020603050405020304" pitchFamily="18" charset="0"/>
              </a:rPr>
              <a:t>TABLE </a:t>
            </a:r>
            <a:r>
              <a:rPr lang="en-US" sz="1800" b="1" cap="small" dirty="0">
                <a:solidFill>
                  <a:srgbClr val="0000FF"/>
                </a:solidFill>
                <a:ea typeface="Times New Roman" panose="02020603050405020304" pitchFamily="18" charset="0"/>
              </a:rPr>
              <a:t>V</a:t>
            </a:r>
            <a:r>
              <a:rPr lang="en-US" sz="1800" b="1" cap="small" dirty="0">
                <a:solidFill>
                  <a:srgbClr val="0000FF"/>
                </a:solidFill>
                <a:effectLst/>
                <a:ea typeface="Times New Roman" panose="02020603050405020304" pitchFamily="18" charset="0"/>
              </a:rPr>
              <a:t>I.</a:t>
            </a:r>
            <a:r>
              <a:rPr lang="en-US" sz="1800" cap="small" dirty="0">
                <a:solidFill>
                  <a:srgbClr val="0000FF"/>
                </a:solidFill>
                <a:effectLst/>
                <a:ea typeface="Times New Roman" panose="02020603050405020304" pitchFamily="18" charset="0"/>
              </a:rPr>
              <a:t> </a:t>
            </a:r>
            <a:r>
              <a:rPr lang="en-US" sz="1800" b="1" cap="small" dirty="0">
                <a:effectLst/>
                <a:ea typeface="Times New Roman" panose="02020603050405020304" pitchFamily="18" charset="0"/>
              </a:rPr>
              <a:t>Confusion matrix</a:t>
            </a:r>
            <a:endParaRPr lang="en-IN" sz="1800" b="1" dirty="0">
              <a:effectLst/>
              <a:ea typeface="Times New Roman" panose="02020603050405020304" pitchFamily="18" charset="0"/>
            </a:endParaRPr>
          </a:p>
        </p:txBody>
      </p:sp>
      <p:sp>
        <p:nvSpPr>
          <p:cNvPr id="3" name="TextBox 2"/>
          <p:cNvSpPr txBox="1"/>
          <p:nvPr/>
        </p:nvSpPr>
        <p:spPr>
          <a:xfrm>
            <a:off x="262230" y="1407931"/>
            <a:ext cx="8494225" cy="584775"/>
          </a:xfrm>
          <a:prstGeom prst="rect">
            <a:avLst/>
          </a:prstGeom>
          <a:noFill/>
          <a:ln>
            <a:solidFill>
              <a:schemeClr val="tx1"/>
            </a:solidFill>
          </a:ln>
        </p:spPr>
        <p:txBody>
          <a:bodyPr wrap="square">
            <a:spAutoFit/>
          </a:bodyPr>
          <a:lstStyle/>
          <a:p>
            <a:pPr marL="514350" indent="-514350" algn="just"/>
            <a:r>
              <a:rPr lang="en-US" altLang="en-US" sz="1600" dirty="0">
                <a:solidFill>
                  <a:srgbClr val="000000"/>
                </a:solidFill>
                <a:latin typeface="+mj-lt"/>
                <a:cs typeface="Times New Roman" panose="02020603050405020304" pitchFamily="18" charset="0"/>
              </a:rPr>
              <a:t>The performance metrics used for evaluating our proposed model with various ML Classifiers </a:t>
            </a:r>
            <a:r>
              <a:rPr lang="en-IN" sz="1600" b="1" dirty="0">
                <a:solidFill>
                  <a:srgbClr val="FF0000"/>
                </a:solidFill>
                <a:effectLst/>
              </a:rPr>
              <a:t>[14] </a:t>
            </a:r>
            <a:endParaRPr lang="en-IN" sz="1600" b="1" dirty="0">
              <a:solidFill>
                <a:srgbClr val="FF0000"/>
              </a:solidFill>
              <a:effectLst/>
              <a:latin typeface="+mj-lt"/>
              <a:ea typeface="Times New Roman" panose="02020603050405020304" pitchFamily="18" charset="0"/>
            </a:endParaRPr>
          </a:p>
          <a:p>
            <a:pPr marL="514350" indent="-514350" algn="just" eaLnBrk="1" hangingPunct="1"/>
            <a:r>
              <a:rPr lang="en-US" altLang="en-US" sz="1600" dirty="0">
                <a:solidFill>
                  <a:srgbClr val="000000"/>
                </a:solidFill>
                <a:latin typeface="+mj-lt"/>
                <a:cs typeface="Times New Roman" panose="02020603050405020304" pitchFamily="18" charset="0"/>
              </a:rPr>
              <a:t>were accuracy, precision, recall, and F1-score using the </a:t>
            </a:r>
            <a:r>
              <a:rPr lang="en-US" altLang="en-US" sz="1600" b="1" dirty="0">
                <a:solidFill>
                  <a:srgbClr val="000000"/>
                </a:solidFill>
                <a:latin typeface="+mj-lt"/>
                <a:cs typeface="Times New Roman" panose="02020603050405020304" pitchFamily="18" charset="0"/>
              </a:rPr>
              <a:t>confusion matrix </a:t>
            </a:r>
            <a:r>
              <a:rPr lang="en-US" altLang="en-US" sz="1600" b="1" dirty="0">
                <a:solidFill>
                  <a:srgbClr val="FF0000"/>
                </a:solidFill>
                <a:latin typeface="+mj-lt"/>
                <a:cs typeface="Times New Roman" panose="02020603050405020304" pitchFamily="18" charset="0"/>
              </a:rPr>
              <a:t>[15]</a:t>
            </a:r>
            <a:r>
              <a:rPr lang="en-US" altLang="en-US" sz="1600" b="1" dirty="0">
                <a:solidFill>
                  <a:srgbClr val="000000"/>
                </a:solidFill>
                <a:latin typeface="+mj-lt"/>
                <a:cs typeface="Times New Roman" panose="02020603050405020304" pitchFamily="18" charset="0"/>
              </a:rPr>
              <a:t> </a:t>
            </a:r>
            <a:r>
              <a:rPr lang="en-US" altLang="en-US" sz="1600" dirty="0">
                <a:solidFill>
                  <a:srgbClr val="000000"/>
                </a:solidFill>
                <a:latin typeface="+mj-lt"/>
                <a:cs typeface="Times New Roman" panose="02020603050405020304" pitchFamily="18" charset="0"/>
              </a:rPr>
              <a:t>shown in </a:t>
            </a:r>
            <a:r>
              <a:rPr lang="en-US" altLang="en-US" sz="1600" b="1" dirty="0">
                <a:solidFill>
                  <a:srgbClr val="000000"/>
                </a:solidFill>
                <a:latin typeface="+mj-lt"/>
                <a:cs typeface="Times New Roman" panose="02020603050405020304" pitchFamily="18" charset="0"/>
              </a:rPr>
              <a:t>Table VI.</a:t>
            </a:r>
            <a:endParaRPr lang="en-IN" altLang="en-US" sz="1600" b="1" dirty="0">
              <a:latin typeface="+mj-lt"/>
              <a:cs typeface="Times New Roman" panose="02020603050405020304" pitchFamily="18" charset="0"/>
            </a:endParaRPr>
          </a:p>
        </p:txBody>
      </p:sp>
      <p:graphicFrame>
        <p:nvGraphicFramePr>
          <p:cNvPr id="8" name="Table 7"/>
          <p:cNvGraphicFramePr>
            <a:graphicFrameLocks noGrp="1"/>
          </p:cNvGraphicFramePr>
          <p:nvPr/>
        </p:nvGraphicFramePr>
        <p:xfrm>
          <a:off x="332879" y="3012849"/>
          <a:ext cx="4176464" cy="2795770"/>
        </p:xfrm>
        <a:graphic>
          <a:graphicData uri="http://schemas.openxmlformats.org/drawingml/2006/table">
            <a:tbl>
              <a:tblPr firstRow="1" firstCol="1" bandRow="1">
                <a:tableStyleId>{7DF18680-E054-41AD-8BC1-D1AEF772440D}</a:tableStyleId>
              </a:tblPr>
              <a:tblGrid>
                <a:gridCol w="1006468"/>
                <a:gridCol w="1006468"/>
                <a:gridCol w="1081764"/>
                <a:gridCol w="1081764"/>
              </a:tblGrid>
              <a:tr h="400825">
                <a:tc rowSpan="2" gridSpan="2">
                  <a:txBody>
                    <a:bodyPr/>
                    <a:lstStyle/>
                    <a:p>
                      <a:pPr algn="ctr">
                        <a:lnSpc>
                          <a:spcPct val="115000"/>
                        </a:lnSpc>
                      </a:pPr>
                      <a:r>
                        <a:rPr lang="en-US" sz="1800" dirty="0">
                          <a:effectLst/>
                          <a:latin typeface="+mj-lt"/>
                        </a:rPr>
                        <a:t>No. of testing</a:t>
                      </a:r>
                      <a:endParaRPr lang="en-US" sz="1800" dirty="0">
                        <a:effectLst/>
                        <a:latin typeface="+mj-lt"/>
                      </a:endParaRPr>
                    </a:p>
                    <a:p>
                      <a:pPr algn="ctr">
                        <a:lnSpc>
                          <a:spcPct val="115000"/>
                        </a:lnSpc>
                      </a:pPr>
                      <a:r>
                        <a:rPr lang="en-US" sz="1800" dirty="0">
                          <a:effectLst/>
                          <a:latin typeface="+mj-lt"/>
                        </a:rPr>
                        <a:t> samples (N records)</a:t>
                      </a:r>
                      <a:endParaRPr lang="en-IN" sz="24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cPr/>
                </a:tc>
                <a:tc gridSpan="2">
                  <a:txBody>
                    <a:bodyPr/>
                    <a:lstStyle/>
                    <a:p>
                      <a:pPr algn="ctr"/>
                      <a:r>
                        <a:rPr lang="en-US" sz="1600" dirty="0">
                          <a:effectLst/>
                        </a:rPr>
                        <a:t>Predicted Class</a:t>
                      </a:r>
                      <a:endParaRPr lang="en-IN"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a:tc>
              </a:tr>
              <a:tr h="679295">
                <a:tc vMerge="1" gridSpan="2">
                  <a:tcPr/>
                </a:tc>
                <a:tc vMerge="1" hMerge="1">
                  <a:tcPr/>
                </a:tc>
                <a:tc>
                  <a:txBody>
                    <a:bodyPr/>
                    <a:lstStyle/>
                    <a:p>
                      <a:pPr algn="ctr"/>
                      <a:r>
                        <a:rPr lang="en-IN" sz="1600" b="1" dirty="0"/>
                        <a:t>Predicted Free Channel</a:t>
                      </a:r>
                      <a:endParaRPr lang="en-IN" sz="1600" b="1" i="1"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t>Predicted Occupied Channel</a:t>
                      </a:r>
                      <a:endParaRPr lang="en-IN" sz="1400" b="1" i="1"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61774">
                <a:tc rowSpan="2">
                  <a:txBody>
                    <a:bodyPr/>
                    <a:lstStyle/>
                    <a:p>
                      <a:pPr algn="ctr"/>
                      <a:r>
                        <a:rPr lang="en-US" sz="1800" dirty="0">
                          <a:effectLst/>
                          <a:latin typeface="+mj-lt"/>
                        </a:rPr>
                        <a:t> </a:t>
                      </a:r>
                      <a:endParaRPr lang="en-IN" sz="2400" dirty="0">
                        <a:effectLst/>
                        <a:latin typeface="+mj-lt"/>
                      </a:endParaRPr>
                    </a:p>
                    <a:p>
                      <a:pPr algn="ctr"/>
                      <a:endParaRPr lang="en-US" sz="1800" dirty="0">
                        <a:effectLst/>
                        <a:latin typeface="+mj-lt"/>
                      </a:endParaRPr>
                    </a:p>
                    <a:p>
                      <a:pPr algn="ctr"/>
                      <a:endParaRPr lang="en-US" sz="1800" dirty="0">
                        <a:effectLst/>
                        <a:latin typeface="+mj-lt"/>
                      </a:endParaRPr>
                    </a:p>
                    <a:p>
                      <a:pPr algn="ctr"/>
                      <a:r>
                        <a:rPr lang="en-US" sz="1800" dirty="0">
                          <a:effectLst/>
                          <a:latin typeface="+mj-lt"/>
                        </a:rPr>
                        <a:t>Actual</a:t>
                      </a:r>
                      <a:endParaRPr lang="en-IN" sz="2400" dirty="0">
                        <a:effectLst/>
                        <a:latin typeface="+mj-lt"/>
                      </a:endParaRPr>
                    </a:p>
                    <a:p>
                      <a:pPr algn="ctr"/>
                      <a:r>
                        <a:rPr lang="en-US" sz="1800" dirty="0">
                          <a:effectLst/>
                          <a:latin typeface="+mj-lt"/>
                        </a:rPr>
                        <a:t> Class</a:t>
                      </a:r>
                      <a:endParaRPr lang="en-IN" sz="24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pPr>
                      <a:r>
                        <a:rPr lang="en-US" sz="1400" b="1" dirty="0">
                          <a:effectLst/>
                          <a:latin typeface="+mj-lt"/>
                        </a:rPr>
                        <a:t>Free Channel</a:t>
                      </a:r>
                      <a:endParaRPr lang="en-US" sz="1400" b="1" dirty="0">
                        <a:effectLst/>
                        <a:latin typeface="+mj-lt"/>
                      </a:endParaRPr>
                    </a:p>
                    <a:p>
                      <a:pPr algn="ctr">
                        <a:lnSpc>
                          <a:spcPct val="115000"/>
                        </a:lnSpc>
                      </a:pPr>
                      <a:r>
                        <a:rPr lang="en-US" sz="1400" b="1" dirty="0">
                          <a:effectLst/>
                          <a:latin typeface="+mj-lt"/>
                        </a:rPr>
                        <a:t>(0)</a:t>
                      </a:r>
                      <a:endParaRPr lang="en-IN" sz="1400" b="1" dirty="0">
                        <a:effectLst/>
                        <a:latin typeface="+mj-l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effectLst/>
                          <a:latin typeface="+mj-lt"/>
                        </a:rPr>
                        <a:t>True Negative</a:t>
                      </a:r>
                      <a:endParaRPr lang="en-IN" sz="2000" dirty="0">
                        <a:effectLst/>
                        <a:latin typeface="+mj-lt"/>
                      </a:endParaRPr>
                    </a:p>
                    <a:p>
                      <a:pPr algn="ctr"/>
                      <a:r>
                        <a:rPr lang="en-US" sz="1600" dirty="0">
                          <a:effectLst/>
                          <a:latin typeface="+mj-lt"/>
                        </a:rPr>
                        <a:t>(TN)</a:t>
                      </a:r>
                      <a:endParaRPr lang="en-IN"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effectLst/>
                          <a:latin typeface="+mj-lt"/>
                        </a:rPr>
                        <a:t>False  Positive (FP)</a:t>
                      </a:r>
                      <a:endParaRPr lang="en-IN"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01651">
                <a:tc vMerge="1">
                  <a:tcPr/>
                </a:tc>
                <a:tc>
                  <a:txBody>
                    <a:bodyPr/>
                    <a:lstStyle/>
                    <a:p>
                      <a:pPr algn="ctr"/>
                      <a:r>
                        <a:rPr lang="en-IN" sz="1400" b="1" dirty="0">
                          <a:effectLst/>
                          <a:latin typeface="+mj-lt"/>
                          <a:ea typeface="Times New Roman" panose="02020603050405020304" pitchFamily="18" charset="0"/>
                        </a:rPr>
                        <a:t>Occupied channel(1)</a:t>
                      </a:r>
                      <a:endParaRPr lang="en-IN" sz="1400" b="1"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effectLst/>
                          <a:latin typeface="+mj-lt"/>
                        </a:rPr>
                        <a:t>False Negative (FN)</a:t>
                      </a:r>
                      <a:endParaRPr lang="en-IN"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effectLst/>
                          <a:latin typeface="+mj-lt"/>
                        </a:rPr>
                        <a:t>True Positive</a:t>
                      </a:r>
                      <a:endParaRPr lang="en-IN" sz="2000" dirty="0">
                        <a:effectLst/>
                        <a:latin typeface="+mj-lt"/>
                      </a:endParaRPr>
                    </a:p>
                    <a:p>
                      <a:pPr algn="ctr"/>
                      <a:r>
                        <a:rPr lang="en-US" sz="1600" dirty="0">
                          <a:effectLst/>
                          <a:latin typeface="+mj-lt"/>
                        </a:rPr>
                        <a:t> (TP)</a:t>
                      </a:r>
                      <a:endParaRPr lang="en-IN"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0" name="Picture 9"/>
          <p:cNvPicPr>
            <a:picLocks noChangeAspect="1"/>
          </p:cNvPicPr>
          <p:nvPr/>
        </p:nvPicPr>
        <p:blipFill rotWithShape="1">
          <a:blip r:embed="rId1"/>
          <a:srcRect b="2871"/>
          <a:stretch>
            <a:fillRect/>
          </a:stretch>
        </p:blipFill>
        <p:spPr>
          <a:xfrm>
            <a:off x="4660803" y="2492896"/>
            <a:ext cx="4182703" cy="3804761"/>
          </a:xfrm>
          <a:prstGeom prst="rect">
            <a:avLst/>
          </a:prstGeom>
        </p:spPr>
      </p:pic>
      <p:pic>
        <p:nvPicPr>
          <p:cNvPr id="2" name="Picture 1"/>
          <p:cNvPicPr>
            <a:picLocks noChangeAspect="1"/>
          </p:cNvPicPr>
          <p:nvPr/>
        </p:nvPicPr>
        <p:blipFill>
          <a:blip r:embed="rId2"/>
          <a:stretch>
            <a:fillRect/>
          </a:stretch>
        </p:blipFill>
        <p:spPr>
          <a:xfrm>
            <a:off x="16787" y="6522720"/>
            <a:ext cx="9144000" cy="335280"/>
          </a:xfrm>
          <a:prstGeom prst="rect">
            <a:avLst/>
          </a:prstGeom>
        </p:spPr>
      </p:pic>
      <p:pic>
        <p:nvPicPr>
          <p:cNvPr id="6" name="Picture 5"/>
          <p:cNvPicPr>
            <a:picLocks noChangeAspect="1"/>
          </p:cNvPicPr>
          <p:nvPr/>
        </p:nvPicPr>
        <p:blipFill>
          <a:blip r:embed="rId2"/>
          <a:stretch>
            <a:fillRect/>
          </a:stretch>
        </p:blipFill>
        <p:spPr>
          <a:xfrm>
            <a:off x="88803" y="96139"/>
            <a:ext cx="9144000" cy="335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601663"/>
            <a:ext cx="8734425" cy="508000"/>
          </a:xfrm>
        </p:spPr>
        <p:txBody>
          <a:bodyPr>
            <a:noAutofit/>
          </a:bodyPr>
          <a:lstStyle>
            <a:lvl1pPr algn="r">
              <a:defRPr>
                <a:solidFill>
                  <a:schemeClr val="accent2">
                    <a:lumMod val="50000"/>
                  </a:schemeClr>
                </a:solidFill>
              </a:defRPr>
            </a:lvl1pPr>
          </a:lstStyle>
          <a:p>
            <a:pPr algn="l"/>
            <a:r>
              <a:rPr lang="en-US" sz="3200" b="1" dirty="0"/>
              <a:t>VI. Result Analysis and Discussion</a:t>
            </a:r>
            <a:endParaRPr lang="en-IN" sz="3200" b="1" dirty="0"/>
          </a:p>
        </p:txBody>
      </p:sp>
      <p:sp>
        <p:nvSpPr>
          <p:cNvPr id="5" name="Title 23"/>
          <p:cNvSpPr txBox="1"/>
          <p:nvPr/>
        </p:nvSpPr>
        <p:spPr>
          <a:xfrm>
            <a:off x="179130" y="1109869"/>
            <a:ext cx="4824536" cy="720080"/>
          </a:xfrm>
          <a:prstGeom prst="rect">
            <a:avLst/>
          </a:prstGeom>
          <a:ln>
            <a:solidFill>
              <a:schemeClr val="tx1"/>
            </a:solidFill>
          </a:ln>
        </p:spPr>
        <p:txBody>
          <a:bodyPr vert="horz" lIns="91440" tIns="45720" rIns="91440" bIns="45720" rtlCol="0" anchor="ctr">
            <a:noAutofit/>
          </a:bodyPr>
          <a:lstStyle>
            <a:lvl1pPr algn="r" defTabSz="914400" rtl="0" eaLnBrk="1" latinLnBrk="0" hangingPunct="1">
              <a:spcBef>
                <a:spcPct val="0"/>
              </a:spcBef>
              <a:buNone/>
              <a:defRPr sz="4400" kern="1200">
                <a:solidFill>
                  <a:schemeClr val="accent2">
                    <a:lumMod val="50000"/>
                  </a:schemeClr>
                </a:solidFill>
                <a:latin typeface="+mj-lt"/>
                <a:ea typeface="+mj-ea"/>
                <a:cs typeface="+mj-cs"/>
              </a:defRPr>
            </a:lvl1pPr>
          </a:lstStyle>
          <a:p>
            <a:pPr algn="ctr"/>
            <a:r>
              <a:rPr lang="en-US" sz="1400" b="1" cap="small" dirty="0">
                <a:solidFill>
                  <a:srgbClr val="0000FF"/>
                </a:solidFill>
                <a:effectLst/>
                <a:ea typeface="Times New Roman" panose="02020603050405020304" pitchFamily="18" charset="0"/>
              </a:rPr>
              <a:t>TABLE </a:t>
            </a:r>
            <a:r>
              <a:rPr lang="en-US" sz="1400" b="1" cap="small" dirty="0">
                <a:solidFill>
                  <a:srgbClr val="0000FF"/>
                </a:solidFill>
                <a:ea typeface="Times New Roman" panose="02020603050405020304" pitchFamily="18" charset="0"/>
              </a:rPr>
              <a:t>VII</a:t>
            </a:r>
            <a:r>
              <a:rPr lang="en-US" sz="1400" b="1" cap="small" dirty="0">
                <a:solidFill>
                  <a:srgbClr val="0000FF"/>
                </a:solidFill>
                <a:effectLst/>
                <a:ea typeface="Times New Roman" panose="02020603050405020304" pitchFamily="18" charset="0"/>
              </a:rPr>
              <a:t>.</a:t>
            </a:r>
            <a:r>
              <a:rPr lang="en-US" sz="1400" cap="small" dirty="0">
                <a:solidFill>
                  <a:srgbClr val="0000FF"/>
                </a:solidFill>
                <a:effectLst/>
                <a:ea typeface="Times New Roman" panose="02020603050405020304" pitchFamily="18" charset="0"/>
              </a:rPr>
              <a:t> </a:t>
            </a:r>
            <a:endParaRPr lang="en-IN" sz="1400" dirty="0">
              <a:solidFill>
                <a:srgbClr val="0000FF"/>
              </a:solidFill>
              <a:effectLst/>
              <a:ea typeface="Times New Roman" panose="02020603050405020304" pitchFamily="18" charset="0"/>
            </a:endParaRPr>
          </a:p>
          <a:p>
            <a:pPr algn="ctr"/>
            <a:r>
              <a:rPr lang="en-US" altLang="en-US" sz="1200" dirty="0">
                <a:effectLst/>
                <a:ea typeface="Times New Roman" panose="02020603050405020304" pitchFamily="18" charset="0"/>
              </a:rPr>
              <a:t>Performance Comparison of Machine Learning Models for Spectrum Occupancy Prediction</a:t>
            </a:r>
            <a:endParaRPr lang="en-US" altLang="en-US" sz="1200" dirty="0">
              <a:effectLst/>
              <a:ea typeface="Times New Roman" panose="02020603050405020304" pitchFamily="18" charset="0"/>
            </a:endParaRPr>
          </a:p>
        </p:txBody>
      </p:sp>
      <p:graphicFrame>
        <p:nvGraphicFramePr>
          <p:cNvPr id="2" name="Table 1"/>
          <p:cNvGraphicFramePr>
            <a:graphicFrameLocks noGrp="1"/>
          </p:cNvGraphicFramePr>
          <p:nvPr/>
        </p:nvGraphicFramePr>
        <p:xfrm>
          <a:off x="251520" y="1917228"/>
          <a:ext cx="4320480" cy="4176066"/>
        </p:xfrm>
        <a:graphic>
          <a:graphicData uri="http://schemas.openxmlformats.org/drawingml/2006/table">
            <a:tbl>
              <a:tblPr firstRow="1" firstCol="1" bandRow="1">
                <a:tableStyleId>{74C1A8A3-306A-4EB7-A6B1-4F7E0EB9C5D6}</a:tableStyleId>
              </a:tblPr>
              <a:tblGrid>
                <a:gridCol w="1493201"/>
                <a:gridCol w="990273"/>
                <a:gridCol w="920627"/>
                <a:gridCol w="916379"/>
              </a:tblGrid>
              <a:tr h="741264">
                <a:tc>
                  <a:txBody>
                    <a:bodyPr/>
                    <a:lstStyle/>
                    <a:p>
                      <a:pPr algn="ctr"/>
                      <a:r>
                        <a:rPr lang="en-US" altLang="en-US" sz="1050" b="1" dirty="0">
                          <a:effectLst/>
                          <a:latin typeface="+mj-lt"/>
                          <a:ea typeface="Times New Roman" panose="02020603050405020304" pitchFamily="18" charset="0"/>
                        </a:rPr>
                        <a:t>Machine Learning Model</a:t>
                      </a:r>
                      <a:endParaRPr lang="en-US" altLang="en-US" sz="1050" b="1" dirty="0">
                        <a:effectLst/>
                        <a:latin typeface="+mj-lt"/>
                        <a:ea typeface="Times New Roman" panose="02020603050405020304" pitchFamily="18" charset="0"/>
                      </a:endParaRPr>
                    </a:p>
                  </a:txBody>
                  <a:tcPr marL="28575" marR="28575" marT="19050" marB="190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a:effectLst/>
                          <a:latin typeface="+mj-lt"/>
                        </a:rPr>
                        <a:t>Training Records</a:t>
                      </a:r>
                      <a:endParaRPr lang="en-IN" sz="1050" b="1"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a:effectLst/>
                          <a:latin typeface="+mj-lt"/>
                        </a:rPr>
                        <a:t>Test Records</a:t>
                      </a:r>
                      <a:endParaRPr lang="en-IN" sz="1050" b="1"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50" dirty="0">
                          <a:effectLst/>
                          <a:latin typeface="+mj-lt"/>
                        </a:rPr>
                        <a:t> </a:t>
                      </a:r>
                      <a:endParaRPr lang="en-IN" sz="1050" dirty="0">
                        <a:effectLst/>
                        <a:latin typeface="+mj-lt"/>
                      </a:endParaRPr>
                    </a:p>
                    <a:p>
                      <a:pPr algn="ctr"/>
                      <a:r>
                        <a:rPr lang="en-US" sz="1050" dirty="0">
                          <a:effectLst/>
                          <a:latin typeface="+mj-lt"/>
                        </a:rPr>
                        <a:t> </a:t>
                      </a:r>
                      <a:endParaRPr lang="en-IN" sz="1050" dirty="0">
                        <a:effectLst/>
                        <a:latin typeface="+mj-lt"/>
                      </a:endParaRPr>
                    </a:p>
                    <a:p>
                      <a:pPr algn="ctr"/>
                      <a:r>
                        <a:rPr lang="en-US" sz="1050" dirty="0">
                          <a:effectLst/>
                          <a:latin typeface="+mj-lt"/>
                        </a:rPr>
                        <a:t>Accuracy </a:t>
                      </a:r>
                      <a:endParaRPr lang="en-IN" sz="1050" dirty="0">
                        <a:effectLst/>
                        <a:latin typeface="+mj-lt"/>
                      </a:endParaRPr>
                    </a:p>
                    <a:p>
                      <a:pPr algn="ctr"/>
                      <a:r>
                        <a:rPr lang="en-US" sz="1050" dirty="0">
                          <a:effectLst/>
                          <a:latin typeface="+mj-lt"/>
                        </a:rPr>
                        <a:t>(%)</a:t>
                      </a:r>
                      <a:endParaRPr lang="en-IN" sz="1050" b="1" dirty="0">
                        <a:effectLst/>
                        <a:latin typeface="+mj-lt"/>
                        <a:ea typeface="Times New Roman" panose="02020603050405020304" pitchFamily="18" charset="0"/>
                      </a:endParaRPr>
                    </a:p>
                  </a:txBody>
                  <a:tcPr marL="36195" marR="3619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0686">
                <a:tc>
                  <a:txBody>
                    <a:bodyPr/>
                    <a:lstStyle/>
                    <a:p>
                      <a:pPr algn="ctr">
                        <a:buNone/>
                      </a:pPr>
                      <a:r>
                        <a:rPr lang="en-IN" altLang="en-US" sz="1050" dirty="0">
                          <a:effectLst/>
                          <a:latin typeface="+mj-lt"/>
                          <a:ea typeface="Times New Roman" panose="02020603050405020304" pitchFamily="18" charset="0"/>
                        </a:rPr>
                        <a:t>Logistic Regression</a:t>
                      </a:r>
                      <a:endParaRPr lang="en-IN" altLang="en-US"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effectLst/>
                          <a:latin typeface="+mj-lt"/>
                          <a:ea typeface="Times New Roman" panose="02020603050405020304" pitchFamily="18" charset="0"/>
                        </a:rPr>
                        <a:t>8000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effectLst/>
                          <a:latin typeface="+mj-lt"/>
                          <a:ea typeface="Times New Roman" panose="02020603050405020304" pitchFamily="18" charset="0"/>
                        </a:rPr>
                        <a:t>2000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ltLang="en-US" sz="1050" b="1" dirty="0">
                          <a:effectLst/>
                          <a:highlight>
                            <a:srgbClr val="FFFF00"/>
                          </a:highlight>
                          <a:latin typeface="+mj-lt"/>
                        </a:rPr>
                        <a:t>94.95</a:t>
                      </a:r>
                      <a:endParaRPr lang="en-IN" altLang="en-US" sz="1050" b="1" dirty="0">
                        <a:effectLst/>
                        <a:highlight>
                          <a:srgbClr val="FFFF00"/>
                        </a:highlight>
                        <a:latin typeface="+mj-lt"/>
                        <a:ea typeface="Times New Roman" panose="02020603050405020304"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0686">
                <a:tc>
                  <a:txBody>
                    <a:bodyPr/>
                    <a:lstStyle/>
                    <a:p>
                      <a:pPr algn="ctr"/>
                      <a:r>
                        <a:rPr lang="en-IN" altLang="en-US" sz="1050">
                          <a:effectLst/>
                          <a:latin typeface="+mj-lt"/>
                        </a:rPr>
                        <a:t>KNN</a:t>
                      </a:r>
                      <a:endParaRPr lang="en-IN" altLang="en-US" sz="105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effectLst/>
                          <a:latin typeface="+mj-lt"/>
                          <a:ea typeface="Times New Roman" panose="02020603050405020304" pitchFamily="18" charset="0"/>
                        </a:rPr>
                        <a:t>8000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effectLst/>
                          <a:latin typeface="+mj-lt"/>
                          <a:ea typeface="Times New Roman" panose="02020603050405020304" pitchFamily="18" charset="0"/>
                        </a:rPr>
                        <a:t>2000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effectLst/>
                          <a:latin typeface="+mj-lt"/>
                          <a:ea typeface="Times New Roman" panose="02020603050405020304" pitchFamily="18" charset="0"/>
                        </a:rPr>
                        <a:t>93.3</a:t>
                      </a:r>
                      <a:endParaRPr lang="en-IN" sz="1050" dirty="0">
                        <a:effectLst/>
                        <a:latin typeface="+mj-lt"/>
                        <a:ea typeface="Times New Roman" panose="02020603050405020304"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0686">
                <a:tc>
                  <a:txBody>
                    <a:bodyPr/>
                    <a:lstStyle/>
                    <a:p>
                      <a:pPr algn="ctr"/>
                      <a:r>
                        <a:rPr lang="en-IN" altLang="en-US" sz="1050" dirty="0">
                          <a:effectLst/>
                          <a:latin typeface="+mj-lt"/>
                        </a:rPr>
                        <a:t>SVM</a:t>
                      </a:r>
                      <a:endParaRPr lang="en-IN" altLang="en-US"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effectLst/>
                          <a:latin typeface="+mj-lt"/>
                          <a:ea typeface="Times New Roman" panose="02020603050405020304" pitchFamily="18" charset="0"/>
                        </a:rPr>
                        <a:t>8000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effectLst/>
                          <a:latin typeface="+mj-lt"/>
                          <a:ea typeface="Times New Roman" panose="02020603050405020304" pitchFamily="18" charset="0"/>
                        </a:rPr>
                        <a:t>2000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effectLst/>
                          <a:latin typeface="+mj-lt"/>
                          <a:ea typeface="Times New Roman" panose="02020603050405020304" pitchFamily="18" charset="0"/>
                        </a:rPr>
                        <a:t>94.7</a:t>
                      </a:r>
                      <a:endParaRPr lang="en-IN" sz="1050" dirty="0">
                        <a:effectLst/>
                        <a:latin typeface="+mj-lt"/>
                        <a:ea typeface="Times New Roman" panose="02020603050405020304"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0686">
                <a:tc>
                  <a:txBody>
                    <a:bodyPr/>
                    <a:lstStyle/>
                    <a:p>
                      <a:pPr algn="ctr"/>
                      <a:r>
                        <a:rPr lang="en-IN" altLang="en-US" sz="1050">
                          <a:effectLst/>
                          <a:latin typeface="+mj-lt"/>
                        </a:rPr>
                        <a:t>Decision Tree</a:t>
                      </a:r>
                      <a:endParaRPr lang="en-IN" altLang="en-US" sz="105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effectLst/>
                          <a:latin typeface="+mj-lt"/>
                          <a:ea typeface="Times New Roman" panose="02020603050405020304" pitchFamily="18" charset="0"/>
                        </a:rPr>
                        <a:t>8000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effectLst/>
                          <a:latin typeface="+mj-lt"/>
                          <a:ea typeface="Times New Roman" panose="02020603050405020304" pitchFamily="18" charset="0"/>
                        </a:rPr>
                        <a:t>2000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50" dirty="0">
                          <a:effectLst/>
                          <a:latin typeface="+mj-lt"/>
                          <a:ea typeface="Times New Roman" panose="02020603050405020304" pitchFamily="18" charset="0"/>
                        </a:rPr>
                        <a:t>92.7</a:t>
                      </a:r>
                      <a:endParaRPr lang="en-IN" sz="1050" dirty="0">
                        <a:effectLst/>
                        <a:latin typeface="+mj-lt"/>
                        <a:ea typeface="Times New Roman" panose="02020603050405020304"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0686">
                <a:tc>
                  <a:txBody>
                    <a:bodyPr/>
                    <a:lstStyle/>
                    <a:p>
                      <a:pPr algn="ctr">
                        <a:buNone/>
                      </a:pPr>
                      <a:r>
                        <a:rPr lang="en-IN" altLang="en-US" sz="1050">
                          <a:effectLst/>
                          <a:latin typeface="+mj-lt"/>
                          <a:ea typeface="Times New Roman" panose="02020603050405020304" pitchFamily="18" charset="0"/>
                        </a:rPr>
                        <a:t>Random Forest</a:t>
                      </a:r>
                      <a:endParaRPr lang="en-IN" altLang="en-US" sz="105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effectLst/>
                          <a:latin typeface="+mj-lt"/>
                          <a:ea typeface="Times New Roman" panose="02020603050405020304" pitchFamily="18" charset="0"/>
                        </a:rPr>
                        <a:t>8000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effectLst/>
                          <a:latin typeface="+mj-lt"/>
                          <a:ea typeface="Times New Roman" panose="02020603050405020304" pitchFamily="18" charset="0"/>
                        </a:rPr>
                        <a:t>2000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a:effectLst/>
                          <a:latin typeface="+mj-lt"/>
                          <a:ea typeface="Times New Roman" panose="02020603050405020304" pitchFamily="18" charset="0"/>
                        </a:rPr>
                        <a:t>94.45</a:t>
                      </a:r>
                      <a:endParaRPr lang="en-IN" sz="1050" dirty="0">
                        <a:effectLst/>
                        <a:latin typeface="+mj-lt"/>
                        <a:ea typeface="Times New Roman" panose="02020603050405020304"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0686">
                <a:tc>
                  <a:txBody>
                    <a:bodyPr/>
                    <a:lstStyle/>
                    <a:p>
                      <a:pPr algn="ctr">
                        <a:buNone/>
                      </a:pPr>
                      <a:r>
                        <a:rPr lang="en-IN" altLang="en-US" sz="1050" dirty="0">
                          <a:effectLst/>
                          <a:latin typeface="+mj-lt"/>
                          <a:ea typeface="Times New Roman" panose="02020603050405020304" pitchFamily="18" charset="0"/>
                        </a:rPr>
                        <a:t>Gradient Boosting</a:t>
                      </a:r>
                      <a:endParaRPr lang="en-IN" altLang="en-US"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effectLst/>
                          <a:latin typeface="+mj-lt"/>
                          <a:ea typeface="Times New Roman" panose="02020603050405020304" pitchFamily="18" charset="0"/>
                        </a:rPr>
                        <a:t>8000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effectLst/>
                          <a:latin typeface="+mj-lt"/>
                          <a:ea typeface="Times New Roman" panose="02020603050405020304" pitchFamily="18" charset="0"/>
                        </a:rPr>
                        <a:t>2000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b="0" dirty="0">
                          <a:effectLst/>
                          <a:latin typeface="+mj-lt"/>
                          <a:ea typeface="Times New Roman" panose="02020603050405020304" pitchFamily="18" charset="0"/>
                        </a:rPr>
                        <a:t>94.6</a:t>
                      </a:r>
                      <a:endParaRPr lang="en-IN" sz="1050" b="0" dirty="0">
                        <a:effectLst/>
                        <a:latin typeface="+mj-lt"/>
                        <a:ea typeface="Times New Roman" panose="02020603050405020304"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0686">
                <a:tc>
                  <a:txBody>
                    <a:bodyPr/>
                    <a:lstStyle/>
                    <a:p>
                      <a:pPr algn="ctr">
                        <a:buNone/>
                      </a:pPr>
                      <a:r>
                        <a:rPr lang="en-US" altLang="en-US" sz="1050">
                          <a:effectLst/>
                          <a:latin typeface="+mj-lt"/>
                          <a:ea typeface="Times New Roman" panose="02020603050405020304" pitchFamily="18" charset="0"/>
                        </a:rPr>
                        <a:t>Naïve Bayes</a:t>
                      </a:r>
                      <a:endParaRPr lang="en-US" altLang="en-US" sz="105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effectLst/>
                          <a:latin typeface="+mj-lt"/>
                          <a:ea typeface="Times New Roman" panose="02020603050405020304" pitchFamily="18" charset="0"/>
                        </a:rPr>
                        <a:t>8000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effectLst/>
                          <a:latin typeface="+mj-lt"/>
                          <a:ea typeface="Times New Roman" panose="02020603050405020304" pitchFamily="18" charset="0"/>
                        </a:rPr>
                        <a:t>2000</a:t>
                      </a:r>
                      <a:endParaRPr lang="en-IN" sz="1050" dirty="0">
                        <a:effectLst/>
                        <a:latin typeface="+mj-lt"/>
                        <a:ea typeface="Times New Roman" panose="02020603050405020304" pitchFamily="18" charset="0"/>
                      </a:endParaRPr>
                    </a:p>
                  </a:txBody>
                  <a:tcPr marL="28575" marR="28575"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effectLst/>
                          <a:latin typeface="+mj-lt"/>
                          <a:ea typeface="Times New Roman" panose="02020603050405020304" pitchFamily="18" charset="0"/>
                        </a:rPr>
                        <a:t>91.35</a:t>
                      </a:r>
                      <a:endParaRPr lang="en-IN" sz="1050" dirty="0">
                        <a:effectLst/>
                        <a:latin typeface="+mj-lt"/>
                        <a:ea typeface="Times New Roman" panose="02020603050405020304" pitchFamily="18" charset="0"/>
                      </a:endParaRPr>
                    </a:p>
                  </a:txBody>
                  <a:tcPr marL="36195" marR="361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TextBox 6"/>
          <p:cNvSpPr txBox="1"/>
          <p:nvPr/>
        </p:nvSpPr>
        <p:spPr>
          <a:xfrm>
            <a:off x="4883785" y="5886450"/>
            <a:ext cx="4224655" cy="738664"/>
          </a:xfrm>
          <a:prstGeom prst="rect">
            <a:avLst/>
          </a:prstGeom>
          <a:noFill/>
        </p:spPr>
        <p:txBody>
          <a:bodyPr wrap="square">
            <a:spAutoFit/>
          </a:bodyPr>
          <a:lstStyle/>
          <a:p>
            <a:r>
              <a:rPr lang="en-US" sz="1400" dirty="0"/>
              <a:t>Where ‘0’ represents a Free Channel (Idle Spectrum) and ‘1’ represents an Occupied Channel (Primary User Active).</a:t>
            </a:r>
            <a:endParaRPr lang="en-IN" sz="1400" dirty="0">
              <a:latin typeface="+mj-lt"/>
            </a:endParaRPr>
          </a:p>
        </p:txBody>
      </p:sp>
      <p:sp>
        <p:nvSpPr>
          <p:cNvPr id="8" name="TextBox 7"/>
          <p:cNvSpPr txBox="1"/>
          <p:nvPr/>
        </p:nvSpPr>
        <p:spPr>
          <a:xfrm>
            <a:off x="5364088" y="4824154"/>
            <a:ext cx="3528392" cy="954107"/>
          </a:xfrm>
          <a:prstGeom prst="rect">
            <a:avLst/>
          </a:prstGeom>
          <a:noFill/>
        </p:spPr>
        <p:txBody>
          <a:bodyPr wrap="square">
            <a:spAutoFit/>
          </a:bodyPr>
          <a:lstStyle/>
          <a:p>
            <a:r>
              <a:rPr lang="en-US" sz="1400" b="1" dirty="0">
                <a:solidFill>
                  <a:schemeClr val="tx2"/>
                </a:solidFill>
              </a:rPr>
              <a:t>Figure 6 </a:t>
            </a:r>
            <a:r>
              <a:rPr lang="en-US" sz="1400" dirty="0"/>
              <a:t>represents the comparison of accuracy and execution time for different machine learning models used for spectrum occupancy prediction.</a:t>
            </a:r>
            <a:endParaRPr lang="en-IN" sz="1400" cap="small" dirty="0">
              <a:solidFill>
                <a:schemeClr val="accent2">
                  <a:lumMod val="50000"/>
                </a:schemeClr>
              </a:solidFill>
              <a:latin typeface="+mj-lt"/>
              <a:cs typeface="+mj-cs"/>
            </a:endParaRPr>
          </a:p>
        </p:txBody>
      </p:sp>
      <p:pic>
        <p:nvPicPr>
          <p:cNvPr id="85727022" name="Picture 1"/>
          <p:cNvPicPr>
            <a:picLocks noChangeAspect="1"/>
          </p:cNvPicPr>
          <p:nvPr/>
        </p:nvPicPr>
        <p:blipFill>
          <a:blip r:embed="rId1"/>
          <a:stretch>
            <a:fillRect/>
          </a:stretch>
        </p:blipFill>
        <p:spPr>
          <a:xfrm>
            <a:off x="5153660" y="1485265"/>
            <a:ext cx="3747135" cy="3165475"/>
          </a:xfrm>
          <a:prstGeom prst="rect">
            <a:avLst/>
          </a:prstGeom>
        </p:spPr>
      </p:pic>
      <p:pic>
        <p:nvPicPr>
          <p:cNvPr id="3" name="Picture 2"/>
          <p:cNvPicPr>
            <a:picLocks noChangeAspect="1"/>
          </p:cNvPicPr>
          <p:nvPr/>
        </p:nvPicPr>
        <p:blipFill>
          <a:blip r:embed="rId2"/>
          <a:stretch>
            <a:fillRect/>
          </a:stretch>
        </p:blipFill>
        <p:spPr>
          <a:xfrm>
            <a:off x="-35560" y="130202"/>
            <a:ext cx="9144000" cy="335840"/>
          </a:xfrm>
          <a:prstGeom prst="rect">
            <a:avLst/>
          </a:prstGeom>
        </p:spPr>
      </p:pic>
      <p:pic>
        <p:nvPicPr>
          <p:cNvPr id="6" name="Picture 5"/>
          <p:cNvPicPr>
            <a:picLocks noChangeAspect="1"/>
          </p:cNvPicPr>
          <p:nvPr/>
        </p:nvPicPr>
        <p:blipFill>
          <a:blip r:embed="rId2"/>
          <a:stretch>
            <a:fillRect/>
          </a:stretch>
        </p:blipFill>
        <p:spPr>
          <a:xfrm>
            <a:off x="-204788" y="6549455"/>
            <a:ext cx="9144000" cy="3358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601663"/>
            <a:ext cx="8734425" cy="508000"/>
          </a:xfrm>
        </p:spPr>
        <p:txBody>
          <a:bodyPr>
            <a:noAutofit/>
          </a:bodyPr>
          <a:lstStyle>
            <a:lvl1pPr algn="r">
              <a:defRPr>
                <a:solidFill>
                  <a:schemeClr val="accent2">
                    <a:lumMod val="50000"/>
                  </a:schemeClr>
                </a:solidFill>
              </a:defRPr>
            </a:lvl1pPr>
          </a:lstStyle>
          <a:p>
            <a:pPr algn="l"/>
            <a:r>
              <a:rPr lang="en-US" sz="3200" b="1" dirty="0"/>
              <a:t>VI. Result Analysis and Discussion</a:t>
            </a:r>
            <a:endParaRPr lang="en-IN" sz="3200" b="1" dirty="0"/>
          </a:p>
        </p:txBody>
      </p:sp>
      <p:sp>
        <p:nvSpPr>
          <p:cNvPr id="8" name="TextBox 7"/>
          <p:cNvSpPr txBox="1"/>
          <p:nvPr>
            <p:custDataLst>
              <p:tags r:id="rId1"/>
            </p:custDataLst>
          </p:nvPr>
        </p:nvSpPr>
        <p:spPr>
          <a:xfrm>
            <a:off x="5148064" y="4769507"/>
            <a:ext cx="3528392" cy="306705"/>
          </a:xfrm>
          <a:prstGeom prst="rect">
            <a:avLst/>
          </a:prstGeom>
          <a:noFill/>
        </p:spPr>
        <p:txBody>
          <a:bodyPr wrap="square">
            <a:spAutoFit/>
          </a:bodyPr>
          <a:lstStyle/>
          <a:p>
            <a:r>
              <a:rPr lang="en-US" sz="1400" b="1" cap="small" dirty="0">
                <a:solidFill>
                  <a:schemeClr val="accent2">
                    <a:lumMod val="50000"/>
                  </a:schemeClr>
                </a:solidFill>
                <a:latin typeface="+mj-lt"/>
                <a:cs typeface="+mj-cs"/>
              </a:rPr>
              <a:t> </a:t>
            </a:r>
            <a:endParaRPr lang="en-IN" sz="1400" b="1" cap="small" dirty="0">
              <a:solidFill>
                <a:schemeClr val="accent2">
                  <a:lumMod val="50000"/>
                </a:schemeClr>
              </a:solidFill>
              <a:latin typeface="+mj-lt"/>
              <a:cs typeface="+mj-cs"/>
            </a:endParaRPr>
          </a:p>
        </p:txBody>
      </p:sp>
      <p:sp>
        <p:nvSpPr>
          <p:cNvPr id="3" name="TextBox 2"/>
          <p:cNvSpPr txBox="1"/>
          <p:nvPr>
            <p:custDataLst>
              <p:tags r:id="rId2"/>
            </p:custDataLst>
          </p:nvPr>
        </p:nvSpPr>
        <p:spPr>
          <a:xfrm>
            <a:off x="2268220" y="4581525"/>
            <a:ext cx="4545965" cy="889635"/>
          </a:xfrm>
          <a:prstGeom prst="rect">
            <a:avLst/>
          </a:prstGeom>
          <a:noFill/>
        </p:spPr>
        <p:txBody>
          <a:bodyPr wrap="square">
            <a:noAutofit/>
          </a:bodyPr>
          <a:lstStyle/>
          <a:p>
            <a:pPr marR="75565" indent="182880" algn="ctr">
              <a:lnSpc>
                <a:spcPct val="95000"/>
              </a:lnSpc>
              <a:spcAft>
                <a:spcPts val="600"/>
              </a:spcAft>
            </a:pPr>
            <a:r>
              <a:rPr lang="en-US" altLang="en-US" sz="1400" b="1" cap="small" dirty="0">
                <a:solidFill>
                  <a:schemeClr val="accent2">
                    <a:lumMod val="50000"/>
                  </a:schemeClr>
                </a:solidFill>
                <a:latin typeface="+mj-lt"/>
                <a:cs typeface="+mj-cs"/>
              </a:rPr>
              <a:t>Represents a performance metrics comparison across different machine learning classifiers used for spectrum occupancy prediction.</a:t>
            </a:r>
            <a:endParaRPr lang="en-IN" sz="1400" b="1" cap="small" dirty="0">
              <a:solidFill>
                <a:schemeClr val="accent2">
                  <a:lumMod val="50000"/>
                </a:schemeClr>
              </a:solidFill>
              <a:latin typeface="+mj-lt"/>
              <a:cs typeface="+mj-cs"/>
            </a:endParaRPr>
          </a:p>
        </p:txBody>
      </p:sp>
      <p:pic>
        <p:nvPicPr>
          <p:cNvPr id="996359821" name="Picture 1"/>
          <p:cNvPicPr>
            <a:picLocks noChangeAspect="1"/>
          </p:cNvPicPr>
          <p:nvPr/>
        </p:nvPicPr>
        <p:blipFill>
          <a:blip r:embed="rId3"/>
          <a:stretch>
            <a:fillRect/>
          </a:stretch>
        </p:blipFill>
        <p:spPr>
          <a:xfrm>
            <a:off x="2987675" y="1845310"/>
            <a:ext cx="3048000" cy="2590800"/>
          </a:xfrm>
          <a:prstGeom prst="rect">
            <a:avLst/>
          </a:prstGeom>
        </p:spPr>
      </p:pic>
      <p:pic>
        <p:nvPicPr>
          <p:cNvPr id="2" name="Picture 1"/>
          <p:cNvPicPr>
            <a:picLocks noChangeAspect="1"/>
          </p:cNvPicPr>
          <p:nvPr/>
        </p:nvPicPr>
        <p:blipFill>
          <a:blip r:embed="rId4"/>
          <a:stretch>
            <a:fillRect/>
          </a:stretch>
        </p:blipFill>
        <p:spPr>
          <a:xfrm>
            <a:off x="0" y="120408"/>
            <a:ext cx="9144000" cy="335840"/>
          </a:xfrm>
          <a:prstGeom prst="rect">
            <a:avLst/>
          </a:prstGeom>
        </p:spPr>
      </p:pic>
      <p:pic>
        <p:nvPicPr>
          <p:cNvPr id="5" name="Picture 4"/>
          <p:cNvPicPr>
            <a:picLocks noChangeAspect="1"/>
          </p:cNvPicPr>
          <p:nvPr/>
        </p:nvPicPr>
        <p:blipFill>
          <a:blip r:embed="rId4"/>
          <a:stretch>
            <a:fillRect/>
          </a:stretch>
        </p:blipFill>
        <p:spPr>
          <a:xfrm>
            <a:off x="-60325" y="6522160"/>
            <a:ext cx="9144000" cy="3358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601663"/>
            <a:ext cx="8734425" cy="508000"/>
          </a:xfrm>
        </p:spPr>
        <p:txBody>
          <a:bodyPr>
            <a:noAutofit/>
          </a:bodyPr>
          <a:lstStyle>
            <a:lvl1pPr algn="r">
              <a:defRPr>
                <a:solidFill>
                  <a:schemeClr val="accent2">
                    <a:lumMod val="50000"/>
                  </a:schemeClr>
                </a:solidFill>
              </a:defRPr>
            </a:lvl1pPr>
          </a:lstStyle>
          <a:p>
            <a:pPr algn="ctr"/>
            <a:r>
              <a:rPr lang="en-US" sz="3200" b="1" dirty="0"/>
              <a:t>VI. Result Analysis and Discussion</a:t>
            </a:r>
            <a:endParaRPr lang="en-IN" sz="3200" b="1" dirty="0"/>
          </a:p>
        </p:txBody>
      </p:sp>
      <p:sp>
        <p:nvSpPr>
          <p:cNvPr id="5" name="Title 23"/>
          <p:cNvSpPr txBox="1"/>
          <p:nvPr/>
        </p:nvSpPr>
        <p:spPr>
          <a:xfrm>
            <a:off x="251520" y="1109868"/>
            <a:ext cx="8640960" cy="508918"/>
          </a:xfrm>
          <a:prstGeom prst="rect">
            <a:avLst/>
          </a:prstGeom>
          <a:ln>
            <a:solidFill>
              <a:schemeClr val="tx1"/>
            </a:solidFill>
          </a:ln>
        </p:spPr>
        <p:txBody>
          <a:bodyPr vert="horz" lIns="91440" tIns="45720" rIns="91440" bIns="45720" rtlCol="0" anchor="ctr">
            <a:noAutofit/>
          </a:bodyPr>
          <a:lstStyle>
            <a:lvl1pPr algn="r" defTabSz="914400" rtl="0" eaLnBrk="1" latinLnBrk="0" hangingPunct="1">
              <a:spcBef>
                <a:spcPct val="0"/>
              </a:spcBef>
              <a:buNone/>
              <a:defRPr sz="4400" kern="1200">
                <a:solidFill>
                  <a:schemeClr val="accent2">
                    <a:lumMod val="50000"/>
                  </a:schemeClr>
                </a:solidFill>
                <a:latin typeface="+mj-lt"/>
                <a:ea typeface="+mj-ea"/>
                <a:cs typeface="+mj-cs"/>
              </a:defRPr>
            </a:lvl1pPr>
          </a:lstStyle>
          <a:p>
            <a:pPr algn="ctr"/>
            <a:r>
              <a:rPr lang="en-US" sz="1600" b="1" cap="small" dirty="0">
                <a:solidFill>
                  <a:srgbClr val="0000FF"/>
                </a:solidFill>
                <a:effectLst/>
                <a:ea typeface="Times New Roman" panose="02020603050405020304" pitchFamily="18" charset="0"/>
              </a:rPr>
              <a:t>TABLE </a:t>
            </a:r>
            <a:r>
              <a:rPr lang="en-US" sz="1600" b="1" cap="small" dirty="0">
                <a:solidFill>
                  <a:srgbClr val="0000FF"/>
                </a:solidFill>
                <a:ea typeface="Times New Roman" panose="02020603050405020304" pitchFamily="18" charset="0"/>
              </a:rPr>
              <a:t>VIII</a:t>
            </a:r>
            <a:r>
              <a:rPr lang="en-US" sz="1600" b="1" cap="small" dirty="0">
                <a:solidFill>
                  <a:srgbClr val="0000FF"/>
                </a:solidFill>
                <a:effectLst/>
                <a:ea typeface="Times New Roman" panose="02020603050405020304" pitchFamily="18" charset="0"/>
              </a:rPr>
              <a:t>.</a:t>
            </a:r>
            <a:r>
              <a:rPr lang="en-US" sz="1600" cap="small" dirty="0">
                <a:solidFill>
                  <a:srgbClr val="0000FF"/>
                </a:solidFill>
                <a:effectLst/>
                <a:ea typeface="Times New Roman" panose="02020603050405020304" pitchFamily="18" charset="0"/>
              </a:rPr>
              <a:t> </a:t>
            </a:r>
            <a:endParaRPr lang="en-IN" sz="1600" dirty="0">
              <a:solidFill>
                <a:srgbClr val="0000FF"/>
              </a:solidFill>
              <a:effectLst/>
              <a:ea typeface="Times New Roman" panose="02020603050405020304" pitchFamily="18" charset="0"/>
            </a:endParaRPr>
          </a:p>
          <a:p>
            <a:pPr algn="ctr"/>
            <a:r>
              <a:rPr lang="en-US" sz="1800" b="1" cap="small" dirty="0">
                <a:effectLst/>
                <a:ea typeface="Times New Roman" panose="02020603050405020304" pitchFamily="18" charset="0"/>
              </a:rPr>
              <a:t>Accuracy metric comparison of the proposed approach with the existing work</a:t>
            </a:r>
            <a:endParaRPr lang="en-IN" sz="1200" b="1" dirty="0">
              <a:effectLst/>
              <a:ea typeface="Times New Roman" panose="02020603050405020304" pitchFamily="18" charset="0"/>
            </a:endParaRPr>
          </a:p>
        </p:txBody>
      </p:sp>
      <p:graphicFrame>
        <p:nvGraphicFramePr>
          <p:cNvPr id="6" name="Table 5"/>
          <p:cNvGraphicFramePr>
            <a:graphicFrameLocks noGrp="1"/>
          </p:cNvGraphicFramePr>
          <p:nvPr>
            <p:custDataLst>
              <p:tags r:id="rId1"/>
            </p:custDataLst>
          </p:nvPr>
        </p:nvGraphicFramePr>
        <p:xfrm>
          <a:off x="297180" y="1640840"/>
          <a:ext cx="8427085" cy="4636135"/>
        </p:xfrm>
        <a:graphic>
          <a:graphicData uri="http://schemas.openxmlformats.org/drawingml/2006/table">
            <a:tbl>
              <a:tblPr firstRow="1" firstCol="1" bandRow="1">
                <a:tableStyleId>{74C1A8A3-306A-4EB7-A6B1-4F7E0EB9C5D6}</a:tableStyleId>
              </a:tblPr>
              <a:tblGrid>
                <a:gridCol w="1374140"/>
                <a:gridCol w="942975"/>
                <a:gridCol w="624840"/>
                <a:gridCol w="1118870"/>
                <a:gridCol w="582295"/>
                <a:gridCol w="3783965"/>
              </a:tblGrid>
              <a:tr h="502920">
                <a:tc>
                  <a:txBody>
                    <a:bodyPr/>
                    <a:lstStyle/>
                    <a:p>
                      <a:r>
                        <a:rPr sz="1100"/>
                        <a:t>Reference Paper</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Feature Selection / Extraction</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Number of Features</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Machine Learning Classifiers</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Accuracy (%)</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sz="1100"/>
                        <a:t>Pros / Cons</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38200">
                <a:tc>
                  <a:txBody>
                    <a:bodyPr/>
                    <a:lstStyle/>
                    <a:p>
                      <a:r>
                        <a:rPr sz="1100"/>
                        <a:t>Yasir et al. [1]</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Statistical Feature Extraction</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30</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SVM</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  </a:t>
                      </a:r>
                      <a:r>
                        <a:rPr sz="1100"/>
                        <a:t>93.50</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sz="1100"/>
                        <a:t>Good performance for spectrum analysis but sensitive to dynamic spectrum changes.</a:t>
                      </a:r>
                      <a:endParaRPr sz="1100"/>
                    </a:p>
                    <a:p>
                      <a:pPr marL="171450" indent="-171450">
                        <a:buFont typeface="Arial" panose="020B0604020202020204" pitchFamily="34" charset="0"/>
                        <a:buChar char="•"/>
                      </a:pPr>
                      <a:r>
                        <a:rPr lang="en-US" altLang="en-US" sz="1100"/>
                        <a:t>Provides good classification performance for spectrum analysis but its accuracy may decrease in highly dynamic wireless environments.</a:t>
                      </a:r>
                      <a:endParaRPr lang="en-US" altLang="en-US"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38200">
                <a:tc>
                  <a:txBody>
                    <a:bodyPr/>
                    <a:lstStyle/>
                    <a:p>
                      <a:r>
                        <a:rPr sz="1100"/>
                        <a:t>Keshavamurthy &amp; Michelusi [2]</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Spectrum sensing features</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28</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Reinforcement Learning</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  </a:t>
                      </a:r>
                      <a:r>
                        <a:rPr sz="1100"/>
                        <a:t>92.10</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sz="1100"/>
                        <a:t>Learns spectrum access policies but computationally complex.</a:t>
                      </a:r>
                      <a:endParaRPr sz="1100"/>
                    </a:p>
                    <a:p>
                      <a:pPr marL="171450" indent="-171450">
                        <a:buFont typeface="Arial" panose="020B0604020202020204" pitchFamily="34" charset="0"/>
                        <a:buChar char="•"/>
                      </a:pPr>
                      <a:r>
                        <a:rPr lang="en-US" altLang="en-US" sz="1100"/>
                        <a:t>Reinforcement Learning</a:t>
                      </a:r>
                      <a:endParaRPr lang="en-US" altLang="en-US" sz="1100"/>
                    </a:p>
                    <a:p>
                      <a:pPr marL="171450" indent="-171450">
                        <a:buFont typeface="Arial" panose="020B0604020202020204" pitchFamily="34" charset="0"/>
                        <a:buChar char="•"/>
                      </a:pPr>
                      <a:r>
                        <a:rPr lang="en-US" altLang="en-US" sz="1100"/>
                        <a:t>Adapts to changing spectrum conditions effectively but requires higher computational resources and longer training time.</a:t>
                      </a:r>
                      <a:endParaRPr lang="en-US" altLang="en-US"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0415">
                <a:tc>
                  <a:txBody>
                    <a:bodyPr/>
                    <a:lstStyle/>
                    <a:p>
                      <a:r>
                        <a:rPr sz="1100"/>
                        <a:t>Venkatapathi et al. [8]</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Feature Extraction from spectrum sensing data</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32</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 gradient  boosting</a:t>
                      </a:r>
                      <a:endParaRPr lang="en-IN"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  </a:t>
                      </a:r>
                      <a:r>
                        <a:rPr sz="1100"/>
                        <a:t>94.</a:t>
                      </a:r>
                      <a:r>
                        <a:rPr lang="en-IN" sz="1100"/>
                        <a:t>6</a:t>
                      </a:r>
                      <a:r>
                        <a:rPr sz="1100"/>
                        <a:t>0</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sz="1100"/>
                        <a:t>Handles noisy datasets well but requires more computational resources</a:t>
                      </a:r>
                      <a:r>
                        <a:rPr lang="en-IN" sz="1100"/>
                        <a:t> </a:t>
                      </a:r>
                      <a:r>
                        <a:rPr lang="en-US" altLang="en-US" sz="1100"/>
                        <a:t>compared to simpler models.</a:t>
                      </a:r>
                      <a:endParaRPr lang="en-US" altLang="en-US"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676400">
                <a:tc>
                  <a:txBody>
                    <a:bodyPr/>
                    <a:lstStyle/>
                    <a:p>
                      <a:r>
                        <a:rPr sz="1100"/>
                        <a:t>Proposed Work</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Data normalization and preprocessing</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18</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100"/>
                        <a:t>Logistic Regression, KNN, SVM, Decision Tree, Random Forest, Gradient Boosting, Naïve Bayes</a:t>
                      </a:r>
                      <a:endParaRPr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100"/>
                        <a:t> </a:t>
                      </a:r>
                      <a:r>
                        <a:rPr lang="en-IN" sz="1100" b="1">
                          <a:solidFill>
                            <a:srgbClr val="FF0000"/>
                          </a:solidFill>
                          <a:highlight>
                            <a:srgbClr val="FFFF00"/>
                          </a:highlight>
                        </a:rPr>
                        <a:t> </a:t>
                      </a:r>
                      <a:r>
                        <a:rPr sz="1100" b="1">
                          <a:solidFill>
                            <a:srgbClr val="FF0000"/>
                          </a:solidFill>
                          <a:highlight>
                            <a:srgbClr val="FFFF00"/>
                          </a:highlight>
                        </a:rPr>
                        <a:t>94.</a:t>
                      </a:r>
                      <a:r>
                        <a:rPr lang="en-IN" sz="1100" b="1">
                          <a:solidFill>
                            <a:srgbClr val="FF0000"/>
                          </a:solidFill>
                          <a:highlight>
                            <a:srgbClr val="FFFF00"/>
                          </a:highlight>
                        </a:rPr>
                        <a:t>95</a:t>
                      </a:r>
                      <a:endParaRPr lang="en-IN" sz="1100" b="1">
                        <a:solidFill>
                          <a:srgbClr val="FF0000"/>
                        </a:solidFill>
                        <a:highlight>
                          <a:srgbClr val="FFFF00"/>
                        </a:highligh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IN" sz="1100" b="1" u="sng">
                          <a:solidFill>
                            <a:srgbClr val="FF0000"/>
                          </a:solidFill>
                          <a:highlight>
                            <a:srgbClr val="FFFF00"/>
                          </a:highlight>
                        </a:rPr>
                        <a:t>logistic regression</a:t>
                      </a:r>
                      <a:r>
                        <a:rPr sz="1100">
                          <a:solidFill>
                            <a:srgbClr val="FF0000"/>
                          </a:solidFill>
                          <a:highlight>
                            <a:srgbClr val="FFFF00"/>
                          </a:highlight>
                        </a:rPr>
                        <a:t> </a:t>
                      </a:r>
                      <a:r>
                        <a:rPr sz="1100"/>
                        <a:t>achieved the highest accuracy and improved spectrum prediction performance.</a:t>
                      </a:r>
                      <a:endParaRPr sz="1100"/>
                    </a:p>
                    <a:p>
                      <a:pPr marL="171450" indent="-171450">
                        <a:buFont typeface="Arial" panose="020B0604020202020204" pitchFamily="34" charset="0"/>
                        <a:buChar char="•"/>
                      </a:pPr>
                      <a:r>
                        <a:rPr lang="en-US" altLang="en-US" sz="1100"/>
                        <a:t>Combining multiple machine learning models improves spectrum occupancy prediction accuracy and robustness compared to individual classifiers.</a:t>
                      </a:r>
                      <a:endParaRPr lang="en-US" altLang="en-US" sz="110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2" name="Picture 1"/>
          <p:cNvPicPr>
            <a:picLocks noChangeAspect="1"/>
          </p:cNvPicPr>
          <p:nvPr/>
        </p:nvPicPr>
        <p:blipFill>
          <a:blip r:embed="rId2"/>
          <a:stretch>
            <a:fillRect/>
          </a:stretch>
        </p:blipFill>
        <p:spPr>
          <a:xfrm>
            <a:off x="9144" y="174657"/>
            <a:ext cx="9144000" cy="335840"/>
          </a:xfrm>
          <a:prstGeom prst="rect">
            <a:avLst/>
          </a:prstGeom>
        </p:spPr>
      </p:pic>
      <p:pic>
        <p:nvPicPr>
          <p:cNvPr id="3" name="Picture 2"/>
          <p:cNvPicPr>
            <a:picLocks noChangeAspect="1"/>
          </p:cNvPicPr>
          <p:nvPr/>
        </p:nvPicPr>
        <p:blipFill>
          <a:blip r:embed="rId2"/>
          <a:stretch>
            <a:fillRect/>
          </a:stretch>
        </p:blipFill>
        <p:spPr>
          <a:xfrm>
            <a:off x="44568" y="6515423"/>
            <a:ext cx="9144000" cy="3358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620713"/>
            <a:ext cx="8364538" cy="509587"/>
          </a:xfrm>
        </p:spPr>
        <p:txBody>
          <a:bodyPr>
            <a:noAutofit/>
          </a:bodyPr>
          <a:lstStyle>
            <a:lvl1pPr algn="r">
              <a:defRPr>
                <a:solidFill>
                  <a:schemeClr val="accent2">
                    <a:lumMod val="50000"/>
                  </a:schemeClr>
                </a:solidFill>
              </a:defRPr>
            </a:lvl1pPr>
          </a:lstStyle>
          <a:p>
            <a:pPr algn="l"/>
            <a:r>
              <a:rPr lang="en-US" sz="3200" b="1" dirty="0"/>
              <a:t>VII. Conclusion and Future Works</a:t>
            </a:r>
            <a:endParaRPr lang="en-IN" sz="3200" b="1" dirty="0"/>
          </a:p>
        </p:txBody>
      </p:sp>
      <p:sp>
        <p:nvSpPr>
          <p:cNvPr id="6" name="Text Placeholder 5"/>
          <p:cNvSpPr>
            <a:spLocks noGrp="1"/>
          </p:cNvSpPr>
          <p:nvPr>
            <p:ph type="body" sz="quarter" idx="4294967295"/>
          </p:nvPr>
        </p:nvSpPr>
        <p:spPr>
          <a:xfrm>
            <a:off x="0" y="1268413"/>
            <a:ext cx="8470900" cy="5113337"/>
          </a:xfrm>
          <a:ln>
            <a:solidFill>
              <a:schemeClr val="tx1"/>
            </a:solidFill>
          </a:ln>
        </p:spPr>
        <p:txBody>
          <a:bodyPr>
            <a:normAutofit fontScale="25000" lnSpcReduction="20000"/>
          </a:bodyPr>
          <a:lstStyle/>
          <a:p>
            <a:pPr algn="just">
              <a:lnSpc>
                <a:spcPct val="170000"/>
              </a:lnSpc>
              <a:spcBef>
                <a:spcPts val="0"/>
              </a:spcBef>
              <a:buFont typeface="Wingdings" panose="05000000000000000000" pitchFamily="2" charset="2"/>
              <a:buChar char="Ø"/>
            </a:pPr>
            <a:r>
              <a:rPr lang="en-US" altLang="en-US" sz="6000" dirty="0"/>
              <a:t>Efficient utilization of wireless spectrum is essential for</a:t>
            </a:r>
            <a:r>
              <a:rPr lang="en-US" altLang="en-US" sz="6000" b="1" dirty="0">
                <a:solidFill>
                  <a:srgbClr val="FF0000"/>
                </a:solidFill>
              </a:rPr>
              <a:t> cognitive radio networks</a:t>
            </a:r>
            <a:r>
              <a:rPr lang="en-US" altLang="en-US" sz="6000" dirty="0"/>
              <a:t>, where inaccurate spectrum prediction may lead to poor communication performance and inefficient spectrum usage.</a:t>
            </a:r>
            <a:endParaRPr lang="en-US" altLang="en-US" sz="6000" dirty="0"/>
          </a:p>
          <a:p>
            <a:pPr algn="just">
              <a:lnSpc>
                <a:spcPct val="170000"/>
              </a:lnSpc>
              <a:spcBef>
                <a:spcPts val="0"/>
              </a:spcBef>
              <a:buFont typeface="Wingdings" panose="05000000000000000000" pitchFamily="2" charset="2"/>
              <a:buChar char="Ø"/>
            </a:pPr>
            <a:endParaRPr lang="en-US" altLang="en-US" sz="6000" dirty="0"/>
          </a:p>
          <a:p>
            <a:pPr algn="just">
              <a:lnSpc>
                <a:spcPct val="170000"/>
              </a:lnSpc>
              <a:spcBef>
                <a:spcPts val="0"/>
              </a:spcBef>
              <a:buFont typeface="Wingdings" panose="05000000000000000000" pitchFamily="2" charset="2"/>
              <a:buChar char="Ø"/>
            </a:pPr>
            <a:r>
              <a:rPr lang="en-US" altLang="en-US" sz="6000" dirty="0"/>
              <a:t>The proposed adaptive</a:t>
            </a:r>
            <a:r>
              <a:rPr lang="en-US" altLang="en-US" sz="6000" b="1" dirty="0">
                <a:solidFill>
                  <a:srgbClr val="FF0000"/>
                </a:solidFill>
              </a:rPr>
              <a:t> ensemble machine learning framework </a:t>
            </a:r>
            <a:r>
              <a:rPr lang="en-US" altLang="en-US" sz="6000" dirty="0"/>
              <a:t>combines multiple models to improve spectrum occupancy prediction accuracy and robustness.</a:t>
            </a:r>
            <a:endParaRPr lang="en-US" altLang="en-US" sz="6000" dirty="0"/>
          </a:p>
          <a:p>
            <a:pPr algn="just">
              <a:lnSpc>
                <a:spcPct val="170000"/>
              </a:lnSpc>
              <a:spcBef>
                <a:spcPts val="0"/>
              </a:spcBef>
              <a:buFont typeface="Wingdings" panose="05000000000000000000" pitchFamily="2" charset="2"/>
              <a:buChar char="Ø"/>
            </a:pPr>
            <a:endParaRPr lang="en-US" altLang="en-US" sz="6000" dirty="0"/>
          </a:p>
          <a:p>
            <a:pPr algn="just">
              <a:lnSpc>
                <a:spcPct val="170000"/>
              </a:lnSpc>
              <a:spcBef>
                <a:spcPts val="0"/>
              </a:spcBef>
              <a:buFont typeface="Wingdings" panose="05000000000000000000" pitchFamily="2" charset="2"/>
              <a:buChar char="Ø"/>
            </a:pPr>
            <a:r>
              <a:rPr lang="en-US" altLang="en-US" sz="6000" dirty="0"/>
              <a:t> Experimental results show that ensemble learning techniques can effectively </a:t>
            </a:r>
            <a:r>
              <a:rPr lang="en-US" altLang="en-US" sz="6000" b="1" dirty="0"/>
              <a:t>analyze historical spectrum data and model temporal spectrum usage patterns.</a:t>
            </a:r>
            <a:endParaRPr lang="en-US" altLang="en-US" sz="6000" b="1" dirty="0"/>
          </a:p>
          <a:p>
            <a:pPr algn="just">
              <a:lnSpc>
                <a:spcPct val="170000"/>
              </a:lnSpc>
              <a:spcBef>
                <a:spcPts val="0"/>
              </a:spcBef>
              <a:buFont typeface="Wingdings" panose="05000000000000000000" pitchFamily="2" charset="2"/>
              <a:buChar char="Ø"/>
            </a:pPr>
            <a:endParaRPr lang="en-US" altLang="en-US" sz="6000" dirty="0"/>
          </a:p>
          <a:p>
            <a:pPr algn="just">
              <a:lnSpc>
                <a:spcPct val="170000"/>
              </a:lnSpc>
              <a:spcBef>
                <a:spcPts val="0"/>
              </a:spcBef>
              <a:buFont typeface="Wingdings" panose="05000000000000000000" pitchFamily="2" charset="2"/>
              <a:buChar char="Ø"/>
            </a:pPr>
            <a:r>
              <a:rPr lang="en-US" altLang="en-US" sz="6000" dirty="0"/>
              <a:t>The proposed system can be extended in future work by exploring deep learning techniques such as </a:t>
            </a:r>
            <a:r>
              <a:rPr lang="en-US" altLang="en-US" sz="6000" b="1" dirty="0">
                <a:solidFill>
                  <a:srgbClr val="FF0000"/>
                </a:solidFill>
              </a:rPr>
              <a:t>Recurrent Neural Networks (RNN)</a:t>
            </a:r>
            <a:r>
              <a:rPr lang="en-US" altLang="en-US" sz="6000" dirty="0"/>
              <a:t> and </a:t>
            </a:r>
            <a:r>
              <a:rPr lang="en-US" altLang="en-US" sz="6000" b="1" dirty="0">
                <a:solidFill>
                  <a:srgbClr val="FF0000"/>
                </a:solidFill>
              </a:rPr>
              <a:t>Long Short-Term Memory (LSTM)</a:t>
            </a:r>
            <a:r>
              <a:rPr lang="en-US" altLang="en-US" sz="6000" dirty="0"/>
              <a:t> for real-time spectrum prediction</a:t>
            </a:r>
            <a:endParaRPr lang="en-US" altLang="en-US" sz="6000" dirty="0"/>
          </a:p>
          <a:p>
            <a:pPr algn="just">
              <a:lnSpc>
                <a:spcPct val="120000"/>
              </a:lnSpc>
              <a:spcBef>
                <a:spcPts val="0"/>
              </a:spcBef>
              <a:buFont typeface="Wingdings" panose="05000000000000000000" pitchFamily="2" charset="2"/>
              <a:buChar char="Ø"/>
            </a:pPr>
            <a:endParaRPr lang="en-US" b="1" dirty="0"/>
          </a:p>
          <a:p>
            <a:pPr algn="just">
              <a:lnSpc>
                <a:spcPct val="120000"/>
              </a:lnSpc>
              <a:spcBef>
                <a:spcPts val="0"/>
              </a:spcBef>
              <a:buFont typeface="Wingdings" panose="05000000000000000000" pitchFamily="2" charset="2"/>
              <a:buChar char="Ø"/>
            </a:pPr>
            <a:endParaRPr lang="en-IN" dirty="0"/>
          </a:p>
          <a:p>
            <a:pPr algn="just">
              <a:lnSpc>
                <a:spcPct val="170000"/>
              </a:lnSpc>
              <a:spcBef>
                <a:spcPts val="0"/>
              </a:spcBef>
              <a:buFont typeface="Wingdings" panose="05000000000000000000" pitchFamily="2" charset="2"/>
              <a:buChar char="Ø"/>
            </a:pPr>
            <a:endParaRPr lang="en-US" sz="2000" b="1" i="0" u="none" strike="noStrike" baseline="0" dirty="0">
              <a:solidFill>
                <a:schemeClr val="tx1"/>
              </a:solidFill>
              <a:latin typeface="+mj-lt"/>
              <a:ea typeface="Calibri" panose="020F0502020204030204" pitchFamily="34" charset="0"/>
              <a:cs typeface="Calibri" panose="020F0502020204030204" pitchFamily="34" charset="0"/>
            </a:endParaRPr>
          </a:p>
          <a:p>
            <a:pPr algn="just">
              <a:lnSpc>
                <a:spcPct val="170000"/>
              </a:lnSpc>
              <a:spcBef>
                <a:spcPts val="0"/>
              </a:spcBef>
            </a:pPr>
            <a:endParaRPr lang="en-US" sz="1400" dirty="0">
              <a:latin typeface="+mj-lt"/>
              <a:cs typeface="Arial" panose="020B0604020202020204" pitchFamily="34" charset="0"/>
            </a:endParaRPr>
          </a:p>
          <a:p>
            <a:pPr algn="just">
              <a:lnSpc>
                <a:spcPct val="170000"/>
              </a:lnSpc>
              <a:spcBef>
                <a:spcPts val="0"/>
              </a:spcBef>
            </a:pPr>
            <a:endParaRPr lang="en-US" sz="1100" dirty="0">
              <a:latin typeface="Rockwell" panose="02060603020205020403" pitchFamily="18" charset="0"/>
              <a:cs typeface="Arial" panose="020B0604020202020204" pitchFamily="34" charset="0"/>
            </a:endParaRPr>
          </a:p>
          <a:p>
            <a:pPr algn="just">
              <a:lnSpc>
                <a:spcPct val="170000"/>
              </a:lnSpc>
              <a:spcBef>
                <a:spcPts val="0"/>
              </a:spcBef>
            </a:pPr>
            <a:endParaRPr lang="en-US" sz="2400" b="0" i="0" u="none" strike="noStrike" baseline="0" dirty="0">
              <a:solidFill>
                <a:schemeClr val="tx1"/>
              </a:solidFill>
              <a:latin typeface="+mj-lt"/>
              <a:ea typeface="Calibri" panose="020F0502020204030204" pitchFamily="34" charset="0"/>
              <a:cs typeface="Calibri" panose="020F0502020204030204" pitchFamily="34" charset="0"/>
            </a:endParaRPr>
          </a:p>
          <a:p>
            <a:pPr marL="0" indent="0" algn="just">
              <a:lnSpc>
                <a:spcPct val="170000"/>
              </a:lnSpc>
              <a:spcBef>
                <a:spcPts val="0"/>
              </a:spcBef>
              <a:buNone/>
            </a:pPr>
            <a:endParaRPr lang="en-US" sz="2100" dirty="0">
              <a:latin typeface="+mj-lt"/>
              <a:ea typeface="Calibri" panose="020F0502020204030204" pitchFamily="34" charset="0"/>
              <a:cs typeface="Calibri" panose="020F0502020204030204" pitchFamily="34" charset="0"/>
            </a:endParaRPr>
          </a:p>
          <a:p>
            <a:pPr algn="just">
              <a:lnSpc>
                <a:spcPct val="170000"/>
              </a:lnSpc>
              <a:spcBef>
                <a:spcPts val="0"/>
              </a:spcBef>
            </a:pPr>
            <a:endParaRPr lang="en-US" sz="1600" b="1" dirty="0">
              <a:latin typeface="+mj-lt"/>
              <a:ea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1"/>
          <a:stretch>
            <a:fillRect/>
          </a:stretch>
        </p:blipFill>
        <p:spPr>
          <a:xfrm>
            <a:off x="179512" y="140410"/>
            <a:ext cx="9144000" cy="335840"/>
          </a:xfrm>
          <a:prstGeom prst="rect">
            <a:avLst/>
          </a:prstGeom>
        </p:spPr>
      </p:pic>
      <p:pic>
        <p:nvPicPr>
          <p:cNvPr id="3" name="Picture 2"/>
          <p:cNvPicPr>
            <a:picLocks noChangeAspect="1"/>
          </p:cNvPicPr>
          <p:nvPr/>
        </p:nvPicPr>
        <p:blipFill>
          <a:blip r:embed="rId1"/>
          <a:stretch>
            <a:fillRect/>
          </a:stretch>
        </p:blipFill>
        <p:spPr>
          <a:xfrm>
            <a:off x="139568" y="6519863"/>
            <a:ext cx="9144000" cy="335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549275"/>
            <a:ext cx="8985250" cy="508000"/>
          </a:xfrm>
          <a:ln>
            <a:solidFill>
              <a:schemeClr val="bg1"/>
            </a:solidFill>
          </a:ln>
        </p:spPr>
        <p:txBody>
          <a:bodyPr>
            <a:noAutofit/>
          </a:bodyPr>
          <a:lstStyle>
            <a:lvl1pPr algn="r">
              <a:defRPr>
                <a:solidFill>
                  <a:schemeClr val="accent2">
                    <a:lumMod val="50000"/>
                  </a:schemeClr>
                </a:solidFill>
              </a:defRPr>
            </a:lvl1pPr>
          </a:lstStyle>
          <a:p>
            <a:pPr algn="l"/>
            <a:r>
              <a:rPr lang="en-US" sz="3200" dirty="0"/>
              <a:t>   </a:t>
            </a:r>
            <a:r>
              <a:rPr lang="en-US" sz="3200" b="1" dirty="0"/>
              <a:t>References</a:t>
            </a:r>
            <a:endParaRPr lang="en-IN" sz="3200" b="1" dirty="0"/>
          </a:p>
        </p:txBody>
      </p:sp>
      <p:sp>
        <p:nvSpPr>
          <p:cNvPr id="6" name="Text Placeholder 5"/>
          <p:cNvSpPr>
            <a:spLocks noGrp="1"/>
          </p:cNvSpPr>
          <p:nvPr>
            <p:ph type="body" sz="quarter" idx="4294967295"/>
          </p:nvPr>
        </p:nvSpPr>
        <p:spPr>
          <a:xfrm>
            <a:off x="0" y="1196975"/>
            <a:ext cx="8512175" cy="5184775"/>
          </a:xfrm>
          <a:ln>
            <a:solidFill>
              <a:schemeClr val="tx1"/>
            </a:solidFill>
          </a:ln>
        </p:spPr>
        <p:txBody>
          <a:bodyPr>
            <a:normAutofit lnSpcReduction="10000"/>
          </a:bodyPr>
          <a:lstStyle/>
          <a:p>
            <a:pPr marL="342900" lvl="0" indent="-342900" algn="just">
              <a:buFont typeface="+mj-lt"/>
              <a:buAutoNum type="arabicPeriod"/>
              <a:tabLst>
                <a:tab pos="228600" algn="l"/>
              </a:tabLst>
            </a:pPr>
            <a:r>
              <a:rPr lang="en-US" altLang="en-US" sz="1600" dirty="0">
                <a:effectLst/>
                <a:ea typeface="Times New Roman" panose="02020603050405020304" pitchFamily="18" charset="0"/>
              </a:rPr>
              <a:t>[1]  M. Yasir, Z. S. Shah, S. A. Memon, and Z. Ali, “Machine learning based analysis of cellular spectrum,” International Journal of Wireless and Microwave Technologies, vol. 11, no. 2, pp. 24–31, 2021. </a:t>
            </a:r>
            <a:endParaRPr lang="en-US" altLang="en-US" sz="1600" dirty="0">
              <a:effectLst/>
              <a:ea typeface="Times New Roman" panose="02020603050405020304" pitchFamily="18" charset="0"/>
            </a:endParaRPr>
          </a:p>
          <a:p>
            <a:pPr marL="342900" lvl="0" indent="-342900" algn="just">
              <a:buFont typeface="+mj-lt"/>
              <a:buAutoNum type="arabicPeriod"/>
              <a:tabLst>
                <a:tab pos="228600" algn="l"/>
              </a:tabLst>
            </a:pPr>
            <a:r>
              <a:rPr lang="en-US" altLang="en-US" sz="1600" dirty="0">
                <a:effectLst/>
                <a:ea typeface="Times New Roman" panose="02020603050405020304" pitchFamily="18" charset="0"/>
              </a:rPr>
              <a:t>[2]  B. Keshavamurthy and N. Michelusi, “Learning-based spectrum sensing and access in cognitive radios via approximate POMDPs,” IEEE Transactions on Cognitive Communications and Networking, 2021. </a:t>
            </a:r>
            <a:endParaRPr lang="en-US" altLang="en-US" sz="1600" dirty="0">
              <a:effectLst/>
              <a:ea typeface="Times New Roman" panose="02020603050405020304" pitchFamily="18" charset="0"/>
            </a:endParaRPr>
          </a:p>
          <a:p>
            <a:pPr marL="342900" lvl="0" indent="-342900" algn="just">
              <a:buFont typeface="+mj-lt"/>
              <a:buAutoNum type="arabicPeriod"/>
              <a:tabLst>
                <a:tab pos="228600" algn="l"/>
              </a:tabLst>
            </a:pPr>
            <a:r>
              <a:rPr lang="en-US" altLang="en-US" sz="1600" dirty="0">
                <a:effectLst/>
                <a:ea typeface="Times New Roman" panose="02020603050405020304" pitchFamily="18" charset="0"/>
              </a:rPr>
              <a:t>[3]  Y. Zhang and Z. Luo, “A review of research on spectrum sensing based on deep learning,” Electronics, vol. 12, no. 21, 2023. </a:t>
            </a:r>
            <a:endParaRPr lang="en-US" altLang="en-US" sz="1600" dirty="0">
              <a:effectLst/>
              <a:ea typeface="Times New Roman" panose="02020603050405020304" pitchFamily="18" charset="0"/>
            </a:endParaRPr>
          </a:p>
          <a:p>
            <a:pPr marL="342900" lvl="0" indent="-342900" algn="just">
              <a:buFont typeface="+mj-lt"/>
              <a:buAutoNum type="arabicPeriod"/>
              <a:tabLst>
                <a:tab pos="228600" algn="l"/>
              </a:tabLst>
            </a:pPr>
            <a:r>
              <a:rPr lang="en-US" altLang="en-US" sz="1600" dirty="0">
                <a:effectLst/>
                <a:ea typeface="Times New Roman" panose="02020603050405020304" pitchFamily="18" charset="0"/>
              </a:rPr>
              <a:t>[4]  X. Wen, S. Fang, Z. Xu, and H. Liu, “Joint multidimensional pattern for spectrum prediction using graph neural networks,” Sensors, vol. 23, no. 21, 2023. </a:t>
            </a:r>
            <a:endParaRPr lang="en-US" altLang="en-US" sz="1600" dirty="0">
              <a:effectLst/>
              <a:ea typeface="Times New Roman" panose="02020603050405020304" pitchFamily="18" charset="0"/>
            </a:endParaRPr>
          </a:p>
          <a:p>
            <a:pPr marL="342900" lvl="0" indent="-342900" algn="just">
              <a:buFont typeface="+mj-lt"/>
              <a:buAutoNum type="arabicPeriod"/>
              <a:tabLst>
                <a:tab pos="228600" algn="l"/>
              </a:tabLst>
            </a:pPr>
            <a:r>
              <a:rPr lang="en-US" altLang="en-US" sz="1600" dirty="0">
                <a:effectLst/>
                <a:ea typeface="Times New Roman" panose="02020603050405020304" pitchFamily="18" charset="0"/>
              </a:rPr>
              <a:t>[5]  T. Kolangiyappan, S. Gauni, and P. Chandhar, “Spectrum occupancy prediction using LSTM models for cognitive radio applications,” Network, 2024. </a:t>
            </a:r>
            <a:endParaRPr lang="en-US" altLang="en-US" sz="1600" dirty="0">
              <a:effectLst/>
              <a:ea typeface="Times New Roman" panose="02020603050405020304" pitchFamily="18" charset="0"/>
            </a:endParaRPr>
          </a:p>
          <a:p>
            <a:pPr marL="342900" lvl="0" indent="-342900" algn="just">
              <a:buFont typeface="+mj-lt"/>
              <a:buAutoNum type="arabicPeriod"/>
              <a:tabLst>
                <a:tab pos="228600" algn="l"/>
              </a:tabLst>
            </a:pPr>
            <a:r>
              <a:rPr lang="en-US" altLang="en-US" sz="1600" dirty="0">
                <a:effectLst/>
                <a:ea typeface="Times New Roman" panose="02020603050405020304" pitchFamily="18" charset="0"/>
              </a:rPr>
              <a:t>[6]  M. G. Sumithra and M. Suriya, “Improved spectrum prediction model for cognitive radio networks using hybrid deep learning technique,” International Journal of Intelligent Networks, vol. 5, pp. 286–292, 2024. </a:t>
            </a:r>
            <a:endParaRPr lang="en-US" altLang="en-US" sz="1600" dirty="0">
              <a:effectLst/>
              <a:ea typeface="Times New Roman" panose="02020603050405020304" pitchFamily="18" charset="0"/>
            </a:endParaRPr>
          </a:p>
          <a:p>
            <a:pPr marL="342900" lvl="0" indent="-342900" algn="just">
              <a:buFont typeface="+mj-lt"/>
              <a:buAutoNum type="arabicPeriod"/>
              <a:tabLst>
                <a:tab pos="228600" algn="l"/>
              </a:tabLst>
            </a:pPr>
            <a:r>
              <a:rPr lang="en-US" altLang="en-US" sz="1600" dirty="0">
                <a:effectLst/>
                <a:ea typeface="Times New Roman" panose="02020603050405020304" pitchFamily="18" charset="0"/>
              </a:rPr>
              <a:t>[7]  S. Mondal, M. P. Dutta, and S. K. Chakraborty, “A hybrid deep learning model for efficient spectrum sensing in cognitive radio,” Journal of Electrical Systems, vol. 20, no. 3, 2024. </a:t>
            </a:r>
            <a:br>
              <a:rPr lang="en-US" altLang="en-US" sz="1600" dirty="0">
                <a:effectLst/>
                <a:ea typeface="Times New Roman" panose="02020603050405020304" pitchFamily="18" charset="0"/>
              </a:rPr>
            </a:br>
            <a:endParaRPr lang="en-US" altLang="en-US" sz="1600" dirty="0">
              <a:effectLst/>
              <a:ea typeface="Times New Roman" panose="02020603050405020304" pitchFamily="18" charset="0"/>
            </a:endParaRPr>
          </a:p>
          <a:p>
            <a:pPr marL="342900" lvl="0" indent="-342900" algn="just">
              <a:buFont typeface="+mj-lt"/>
              <a:buAutoNum type="arabicPeriod"/>
              <a:tabLst>
                <a:tab pos="228600" algn="l"/>
              </a:tabLst>
            </a:pPr>
            <a:r>
              <a:rPr lang="en-US" altLang="en-US" sz="1600" dirty="0">
                <a:effectLst/>
                <a:ea typeface="Times New Roman" panose="02020603050405020304" pitchFamily="18" charset="0"/>
                <a:sym typeface="+mn-ea"/>
              </a:rPr>
              <a:t>[8]  P. Venkatapathi, H. Khan, S. S. Rao, and G. Immadi, “Cooperative spectrum sensing performance assessment using machine learning in cognitive radio sensor networks,” Engineering, Technology &amp; Applied Science Research, vol. 14, no. 1, 2024. </a:t>
            </a:r>
            <a:endParaRPr lang="en-US" altLang="en-US" sz="1600" dirty="0">
              <a:effectLst/>
              <a:ea typeface="Times New Roman" panose="02020603050405020304" pitchFamily="18" charset="0"/>
            </a:endParaRPr>
          </a:p>
          <a:p>
            <a:pPr marL="342900" lvl="0" indent="-342900" algn="just">
              <a:buFont typeface="+mj-lt"/>
              <a:buAutoNum type="arabicPeriod"/>
              <a:tabLst>
                <a:tab pos="228600" algn="l"/>
              </a:tabLst>
            </a:pPr>
            <a:endParaRPr lang="en-US" altLang="en-US" sz="1600" dirty="0">
              <a:effectLst/>
              <a:latin typeface="Times New Roman" panose="02020603050405020304" pitchFamily="18" charset="0"/>
              <a:ea typeface="Times New Roman" panose="02020603050405020304" pitchFamily="18" charset="0"/>
            </a:endParaRPr>
          </a:p>
          <a:p>
            <a:pPr marL="0" lvl="0" indent="0" algn="just">
              <a:buNone/>
              <a:tabLst>
                <a:tab pos="228600" algn="l"/>
              </a:tabLst>
            </a:pPr>
            <a:endParaRPr lang="en-IN" sz="1800" dirty="0">
              <a:effectLst/>
              <a:latin typeface="+mj-lt"/>
              <a:ea typeface="Times New Roman" panose="02020603050405020304" pitchFamily="18" charset="0"/>
            </a:endParaRPr>
          </a:p>
          <a:p>
            <a:endParaRPr lang="en-US" sz="2800" dirty="0">
              <a:solidFill>
                <a:schemeClr val="tx2">
                  <a:lumMod val="75000"/>
                </a:schemeClr>
              </a:solidFill>
            </a:endParaRPr>
          </a:p>
          <a:p>
            <a:endParaRPr lang="en-IN" sz="2800" dirty="0"/>
          </a:p>
        </p:txBody>
      </p:sp>
      <p:pic>
        <p:nvPicPr>
          <p:cNvPr id="2" name="Picture 1"/>
          <p:cNvPicPr>
            <a:picLocks noChangeAspect="1"/>
          </p:cNvPicPr>
          <p:nvPr/>
        </p:nvPicPr>
        <p:blipFill>
          <a:blip r:embed="rId1"/>
          <a:stretch>
            <a:fillRect/>
          </a:stretch>
        </p:blipFill>
        <p:spPr>
          <a:xfrm>
            <a:off x="0" y="122122"/>
            <a:ext cx="9144000" cy="335840"/>
          </a:xfrm>
          <a:prstGeom prst="rect">
            <a:avLst/>
          </a:prstGeom>
        </p:spPr>
      </p:pic>
      <p:pic>
        <p:nvPicPr>
          <p:cNvPr id="3" name="Picture 2"/>
          <p:cNvPicPr>
            <a:picLocks noChangeAspect="1"/>
          </p:cNvPicPr>
          <p:nvPr/>
        </p:nvPicPr>
        <p:blipFill>
          <a:blip r:embed="rId1"/>
          <a:stretch>
            <a:fillRect/>
          </a:stretch>
        </p:blipFill>
        <p:spPr>
          <a:xfrm>
            <a:off x="-79375" y="6521450"/>
            <a:ext cx="9144000" cy="3358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3"/>
          <p:cNvSpPr>
            <a:spLocks noGrp="1"/>
          </p:cNvSpPr>
          <p:nvPr>
            <p:ph type="title" idx="4294967295"/>
          </p:nvPr>
        </p:nvSpPr>
        <p:spPr>
          <a:xfrm>
            <a:off x="0" y="549275"/>
            <a:ext cx="8985250" cy="508000"/>
          </a:xfrm>
          <a:ln>
            <a:solidFill>
              <a:schemeClr val="bg1"/>
            </a:solidFill>
          </a:ln>
        </p:spPr>
        <p:txBody>
          <a:bodyPr>
            <a:noAutofit/>
          </a:bodyPr>
          <a:lstStyle>
            <a:lvl1pPr algn="r">
              <a:defRPr>
                <a:solidFill>
                  <a:schemeClr val="accent2">
                    <a:lumMod val="50000"/>
                  </a:schemeClr>
                </a:solidFill>
              </a:defRPr>
            </a:lvl1pPr>
          </a:lstStyle>
          <a:p>
            <a:pPr algn="l"/>
            <a:r>
              <a:rPr lang="en-US" sz="3200" dirty="0"/>
              <a:t>   </a:t>
            </a:r>
            <a:r>
              <a:rPr lang="en-US" sz="3200" b="1" dirty="0"/>
              <a:t>References</a:t>
            </a:r>
            <a:endParaRPr lang="en-IN" sz="3200" b="1" dirty="0"/>
          </a:p>
        </p:txBody>
      </p:sp>
      <p:sp>
        <p:nvSpPr>
          <p:cNvPr id="6" name="Text Placeholder 5"/>
          <p:cNvSpPr>
            <a:spLocks noGrp="1"/>
          </p:cNvSpPr>
          <p:nvPr>
            <p:ph type="body" sz="quarter" idx="4294967295"/>
          </p:nvPr>
        </p:nvSpPr>
        <p:spPr>
          <a:xfrm>
            <a:off x="0" y="1196975"/>
            <a:ext cx="8512175" cy="5184775"/>
          </a:xfrm>
          <a:ln>
            <a:solidFill>
              <a:schemeClr val="tx1"/>
            </a:solidFill>
          </a:ln>
        </p:spPr>
        <p:txBody>
          <a:bodyPr>
            <a:normAutofit/>
          </a:bodyPr>
          <a:lstStyle/>
          <a:p>
            <a:pPr marL="342900" lvl="0" indent="-342900" algn="just">
              <a:buFont typeface="+mj-lt"/>
              <a:buAutoNum type="arabicPeriod" startAt="9"/>
              <a:tabLst>
                <a:tab pos="228600" algn="l"/>
              </a:tabLst>
            </a:pPr>
            <a:r>
              <a:rPr lang="en-US" altLang="en-US" sz="1600" dirty="0">
                <a:effectLst/>
                <a:latin typeface="+mj-lt"/>
                <a:ea typeface="Times New Roman" panose="02020603050405020304" pitchFamily="18" charset="0"/>
              </a:rPr>
              <a:t>[9]  T. A. Oyewo, U. S. Dauda, and A. S. Mohammed, “Spectrum occupancy prediction using a modified XGBoost machine learning algorithm,” International Conference on Scientific and Academic Research, 2023. </a:t>
            </a:r>
            <a:endParaRPr lang="en-US" altLang="en-US" sz="1600" dirty="0">
              <a:effectLst/>
              <a:latin typeface="+mj-lt"/>
              <a:ea typeface="Times New Roman" panose="02020603050405020304" pitchFamily="18" charset="0"/>
            </a:endParaRPr>
          </a:p>
          <a:p>
            <a:pPr marL="342900" lvl="0" indent="-342900" algn="just">
              <a:buFont typeface="+mj-lt"/>
              <a:buAutoNum type="arabicPeriod" startAt="9"/>
              <a:tabLst>
                <a:tab pos="228600" algn="l"/>
              </a:tabLst>
            </a:pPr>
            <a:r>
              <a:rPr lang="en-US" altLang="en-US" sz="1600" dirty="0">
                <a:effectLst/>
                <a:latin typeface="+mj-lt"/>
                <a:ea typeface="Times New Roman" panose="02020603050405020304" pitchFamily="18" charset="0"/>
              </a:rPr>
              <a:t>[10] G. Pan, D. K. Y. Yau, B. Zhou, and Q. Wu, “Deep learning for spectrum prediction in cognitive radio networks: State-of-the-art and future challenges,” 2024.</a:t>
            </a:r>
            <a:endParaRPr lang="en-US" altLang="en-US" sz="1600" dirty="0">
              <a:effectLst/>
              <a:latin typeface="+mj-lt"/>
              <a:ea typeface="Times New Roman" panose="02020603050405020304" pitchFamily="18" charset="0"/>
            </a:endParaRPr>
          </a:p>
          <a:p>
            <a:pPr marL="342900" lvl="0" indent="-342900" algn="just">
              <a:buFont typeface="+mj-lt"/>
              <a:buAutoNum type="arabicPeriod" startAt="9"/>
              <a:tabLst>
                <a:tab pos="228600" algn="l"/>
              </a:tabLst>
            </a:pPr>
            <a:r>
              <a:rPr lang="en-US" altLang="en-US" sz="1600" dirty="0">
                <a:effectLst/>
                <a:latin typeface="+mj-lt"/>
                <a:ea typeface="Times New Roman" panose="02020603050405020304" pitchFamily="18" charset="0"/>
              </a:rPr>
              <a:t>[11]S. Haykin, “Cognitive radio: Brain-empowered wireless communications,” IEEE Journal on Selected Areas in Communications.</a:t>
            </a:r>
            <a:endParaRPr lang="en-US" altLang="en-US" sz="1600" dirty="0">
              <a:effectLst/>
              <a:latin typeface="+mj-lt"/>
              <a:ea typeface="Times New Roman" panose="02020603050405020304" pitchFamily="18" charset="0"/>
            </a:endParaRPr>
          </a:p>
          <a:p>
            <a:pPr marL="342900" lvl="0" indent="-342900" algn="just">
              <a:buFont typeface="+mj-lt"/>
              <a:buAutoNum type="arabicPeriod" startAt="9"/>
              <a:tabLst>
                <a:tab pos="228600" algn="l"/>
              </a:tabLst>
            </a:pPr>
            <a:r>
              <a:rPr lang="en-US" altLang="en-US" sz="1600" dirty="0">
                <a:effectLst/>
                <a:latin typeface="+mj-lt"/>
                <a:ea typeface="Times New Roman" panose="02020603050405020304" pitchFamily="18" charset="0"/>
              </a:rPr>
              <a:t>[12]T. Yucek and H. Arslan, “A survey of spectrum sensing algorithms for cognitive radio applications,” IEEE Communications Surveys &amp; Tutorials.</a:t>
            </a:r>
            <a:endParaRPr lang="en-US" altLang="en-US" sz="1600" dirty="0">
              <a:effectLst/>
              <a:latin typeface="+mj-lt"/>
              <a:ea typeface="Times New Roman" panose="02020603050405020304" pitchFamily="18" charset="0"/>
            </a:endParaRPr>
          </a:p>
          <a:p>
            <a:pPr marL="342900" lvl="0" indent="-342900" algn="just">
              <a:buFont typeface="+mj-lt"/>
              <a:buAutoNum type="arabicPeriod" startAt="9"/>
              <a:tabLst>
                <a:tab pos="228600" algn="l"/>
              </a:tabLst>
            </a:pPr>
            <a:r>
              <a:rPr lang="en-US" altLang="en-US" sz="1600" dirty="0">
                <a:effectLst/>
                <a:latin typeface="+mj-lt"/>
                <a:ea typeface="Times New Roman" panose="02020603050405020304" pitchFamily="18" charset="0"/>
              </a:rPr>
              <a:t>[13]Y. Zeng, Y. Liang, A. Hoang, and R. Zhang, “A review on spectrum sensing for cognitive radio,” IEEE Communications Surveys &amp; Tutorials.</a:t>
            </a:r>
            <a:endParaRPr lang="en-US" altLang="en-US" sz="1600" dirty="0">
              <a:effectLst/>
              <a:latin typeface="+mj-lt"/>
              <a:ea typeface="Times New Roman" panose="02020603050405020304" pitchFamily="18" charset="0"/>
            </a:endParaRPr>
          </a:p>
          <a:p>
            <a:pPr marL="342900" lvl="0" indent="-342900" algn="just">
              <a:buFont typeface="+mj-lt"/>
              <a:buAutoNum type="arabicPeriod" startAt="9"/>
              <a:tabLst>
                <a:tab pos="228600" algn="l"/>
              </a:tabLst>
            </a:pPr>
            <a:r>
              <a:rPr lang="en-US" altLang="en-US" sz="1600" dirty="0">
                <a:effectLst/>
                <a:latin typeface="+mj-lt"/>
                <a:ea typeface="Times New Roman" panose="02020603050405020304" pitchFamily="18" charset="0"/>
              </a:rPr>
              <a:t>[14]I. F. Akyildiz, W. Y. Lee, M. C. Vuran, and S. Mohanty, “Next generation dynamic spectrum access cognitive radio networks,” Computer Networks.</a:t>
            </a:r>
            <a:endParaRPr lang="en-US" altLang="en-US" sz="1600" dirty="0">
              <a:effectLst/>
              <a:latin typeface="+mj-lt"/>
              <a:ea typeface="Times New Roman" panose="02020603050405020304" pitchFamily="18" charset="0"/>
            </a:endParaRPr>
          </a:p>
          <a:p>
            <a:pPr marL="0" lvl="0" indent="0" algn="just">
              <a:buNone/>
              <a:tabLst>
                <a:tab pos="228600" algn="l"/>
              </a:tabLst>
            </a:pPr>
            <a:endParaRPr lang="en-IN" sz="1600" dirty="0">
              <a:effectLst/>
              <a:latin typeface="+mj-lt"/>
              <a:ea typeface="Times New Roman" panose="02020603050405020304" pitchFamily="18" charset="0"/>
            </a:endParaRPr>
          </a:p>
          <a:p>
            <a:endParaRPr lang="en-US" sz="1600" dirty="0">
              <a:solidFill>
                <a:schemeClr val="tx2">
                  <a:lumMod val="75000"/>
                </a:schemeClr>
              </a:solidFill>
            </a:endParaRPr>
          </a:p>
          <a:p>
            <a:endParaRPr lang="en-IN" sz="1600" dirty="0"/>
          </a:p>
        </p:txBody>
      </p:sp>
      <p:pic>
        <p:nvPicPr>
          <p:cNvPr id="2" name="Picture 1"/>
          <p:cNvPicPr>
            <a:picLocks noChangeAspect="1"/>
          </p:cNvPicPr>
          <p:nvPr/>
        </p:nvPicPr>
        <p:blipFill>
          <a:blip r:embed="rId1"/>
          <a:stretch>
            <a:fillRect/>
          </a:stretch>
        </p:blipFill>
        <p:spPr>
          <a:xfrm>
            <a:off x="26304" y="140410"/>
            <a:ext cx="9144000" cy="335840"/>
          </a:xfrm>
          <a:prstGeom prst="rect">
            <a:avLst/>
          </a:prstGeom>
        </p:spPr>
      </p:pic>
      <p:pic>
        <p:nvPicPr>
          <p:cNvPr id="3" name="Picture 2"/>
          <p:cNvPicPr>
            <a:picLocks noChangeAspect="1"/>
          </p:cNvPicPr>
          <p:nvPr/>
        </p:nvPicPr>
        <p:blipFill>
          <a:blip r:embed="rId1"/>
          <a:stretch>
            <a:fillRect/>
          </a:stretch>
        </p:blipFill>
        <p:spPr>
          <a:xfrm>
            <a:off x="107504" y="6522160"/>
            <a:ext cx="9144000" cy="3358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4294967295"/>
          </p:nvPr>
        </p:nvSpPr>
        <p:spPr>
          <a:xfrm>
            <a:off x="0" y="765175"/>
            <a:ext cx="9107996" cy="5616575"/>
          </a:xfrm>
          <a:ln>
            <a:solidFill>
              <a:schemeClr val="tx1"/>
            </a:solidFill>
          </a:ln>
        </p:spPr>
        <p:txBody>
          <a:bodyPr>
            <a:normAutofit/>
          </a:bodyPr>
          <a:lstStyle/>
          <a:p>
            <a:pPr marL="0" indent="0" algn="just">
              <a:lnSpc>
                <a:spcPct val="120000"/>
              </a:lnSpc>
              <a:spcBef>
                <a:spcPts val="0"/>
              </a:spcBef>
              <a:buNone/>
            </a:pPr>
            <a:endParaRPr lang="en-US" sz="1600" b="1" i="0" u="none" strike="noStrike" baseline="0" dirty="0">
              <a:latin typeface="+mj-lt"/>
              <a:ea typeface="Calibri" panose="020F0502020204030204" pitchFamily="34" charset="0"/>
              <a:cs typeface="Calibri" panose="020F0502020204030204" pitchFamily="34" charset="0"/>
            </a:endParaRPr>
          </a:p>
          <a:p>
            <a:pPr marL="0" indent="0" algn="just">
              <a:lnSpc>
                <a:spcPct val="170000"/>
              </a:lnSpc>
              <a:spcBef>
                <a:spcPts val="0"/>
              </a:spcBef>
              <a:buNone/>
            </a:pPr>
            <a:endParaRPr lang="en-IN" sz="2400" dirty="0">
              <a:solidFill>
                <a:srgbClr val="000000"/>
              </a:solidFill>
              <a:latin typeface="Rockwell" panose="02060603020205020403" pitchFamily="18" charset="0"/>
              <a:ea typeface="Times New Roman" panose="02020603050405020304" pitchFamily="18" charset="0"/>
            </a:endParaRPr>
          </a:p>
          <a:p>
            <a:pPr algn="just">
              <a:lnSpc>
                <a:spcPct val="170000"/>
              </a:lnSpc>
              <a:spcBef>
                <a:spcPts val="0"/>
              </a:spcBef>
            </a:pPr>
            <a:endParaRPr lang="en-US" sz="2400" b="0" i="0" u="none" strike="noStrike" baseline="0" dirty="0">
              <a:solidFill>
                <a:schemeClr val="tx1"/>
              </a:solidFill>
              <a:latin typeface="+mj-lt"/>
              <a:ea typeface="Calibri" panose="020F0502020204030204" pitchFamily="34" charset="0"/>
              <a:cs typeface="Calibri" panose="020F0502020204030204" pitchFamily="34" charset="0"/>
            </a:endParaRPr>
          </a:p>
          <a:p>
            <a:pPr marL="0" indent="0" algn="just">
              <a:lnSpc>
                <a:spcPct val="170000"/>
              </a:lnSpc>
              <a:spcBef>
                <a:spcPts val="0"/>
              </a:spcBef>
              <a:buNone/>
            </a:pPr>
            <a:endParaRPr lang="en-US" sz="2100" dirty="0">
              <a:latin typeface="+mj-lt"/>
              <a:ea typeface="Calibri" panose="020F0502020204030204" pitchFamily="34" charset="0"/>
              <a:cs typeface="Calibri" panose="020F0502020204030204" pitchFamily="34" charset="0"/>
            </a:endParaRPr>
          </a:p>
          <a:p>
            <a:pPr algn="just">
              <a:lnSpc>
                <a:spcPct val="170000"/>
              </a:lnSpc>
              <a:spcBef>
                <a:spcPts val="0"/>
              </a:spcBef>
            </a:pPr>
            <a:endParaRPr lang="en-US" sz="1600" b="1" dirty="0">
              <a:latin typeface="+mj-lt"/>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1"/>
          <a:stretch>
            <a:fillRect/>
          </a:stretch>
        </p:blipFill>
        <p:spPr>
          <a:xfrm>
            <a:off x="6856" y="140410"/>
            <a:ext cx="9144000" cy="335840"/>
          </a:xfrm>
          <a:prstGeom prst="rect">
            <a:avLst/>
          </a:prstGeom>
        </p:spPr>
      </p:pic>
      <p:pic>
        <p:nvPicPr>
          <p:cNvPr id="4" name="Picture 3"/>
          <p:cNvPicPr>
            <a:picLocks noChangeAspect="1"/>
          </p:cNvPicPr>
          <p:nvPr/>
        </p:nvPicPr>
        <p:blipFill>
          <a:blip r:embed="rId1"/>
          <a:stretch>
            <a:fillRect/>
          </a:stretch>
        </p:blipFill>
        <p:spPr>
          <a:xfrm>
            <a:off x="-36004" y="6502755"/>
            <a:ext cx="9144000" cy="335840"/>
          </a:xfrm>
          <a:prstGeom prst="rect">
            <a:avLst/>
          </a:prstGeom>
        </p:spPr>
      </p:pic>
      <p:sp>
        <p:nvSpPr>
          <p:cNvPr id="5" name="Rectangle 4"/>
          <p:cNvSpPr/>
          <p:nvPr/>
        </p:nvSpPr>
        <p:spPr>
          <a:xfrm>
            <a:off x="2803663" y="2967335"/>
            <a:ext cx="353667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THANK YOU</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tags/tag1.xml><?xml version="1.0" encoding="utf-8"?>
<p:tagLst xmlns:p="http://schemas.openxmlformats.org/presentationml/2006/main">
  <p:tag name="TABLE_ENDDRAG_ORIGIN_RECT" val="674*333"/>
  <p:tag name="TABLE_ENDDRAG_RECT" val="19*106*674*333"/>
</p:tagLst>
</file>

<file path=ppt/tags/tag2.xml><?xml version="1.0" encoding="utf-8"?>
<p:tagLst xmlns:p="http://schemas.openxmlformats.org/presentationml/2006/main">
  <p:tag name="KSO_WM_DIAGRAM_VIRTUALLY_FRAME" val="{&quot;height&quot;:309.4002362204725,&quot;left&quot;:26.736456692913386,&quot;top&quot;:124.3140157480315,&quot;width&quot;:666.5270866141732}"/>
</p:tagLst>
</file>

<file path=ppt/tags/tag3.xml><?xml version="1.0" encoding="utf-8"?>
<p:tagLst xmlns:p="http://schemas.openxmlformats.org/presentationml/2006/main">
  <p:tag name="KSO_WM_DIAGRAM_VIRTUALLY_FRAME" val="{&quot;height&quot;:309.4002362204725,&quot;left&quot;:26.736456692913386,&quot;top&quot;:124.3140157480315,&quot;width&quot;:666.5270866141732}"/>
</p:tagLst>
</file>

<file path=ppt/tags/tag4.xml><?xml version="1.0" encoding="utf-8"?>
<p:tagLst xmlns:p="http://schemas.openxmlformats.org/presentationml/2006/main">
  <p:tag name="TABLE_ENDDRAG_ORIGIN_RECT" val="663*364"/>
  <p:tag name="TABLE_ENDDRAG_RECT" val="23*129*663*36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13459</Words>
  <Application>WPS Presentation</Application>
  <PresentationFormat>On-screen Show (4:3)</PresentationFormat>
  <Paragraphs>537</Paragraphs>
  <Slides>22</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SimSun</vt:lpstr>
      <vt:lpstr>Wingdings</vt:lpstr>
      <vt:lpstr>Rockwell</vt:lpstr>
      <vt:lpstr>Times New Roman</vt:lpstr>
      <vt:lpstr>Times New Roman</vt:lpstr>
      <vt:lpstr>Calibri</vt:lpstr>
      <vt:lpstr>Symbol</vt:lpstr>
      <vt:lpstr>Microsoft YaHei</vt:lpstr>
      <vt:lpstr>Arial Unicode MS</vt:lpstr>
      <vt:lpstr>Office Theme</vt:lpstr>
      <vt:lpstr>PowerPoint 演示文稿</vt:lpstr>
      <vt:lpstr>Acknowledgement </vt:lpstr>
      <vt:lpstr>   Outline</vt:lpstr>
      <vt:lpstr>Abstract</vt:lpstr>
      <vt:lpstr>I. Introduction </vt:lpstr>
      <vt:lpstr>I. Introduction(Contd.,)</vt:lpstr>
      <vt:lpstr>Problem Statement and Objectives of Spectrum Prediction</vt:lpstr>
      <vt:lpstr>Key Contributions of the Project</vt:lpstr>
      <vt:lpstr>PowerPoint 演示文稿</vt:lpstr>
      <vt:lpstr>II. Data set details &amp; Related Work</vt:lpstr>
      <vt:lpstr>III. Research Approach</vt:lpstr>
      <vt:lpstr>PowerPoint 演示文稿</vt:lpstr>
      <vt:lpstr>PowerPoint 演示文稿</vt:lpstr>
      <vt:lpstr>V. Implementation Detail</vt:lpstr>
      <vt:lpstr> V. Implementation Detail   -  Implementation Tool and Evaluation Metrics </vt:lpstr>
      <vt:lpstr>VI. Result Analysis and Discussion</vt:lpstr>
      <vt:lpstr>VI. Result Analysis and Discussion</vt:lpstr>
      <vt:lpstr>VI. Result Analysis and Discussion</vt:lpstr>
      <vt:lpstr>VII. Conclusion and Future Works</vt:lpstr>
      <vt:lpstr>   References</vt:lpstr>
      <vt:lpstr>   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CPRI-3</dc:creator>
  <cp:lastModifiedBy>dharsh DHDJ</cp:lastModifiedBy>
  <cp:revision>525</cp:revision>
  <dcterms:created xsi:type="dcterms:W3CDTF">2024-02-09T04:08:00Z</dcterms:created>
  <dcterms:modified xsi:type="dcterms:W3CDTF">2026-03-16T16:47:49Z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E8A339CB14FC4754910DAF4C254EDB89_13</vt:lpwstr>
  </property>
  <property fmtid="{D5CDD505-2E9C-101B-9397-08002B2CF9AE}" pid="3" name="KSOProductBuildVer">
    <vt:lpwstr>1033-12.2.0.23155</vt:lpwstr>
  </property>
</Properties>
</file>